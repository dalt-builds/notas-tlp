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a74099c92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a74099c92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28cdd859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28cdd859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28cdd85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28cdd8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28cdd85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28cdd85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28cdd85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28cdd85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28cdd859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28cdd859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28cdd859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28cdd859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28cdd859e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28cdd859e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28cdd859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28cdd859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28cdd859e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28cdd859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28cdd859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28cdd859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28cdd859e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28cdd859e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28cdd859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28cdd859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28cdd859e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28cdd859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28cdd859e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28cdd859e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28cdd859e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28cdd859e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28cdd859e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28cdd859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28cdd859e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28cdd859e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28cdd859e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28cdd859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640eee2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640eee2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640eee2b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640eee2b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640eee2b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640eee2b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640eee2b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640eee2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4"/>
          <p:cNvSpPr txBox="1"/>
          <p:nvPr>
            <p:ph type="title"/>
          </p:nvPr>
        </p:nvSpPr>
        <p:spPr>
          <a:xfrm>
            <a:off x="830400" y="656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9450" y="1237075"/>
            <a:ext cx="7688700" cy="31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2" name="Google Shape;3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5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830400" y="703450"/>
            <a:ext cx="7827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21225" y="1237075"/>
            <a:ext cx="33009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5" name="Google Shape;55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9"/>
          <p:cNvSpPr txBox="1"/>
          <p:nvPr>
            <p:ph type="title"/>
          </p:nvPr>
        </p:nvSpPr>
        <p:spPr>
          <a:xfrm>
            <a:off x="358750" y="286450"/>
            <a:ext cx="42132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830400" y="1399200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848175" y="389350"/>
            <a:ext cx="3964200" cy="43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3" name="Google Shape;7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■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■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■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80">
                <a:latin typeface="Lato"/>
                <a:ea typeface="Lato"/>
                <a:cs typeface="Lato"/>
                <a:sym typeface="Lato"/>
              </a:rPr>
              <a:t>[TLP] Repaso con base en las asesorías dadas</a:t>
            </a:r>
            <a:endParaRPr sz="288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729625" y="2987150"/>
            <a:ext cx="7688100" cy="19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5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Fernán A. Villa-Garzón.		Carolina Valencia-García.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favillao@unal.edu.co 		marvalenciaga@unal.edu.co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Profesor Asociado		Monitora	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Oficina M8A-315. 		Oficina M8A-402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Asesoría, por favor Agendar por Google Calendar.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0400" y="703450"/>
            <a:ext cx="7827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Sobre el diseño de un lenguaje de programación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721225" y="1237075"/>
            <a:ext cx="33009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Diseñar un lenguaje de programación es un proyecto de gran envergadura que va mucho más allá de simplemente procesar una línea de código.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 un proceso metódico que abarca desde la conceptualización de la idea hasta la construcción de todo su ecosistema.</a:t>
            </a:r>
            <a:endParaRPr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525" y="1343650"/>
            <a:ext cx="4817075" cy="24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216745" y="378460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https://medium.com/@instailyacademy/understanding-the-python-ecosystem-a-comprehensive-guide-1fe78b7c6440</a:t>
            </a:r>
            <a:endParaRPr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Conceptualización y Diseño del Lenguaje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Objetivo y Filosofía</a:t>
            </a:r>
            <a:r>
              <a:rPr lang="es" sz="1100">
                <a:solidFill>
                  <a:srgbClr val="000000"/>
                </a:solidFill>
              </a:rPr>
              <a:t>: ¿Para qué sirve tu lenguaje? ¿Es para sistemas de alto rendimiento (como C++), desarrollo web (como JavaScript) o análisis de datos (como R)? La </a:t>
            </a:r>
            <a:r>
              <a:rPr b="1" lang="es" sz="1100">
                <a:solidFill>
                  <a:srgbClr val="000000"/>
                </a:solidFill>
              </a:rPr>
              <a:t>filosofía</a:t>
            </a:r>
            <a:r>
              <a:rPr lang="es" sz="1100">
                <a:solidFill>
                  <a:srgbClr val="000000"/>
                </a:solidFill>
              </a:rPr>
              <a:t> del lenguaje (por ejemplo, "simplicidad y legibilidad" como Python) guiará todas las decisiones futuras.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Paradigma de Programación</a:t>
            </a:r>
            <a:r>
              <a:rPr lang="es" sz="1100">
                <a:solidFill>
                  <a:srgbClr val="000000"/>
                </a:solidFill>
              </a:rPr>
              <a:t>: ¿Será un lenguaje </a:t>
            </a:r>
            <a:r>
              <a:rPr b="1" lang="es" sz="1100">
                <a:solidFill>
                  <a:srgbClr val="000000"/>
                </a:solidFill>
              </a:rPr>
              <a:t>imperativo</a:t>
            </a:r>
            <a:r>
              <a:rPr lang="es" sz="1100">
                <a:solidFill>
                  <a:srgbClr val="000000"/>
                </a:solidFill>
              </a:rPr>
              <a:t> (instrucciones paso a paso), </a:t>
            </a:r>
            <a:r>
              <a:rPr b="1" lang="es" sz="1100">
                <a:solidFill>
                  <a:srgbClr val="000000"/>
                </a:solidFill>
              </a:rPr>
              <a:t>orientado a objetos</a:t>
            </a:r>
            <a:r>
              <a:rPr lang="es" sz="1100">
                <a:solidFill>
                  <a:srgbClr val="000000"/>
                </a:solidFill>
              </a:rPr>
              <a:t> (con clases y objetos), </a:t>
            </a:r>
            <a:r>
              <a:rPr b="1" lang="es" sz="1100">
                <a:solidFill>
                  <a:srgbClr val="000000"/>
                </a:solidFill>
              </a:rPr>
              <a:t>funcional</a:t>
            </a:r>
            <a:r>
              <a:rPr lang="es" sz="1100">
                <a:solidFill>
                  <a:srgbClr val="000000"/>
                </a:solidFill>
              </a:rPr>
              <a:t> (con funciones como ciudadanos de primera clase) o </a:t>
            </a:r>
            <a:r>
              <a:rPr b="1" lang="es" sz="1100">
                <a:solidFill>
                  <a:srgbClr val="000000"/>
                </a:solidFill>
              </a:rPr>
              <a:t>declarativo</a:t>
            </a:r>
            <a:r>
              <a:rPr lang="es" sz="1100">
                <a:solidFill>
                  <a:srgbClr val="000000"/>
                </a:solidFill>
              </a:rPr>
              <a:t> (describiendo el "qué" en lugar del "cómo")?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Sintaxis</a:t>
            </a:r>
            <a:r>
              <a:rPr lang="es" sz="1100">
                <a:solidFill>
                  <a:srgbClr val="000000"/>
                </a:solidFill>
              </a:rPr>
              <a:t>: Es la gramática del lenguaje. Aquí defines las </a:t>
            </a:r>
            <a:r>
              <a:rPr b="1" lang="es" sz="1100">
                <a:solidFill>
                  <a:srgbClr val="000000"/>
                </a:solidFill>
              </a:rPr>
              <a:t>palabras clave</a:t>
            </a:r>
            <a:r>
              <a:rPr lang="es" sz="1100">
                <a:solidFill>
                  <a:srgbClr val="000000"/>
                </a:solidFill>
              </a:rPr>
              <a:t> (</a:t>
            </a:r>
            <a:r>
              <a:rPr lang="es" sz="1100">
                <a:solidFill>
                  <a:srgbClr val="188038"/>
                </a:solidFill>
              </a:rPr>
              <a:t>if</a:t>
            </a:r>
            <a:r>
              <a:rPr lang="es" sz="1100">
                <a:solidFill>
                  <a:srgbClr val="000000"/>
                </a:solidFill>
              </a:rPr>
              <a:t>, </a:t>
            </a:r>
            <a:r>
              <a:rPr lang="es" sz="1100">
                <a:solidFill>
                  <a:srgbClr val="188038"/>
                </a:solidFill>
              </a:rPr>
              <a:t>for</a:t>
            </a:r>
            <a:r>
              <a:rPr lang="es" sz="1100">
                <a:solidFill>
                  <a:srgbClr val="000000"/>
                </a:solidFill>
              </a:rPr>
              <a:t>, </a:t>
            </a:r>
            <a:r>
              <a:rPr lang="es" sz="1100">
                <a:solidFill>
                  <a:srgbClr val="188038"/>
                </a:solidFill>
              </a:rPr>
              <a:t>while</a:t>
            </a:r>
            <a:r>
              <a:rPr lang="es" sz="1100">
                <a:solidFill>
                  <a:srgbClr val="000000"/>
                </a:solidFill>
              </a:rPr>
              <a:t>), los </a:t>
            </a:r>
            <a:r>
              <a:rPr b="1" lang="es" sz="1100">
                <a:solidFill>
                  <a:srgbClr val="000000"/>
                </a:solidFill>
              </a:rPr>
              <a:t>operadores</a:t>
            </a:r>
            <a:r>
              <a:rPr lang="es" sz="1100">
                <a:solidFill>
                  <a:srgbClr val="000000"/>
                </a:solidFill>
              </a:rPr>
              <a:t> (</a:t>
            </a:r>
            <a:r>
              <a:rPr lang="es" sz="1100">
                <a:solidFill>
                  <a:srgbClr val="188038"/>
                </a:solidFill>
              </a:rPr>
              <a:t>+</a:t>
            </a:r>
            <a:r>
              <a:rPr lang="es" sz="1100">
                <a:solidFill>
                  <a:srgbClr val="000000"/>
                </a:solidFill>
              </a:rPr>
              <a:t>, </a:t>
            </a:r>
            <a:r>
              <a:rPr lang="es" sz="1100">
                <a:solidFill>
                  <a:srgbClr val="188038"/>
                </a:solidFill>
              </a:rPr>
              <a:t>-</a:t>
            </a:r>
            <a:r>
              <a:rPr lang="es" sz="1100">
                <a:solidFill>
                  <a:srgbClr val="000000"/>
                </a:solidFill>
              </a:rPr>
              <a:t>, </a:t>
            </a:r>
            <a:r>
              <a:rPr lang="es" sz="1100">
                <a:solidFill>
                  <a:srgbClr val="188038"/>
                </a:solidFill>
              </a:rPr>
              <a:t>==</a:t>
            </a:r>
            <a:r>
              <a:rPr lang="es" sz="1100">
                <a:solidFill>
                  <a:srgbClr val="000000"/>
                </a:solidFill>
              </a:rPr>
              <a:t>), las reglas de la indentación y la estructura de las sentencias. Es la parte del lenguaje que los programadores ven y escriben.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100" name="Google Shape;100;p15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Semántica</a:t>
            </a:r>
            <a:r>
              <a:rPr lang="es" sz="1100">
                <a:solidFill>
                  <a:srgbClr val="000000"/>
                </a:solidFill>
              </a:rPr>
              <a:t>: Define el </a:t>
            </a:r>
            <a:r>
              <a:rPr b="1" lang="es" sz="1100">
                <a:solidFill>
                  <a:srgbClr val="000000"/>
                </a:solidFill>
              </a:rPr>
              <a:t>significado</a:t>
            </a:r>
            <a:r>
              <a:rPr lang="es" sz="1100">
                <a:solidFill>
                  <a:srgbClr val="000000"/>
                </a:solidFill>
              </a:rPr>
              <a:t> del código. ¿Qué sucede cuando sumas dos números? ¿Cómo funciona un bucle </a:t>
            </a:r>
            <a:r>
              <a:rPr lang="es" sz="1100">
                <a:solidFill>
                  <a:srgbClr val="188038"/>
                </a:solidFill>
              </a:rPr>
              <a:t>for</a:t>
            </a:r>
            <a:r>
              <a:rPr lang="es" sz="1100">
                <a:solidFill>
                  <a:srgbClr val="000000"/>
                </a:solidFill>
              </a:rPr>
              <a:t>? ¿Qué reglas controlan la visibilidad de una variable? La semántica es el motor detrás de la sintaxis.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Sistema de Tipos</a:t>
            </a:r>
            <a:r>
              <a:rPr lang="es" sz="1100">
                <a:solidFill>
                  <a:srgbClr val="000000"/>
                </a:solidFill>
              </a:rPr>
              <a:t>: Decides cómo se manejan los tipos de datos. ¿Será </a:t>
            </a:r>
            <a:r>
              <a:rPr b="1" lang="es" sz="1100">
                <a:solidFill>
                  <a:srgbClr val="000000"/>
                </a:solidFill>
              </a:rPr>
              <a:t>estrictamente tipado</a:t>
            </a:r>
            <a:r>
              <a:rPr lang="es" sz="1100">
                <a:solidFill>
                  <a:srgbClr val="000000"/>
                </a:solidFill>
              </a:rPr>
              <a:t> (no puedes sumar un entero y un booleano), </a:t>
            </a:r>
            <a:r>
              <a:rPr b="1" lang="es" sz="1100">
                <a:solidFill>
                  <a:srgbClr val="000000"/>
                </a:solidFill>
              </a:rPr>
              <a:t>débilmente tipado</a:t>
            </a:r>
            <a:r>
              <a:rPr lang="es" sz="1100">
                <a:solidFill>
                  <a:srgbClr val="000000"/>
                </a:solidFill>
              </a:rPr>
              <a:t> (el lenguaje intenta convertir tipos automáticamente) o </a:t>
            </a:r>
            <a:r>
              <a:rPr b="1" lang="es" sz="1100">
                <a:solidFill>
                  <a:srgbClr val="000000"/>
                </a:solidFill>
              </a:rPr>
              <a:t>dinámicamente tipado</a:t>
            </a:r>
            <a:r>
              <a:rPr lang="es" sz="1100">
                <a:solidFill>
                  <a:srgbClr val="000000"/>
                </a:solidFill>
              </a:rPr>
              <a:t> (los tipos se verifican en tiempo de ejecución)?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Implementación del Compilador/Intérprete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Una vez que las especificaciones del lenguaje están claras, comienza la construcción del software que lo ejecutará.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Análisis</a:t>
            </a:r>
            <a:r>
              <a:rPr lang="es" sz="1100">
                <a:solidFill>
                  <a:srgbClr val="000000"/>
                </a:solidFill>
              </a:rPr>
              <a:t>: Esta parte del proceso es la que describimos anteriormente para una línea de código, pero aplicada a todo un programa.</a:t>
            </a:r>
            <a:endParaRPr sz="1100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</a:rPr>
              <a:t>Análisis Léxico</a:t>
            </a:r>
            <a:r>
              <a:rPr lang="es">
                <a:solidFill>
                  <a:srgbClr val="000000"/>
                </a:solidFill>
              </a:rPr>
              <a:t>: El </a:t>
            </a:r>
            <a:r>
              <a:rPr b="1" lang="es">
                <a:solidFill>
                  <a:srgbClr val="000000"/>
                </a:solidFill>
              </a:rPr>
              <a:t>lexer</a:t>
            </a:r>
            <a:r>
              <a:rPr lang="es">
                <a:solidFill>
                  <a:srgbClr val="000000"/>
                </a:solidFill>
              </a:rPr>
              <a:t> toma el código fuente como una cadena de caracteres y lo convierte en una secuencia de </a:t>
            </a:r>
            <a:r>
              <a:rPr b="1" lang="es">
                <a:solidFill>
                  <a:srgbClr val="000000"/>
                </a:solidFill>
              </a:rPr>
              <a:t>tokens</a:t>
            </a:r>
            <a:r>
              <a:rPr lang="es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</a:rPr>
              <a:t>Análisis Sintáctico</a:t>
            </a:r>
            <a:r>
              <a:rPr lang="es">
                <a:solidFill>
                  <a:srgbClr val="000000"/>
                </a:solidFill>
              </a:rPr>
              <a:t>: El </a:t>
            </a:r>
            <a:r>
              <a:rPr b="1" lang="es">
                <a:solidFill>
                  <a:srgbClr val="000000"/>
                </a:solidFill>
              </a:rPr>
              <a:t>parser</a:t>
            </a:r>
            <a:r>
              <a:rPr lang="es">
                <a:solidFill>
                  <a:srgbClr val="000000"/>
                </a:solidFill>
              </a:rPr>
              <a:t> toma la secuencia de tokens y verifica la gramática. Si la sintaxis es correcta, genera un </a:t>
            </a:r>
            <a:r>
              <a:rPr b="1" lang="es">
                <a:solidFill>
                  <a:srgbClr val="000000"/>
                </a:solidFill>
              </a:rPr>
              <a:t>Árbol de Sintaxis Abstracta (AST)</a:t>
            </a:r>
            <a:r>
              <a:rPr lang="es">
                <a:solidFill>
                  <a:srgbClr val="000000"/>
                </a:solidFill>
              </a:rPr>
              <a:t>, que es una representación jerárquica de la estructura del código.</a:t>
            </a:r>
            <a:endParaRPr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</a:rPr>
              <a:t>Análisis Semántico</a:t>
            </a:r>
            <a:r>
              <a:rPr lang="es">
                <a:solidFill>
                  <a:srgbClr val="000000"/>
                </a:solidFill>
              </a:rPr>
              <a:t>: Se recorre el AST para comprobar la lógica del programa, como la declaración de variables, la compatibilidad de tipos y la validez de las operaciones.</a:t>
            </a:r>
            <a:endParaRPr/>
          </a:p>
        </p:txBody>
      </p:sp>
      <p:sp>
        <p:nvSpPr>
          <p:cNvPr id="107" name="Google Shape;107;p16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Back-end</a:t>
            </a:r>
            <a:r>
              <a:rPr lang="es" sz="1100">
                <a:solidFill>
                  <a:srgbClr val="000000"/>
                </a:solidFill>
              </a:rPr>
              <a:t>: Esta es la etapa de generación del código ejecutable.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Generación de Código Intermedio</a:t>
            </a:r>
            <a:r>
              <a:rPr lang="es" sz="1100">
                <a:solidFill>
                  <a:srgbClr val="000000"/>
                </a:solidFill>
              </a:rPr>
              <a:t>: El AST se traduce a un formato de bajo nivel que es más fácil de optimizar y traducir a diferentes arquitecturas de procesador.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Optimización del Código</a:t>
            </a:r>
            <a:r>
              <a:rPr lang="es" sz="1100">
                <a:solidFill>
                  <a:srgbClr val="000000"/>
                </a:solidFill>
              </a:rPr>
              <a:t>: Se aplican técnicas para mejorar la eficiencia del código intermedio. Por ejemplo, se eliminan operaciones redundantes o se simplifican expresiones.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Generación de Código Final</a:t>
            </a:r>
            <a:r>
              <a:rPr lang="es" sz="1100">
                <a:solidFill>
                  <a:srgbClr val="000000"/>
                </a:solidFill>
              </a:rPr>
              <a:t>: El código intermedio optimizado se convierte en código de máquina o en un código de bytes para una máquina virtual (como en Java).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Ecosistema y Mantenimiento 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Un lenguaje no existe en el vacío. Para que tenga éxito, necesita una comunidad y un conjunto de herramientas.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</a:rPr>
              <a:t>Bibliotecas y Herramientas</a:t>
            </a:r>
            <a:r>
              <a:rPr lang="es" sz="1100">
                <a:solidFill>
                  <a:srgbClr val="000000"/>
                </a:solidFill>
              </a:rPr>
              <a:t>: Se construyen librerías estándar para tareas comunes, se desarrolla un gestor de paquetes para compartir código, se crean entornos de desarrollo (IDEs) y herramientas de depuración.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</a:rPr>
              <a:t>Documentación</a:t>
            </a:r>
            <a:r>
              <a:rPr lang="es" sz="1100">
                <a:solidFill>
                  <a:srgbClr val="000000"/>
                </a:solidFill>
              </a:rPr>
              <a:t>: Es fundamental crear una documentación completa y clara para que los desarrolladores puedan aprender y usar el lenguaje de manera efectiva.</a:t>
            </a:r>
            <a:endParaRPr/>
          </a:p>
        </p:txBody>
      </p:sp>
      <p:sp>
        <p:nvSpPr>
          <p:cNvPr id="114" name="Google Shape;114;p17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</a:rPr>
              <a:t>Iteración y Evolución</a:t>
            </a:r>
            <a:r>
              <a:rPr lang="es" sz="1100">
                <a:solidFill>
                  <a:srgbClr val="000000"/>
                </a:solidFill>
              </a:rPr>
              <a:t>: Los lenguajes de programación no son estáticos. Se debe mantener el lenguaje con correcciones de errores, añadir nuevas características y adaptarse a las necesidades de la comunidad.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diseño y la implementación de un lenguaje son un ciclo continuo. Cada paso está interconectado, y las decisiones tomadas en una etapa pueden influir en todas las demás.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830400" y="703450"/>
            <a:ext cx="7827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del Compilador/Intérprete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1225" y="1237075"/>
            <a:ext cx="33009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Procesar una línea de código es un proceso fundamental en la informática, especialmente en el desarrollo de compiladores e intérpretes.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925" y="1237075"/>
            <a:ext cx="3853152" cy="36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4637925" y="488452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https://blogdetito.com/2019/01/13/crea-tu-propio-compilador-parte5/</a:t>
            </a:r>
            <a:endParaRPr sz="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Análisis Léxico (Lexical Analysis)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Este es el primer paso.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analizador léxico, o </a:t>
            </a:r>
            <a:r>
              <a:rPr b="1" lang="es" sz="1100">
                <a:solidFill>
                  <a:srgbClr val="000000"/>
                </a:solidFill>
              </a:rPr>
              <a:t>lexer</a:t>
            </a:r>
            <a:r>
              <a:rPr lang="es" sz="1100">
                <a:solidFill>
                  <a:srgbClr val="000000"/>
                </a:solidFill>
              </a:rPr>
              <a:t>, toma el código fuente (una secuencia de caracteres) y lo divide en unidades lógicas llamadas </a:t>
            </a:r>
            <a:r>
              <a:rPr b="1" lang="es" sz="1100">
                <a:solidFill>
                  <a:srgbClr val="000000"/>
                </a:solidFill>
              </a:rPr>
              <a:t>tokens</a:t>
            </a:r>
            <a:r>
              <a:rPr lang="es" sz="1100">
                <a:solidFill>
                  <a:srgbClr val="000000"/>
                </a:solidFill>
              </a:rPr>
              <a:t>.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Un token es una secuencia de caracteres con un significado colectivo, como una palabra clave, un identificador, un operador o un literal.</a:t>
            </a:r>
            <a:endParaRPr/>
          </a:p>
        </p:txBody>
      </p:sp>
      <p:sp>
        <p:nvSpPr>
          <p:cNvPr id="129" name="Google Shape;129;p19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Ejemplo:</a:t>
            </a:r>
            <a:r>
              <a:rPr lang="es" sz="1100">
                <a:solidFill>
                  <a:srgbClr val="000000"/>
                </a:solidFill>
              </a:rPr>
              <a:t> Si la línea de código es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int edad = 25;</a:t>
            </a:r>
            <a:r>
              <a:rPr lang="es" sz="1100">
                <a:solidFill>
                  <a:srgbClr val="000000"/>
                </a:solidFill>
              </a:rPr>
              <a:t>, el lexer la descompone en los siguientes tokens: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es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TOKEN_TYPE_KEYWORD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(palabra clave)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edad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es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TOKEN_TYPE_IDENTIFIER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(identificador)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es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TOKEN_TYPE_OPERATOR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(operador)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es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TOKEN_TYPE_NUMBER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(número literal)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s" sz="1100">
                <a:solidFill>
                  <a:srgbClr val="000000"/>
                </a:solidFill>
              </a:rPr>
              <a:t> es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TOKEN_TYPE_PUNCTUATION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(puntuación)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Análisis Sintáctico (Syntactic Analysis)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Después de la tokenización, el analizador sintáctico, o </a:t>
            </a:r>
            <a:r>
              <a:rPr b="1" lang="es" sz="1100">
                <a:solidFill>
                  <a:srgbClr val="000000"/>
                </a:solidFill>
              </a:rPr>
              <a:t>parser</a:t>
            </a:r>
            <a:r>
              <a:rPr lang="es" sz="1100">
                <a:solidFill>
                  <a:srgbClr val="000000"/>
                </a:solidFill>
              </a:rPr>
              <a:t>, toma la secuencia de tokens y verifica si su estructura es gramaticalmente válida según las reglas del lenguaje.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La salida del parser es típicamente un </a:t>
            </a:r>
            <a:r>
              <a:rPr b="1" lang="es" sz="1100">
                <a:solidFill>
                  <a:srgbClr val="000000"/>
                </a:solidFill>
              </a:rPr>
              <a:t>Árbol de Sintaxis Abstracta (AST)</a:t>
            </a:r>
            <a:r>
              <a:rPr lang="es" sz="1100">
                <a:solidFill>
                  <a:srgbClr val="000000"/>
                </a:solidFill>
              </a:rPr>
              <a:t>.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Este árbol representa la estructura jerárquica del código.</a:t>
            </a:r>
            <a:endParaRPr/>
          </a:p>
        </p:txBody>
      </p:sp>
      <p:sp>
        <p:nvSpPr>
          <p:cNvPr id="136" name="Google Shape;136;p20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Ejemplo (continuando con el anterior):</a:t>
            </a:r>
            <a:r>
              <a:rPr lang="es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parser tomaría los tokens y los organizaría en un árbol que muestra que la sentencia es una declaración de variable, con el tipo (</a:t>
            </a:r>
            <a:r>
              <a:rPr lang="es" sz="1100">
                <a:solidFill>
                  <a:srgbClr val="188038"/>
                </a:solidFill>
              </a:rPr>
              <a:t>int</a:t>
            </a:r>
            <a:r>
              <a:rPr lang="es" sz="1100">
                <a:solidFill>
                  <a:srgbClr val="000000"/>
                </a:solidFill>
              </a:rPr>
              <a:t>), el nombre (</a:t>
            </a:r>
            <a:r>
              <a:rPr lang="es" sz="1100">
                <a:solidFill>
                  <a:srgbClr val="188038"/>
                </a:solidFill>
              </a:rPr>
              <a:t>edad</a:t>
            </a:r>
            <a:r>
              <a:rPr lang="es" sz="1100">
                <a:solidFill>
                  <a:srgbClr val="000000"/>
                </a:solidFill>
              </a:rPr>
              <a:t>) y un valor asignado (</a:t>
            </a:r>
            <a:r>
              <a:rPr lang="es" sz="1100">
                <a:solidFill>
                  <a:srgbClr val="188038"/>
                </a:solidFill>
              </a:rPr>
              <a:t>25</a:t>
            </a:r>
            <a:r>
              <a:rPr lang="es" sz="1100">
                <a:solidFill>
                  <a:srgbClr val="000000"/>
                </a:solidFill>
              </a:rPr>
              <a:t>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213" y="3006050"/>
            <a:ext cx="19335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Análisis Semántico (Semantic Analysis)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esta fase, se revisa el AST para verificar que el código tiene sentido lógico y que las operaciones son válidas.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comprueba si las variables han sido declaradas antes de ser usadas, si los tipos de datos son compatibles, y si las funciones se están llamando con el número correcto de argumentos.</a:t>
            </a:r>
            <a:endParaRPr/>
          </a:p>
        </p:txBody>
      </p:sp>
      <p:sp>
        <p:nvSpPr>
          <p:cNvPr id="144" name="Google Shape;144;p21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Ejemplo: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</a:rPr>
              <a:t>El analizador semántico verificaría que la variable </a:t>
            </a:r>
            <a:r>
              <a:rPr lang="es" sz="1100">
                <a:solidFill>
                  <a:srgbClr val="188038"/>
                </a:solidFill>
              </a:rPr>
              <a:t>edad</a:t>
            </a:r>
            <a:r>
              <a:rPr lang="es" sz="1100">
                <a:solidFill>
                  <a:srgbClr val="000000"/>
                </a:solidFill>
              </a:rPr>
              <a:t> no se esté usando con una cadena de texto, como en </a:t>
            </a:r>
            <a:r>
              <a:rPr lang="es" sz="1100">
                <a:solidFill>
                  <a:srgbClr val="188038"/>
                </a:solidFill>
              </a:rPr>
              <a:t>edad = "veinticinco"</a:t>
            </a:r>
            <a:r>
              <a:rPr lang="es" sz="1100">
                <a:solidFill>
                  <a:srgbClr val="000000"/>
                </a:solidFill>
              </a:rPr>
              <a:t>, ya que </a:t>
            </a:r>
            <a:r>
              <a:rPr lang="es" sz="1100">
                <a:solidFill>
                  <a:srgbClr val="188038"/>
                </a:solidFill>
              </a:rPr>
              <a:t>edad</a:t>
            </a:r>
            <a:r>
              <a:rPr lang="es" sz="1100">
                <a:solidFill>
                  <a:srgbClr val="000000"/>
                </a:solidFill>
              </a:rPr>
              <a:t> fue declarada como un entero.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</a:rPr>
              <a:t>Si se intentara usar una variable no declarada, como </a:t>
            </a:r>
            <a:r>
              <a:rPr lang="es" sz="1100">
                <a:solidFill>
                  <a:srgbClr val="188038"/>
                </a:solidFill>
              </a:rPr>
              <a:t>x = y;</a:t>
            </a:r>
            <a:r>
              <a:rPr lang="es" sz="1100">
                <a:solidFill>
                  <a:srgbClr val="000000"/>
                </a:solidFill>
              </a:rPr>
              <a:t>, el análisis semántico emitiría un error.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830400" y="401600"/>
            <a:ext cx="7688400" cy="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Generación de Código Intermedio (Intermediate Code Generation)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Una vez que el código es léxica, sintáctica y semánticamente correcto, se transforma en un formato de código intermedio.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Este código es más abstracto y fácil de procesar que el código fuente, pero también es más simple y de menor nivel que el código máquina final.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Esto facilita las optimizaciones y la portabilidad a diferentes arquitecturas.</a:t>
            </a:r>
            <a:endParaRPr/>
          </a:p>
        </p:txBody>
      </p:sp>
      <p:sp>
        <p:nvSpPr>
          <p:cNvPr id="151" name="Google Shape;151;p22"/>
          <p:cNvSpPr txBox="1"/>
          <p:nvPr>
            <p:ph idx="2" type="body"/>
          </p:nvPr>
        </p:nvSpPr>
        <p:spPr>
          <a:xfrm>
            <a:off x="4635877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Ejemplo:</a:t>
            </a:r>
            <a:r>
              <a:rPr lang="es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Para la sentencia </a:t>
            </a:r>
            <a:r>
              <a:rPr lang="es" sz="1100">
                <a:solidFill>
                  <a:srgbClr val="188038"/>
                </a:solidFill>
              </a:rPr>
              <a:t>int edad = 25;</a:t>
            </a:r>
            <a:r>
              <a:rPr lang="es" sz="1100">
                <a:solidFill>
                  <a:srgbClr val="000000"/>
                </a:solidFill>
              </a:rPr>
              <a:t>,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código intermedio podría ser algo como: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88038"/>
                </a:solidFill>
              </a:rPr>
              <a:t>STORE 25, edad</a:t>
            </a:r>
            <a:r>
              <a:rPr lang="es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(almacenar el valor 25 en la ubicación de memoria de la variable 'edad')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 Optimización (Optimization)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este paso opcional pero crucial, se examina el código intermedio para encontrar formas de hacerlo más eficiente.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objetivo es reducir el tamaño del código, acelerar su ejecución o minimizar el consumo de recursos.</a:t>
            </a:r>
            <a:endParaRPr/>
          </a:p>
        </p:txBody>
      </p:sp>
      <p:sp>
        <p:nvSpPr>
          <p:cNvPr id="158" name="Google Shape;158;p23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Ejemplo:</a:t>
            </a:r>
            <a:r>
              <a:rPr lang="es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Si una parte del código intermedio es </a:t>
            </a:r>
            <a:r>
              <a:rPr lang="es" sz="1100">
                <a:solidFill>
                  <a:srgbClr val="188038"/>
                </a:solidFill>
              </a:rPr>
              <a:t>x = 5 + 3;</a:t>
            </a:r>
            <a:r>
              <a:rPr lang="es" sz="1100">
                <a:solidFill>
                  <a:srgbClr val="000000"/>
                </a:solidFill>
              </a:rPr>
              <a:t>,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optimizador puede simplificarla a </a:t>
            </a:r>
            <a:r>
              <a:rPr lang="es" sz="1100">
                <a:solidFill>
                  <a:srgbClr val="188038"/>
                </a:solidFill>
              </a:rPr>
              <a:t>x = 8;</a:t>
            </a:r>
            <a:r>
              <a:rPr lang="es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Antes de la generación del código final, lo que evita la necesidad de realizar una operación de suma en tiempo de ejecución.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830400" y="332100"/>
            <a:ext cx="76884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Generación de Código Final (Final Code Generation)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Finalmente, el código intermedio optimizado se traduce al lenguaje de máquina específico para la arquitectura de destino (por ejemplo, x86, ARM, etc.).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Este es el código ejecutable que la computadora puede entender y ejecutar directamente.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Estos pasos, desde el análisis léxico hasta la generación de código, son los pilares de cómo un programa de alto nivel se convierte en algo que una computadora puede ejecutar.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Ejemplo:</a:t>
            </a:r>
            <a:r>
              <a:rPr lang="es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código intermedio </a:t>
            </a:r>
            <a:r>
              <a:rPr lang="es" sz="1100">
                <a:solidFill>
                  <a:srgbClr val="188038"/>
                </a:solidFill>
              </a:rPr>
              <a:t>STORE 25, edad</a:t>
            </a:r>
            <a:r>
              <a:rPr lang="es" sz="1100">
                <a:solidFill>
                  <a:srgbClr val="000000"/>
                </a:solidFill>
              </a:rPr>
              <a:t> se convertiría en una o más instrucciones de lenguaje ensamblador específicas,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Como </a:t>
            </a:r>
            <a:r>
              <a:rPr lang="es" sz="1100">
                <a:solidFill>
                  <a:srgbClr val="188038"/>
                </a:solidFill>
              </a:rPr>
              <a:t>mov dword ptr [rbp-4], 25</a:t>
            </a:r>
            <a:r>
              <a:rPr lang="es" sz="1100">
                <a:solidFill>
                  <a:srgbClr val="000000"/>
                </a:solidFill>
              </a:rPr>
              <a:t>, que luego se traducen a código binario.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830400" y="703450"/>
            <a:ext cx="7827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Recordemos el Proyecto Práctico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721225" y="1237075"/>
            <a:ext cx="33009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iseñar un lenguaje para especificar un juego de ladrillos tipo snake o tipo tetris.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 ejemplo que les pongo es cómo definir una figura para tetris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figura_I { 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color "cian"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rotaciones [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# Rotacion 0 y 180 horizontal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[ 0000, 1111, 0000, 0000 ],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# Rotacion 90 y 270 vertical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[ 0100, 0100, 0100, 0100 ]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r>
              <a:rPr lang="es"/>
              <a:t>. </a:t>
            </a:r>
            <a:r>
              <a:rPr lang="es"/>
              <a:t>Análisis Léxico (Lexical Analysis)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</a:t>
            </a:r>
            <a:r>
              <a:rPr b="1" lang="es" sz="1100">
                <a:solidFill>
                  <a:srgbClr val="000000"/>
                </a:solidFill>
              </a:rPr>
              <a:t>lexer</a:t>
            </a:r>
            <a:r>
              <a:rPr lang="es" sz="1100">
                <a:solidFill>
                  <a:srgbClr val="000000"/>
                </a:solidFill>
              </a:rPr>
              <a:t> (o analizador léxico) escanea el texto carácter por carácter y lo agrupa en </a:t>
            </a:r>
            <a:r>
              <a:rPr b="1" lang="es" sz="1100">
                <a:solidFill>
                  <a:srgbClr val="000000"/>
                </a:solidFill>
              </a:rPr>
              <a:t>tokens</a:t>
            </a:r>
            <a:r>
              <a:rPr lang="es" sz="1100">
                <a:solidFill>
                  <a:srgbClr val="000000"/>
                </a:solidFill>
              </a:rPr>
              <a:t> significativos. En esta etapa, los espacios en blanco, comentarios y saltos de línea son ignorados.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figura_I { color "cian";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rotaciones [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# Rotacion 0 y 180 horizontal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[ 0000, 1111, 0000, 0000 ],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# Rotacion 90 y 270 vertical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    [ 0100, 0100, 0100, 0100 ]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 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178" name="Google Shape;178;p26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El flujo de tokens sería: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IDENTIFIER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figura_I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LEFT_BRACE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KEYWORD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"cian"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SEMI_COLON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KEYWORD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rotaciones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LEFT_BRACKET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LEFT_BRACKET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COMMA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</a:rPr>
              <a:t>... y así sucesivamente para cada número, coma y corchete, hasta llegar al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RIGHT_BRACKET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y </a:t>
            </a:r>
            <a:r>
              <a:rPr lang="e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RIGHT_BRACE</a:t>
            </a:r>
            <a:r>
              <a:rPr lang="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00"/>
                </a:solidFill>
              </a:rPr>
              <a:t>final.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Análisis Sintáctico (Syntactic Analysis)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parser (analizador sintáctico) toma la secuencia de tokens y verifica que su estructura se ajuste a las reglas gramaticales que diseñaste para tu lenguaje.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 la sintaxis es válida, construye un Árbol de Sintaxis Abstracta (AST), que representa la estructura jerárquica de la definición.</a:t>
            </a:r>
            <a:endParaRPr/>
          </a:p>
        </p:txBody>
      </p:sp>
      <p:sp>
        <p:nvSpPr>
          <p:cNvPr id="185" name="Google Shape;185;p27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posible Árbol</a:t>
            </a:r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600" y="1797779"/>
            <a:ext cx="4500400" cy="1547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Análisis Semántico (Semantic Analysis)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En esta fase, se revisa el AST para asegurarse de que el código tiene sentido y es lógicamente válido. Esto va más allá de la gramática; se trata de las reglas del juego.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Verificación de Tipos</a:t>
            </a:r>
            <a:r>
              <a:rPr lang="es" sz="1100">
                <a:solidFill>
                  <a:srgbClr val="000000"/>
                </a:solidFill>
              </a:rPr>
              <a:t>: Se comprueba si el valor de "color" es una cadena válida, y si los valores dentro de las matrices son realmente números.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Verificación de Contenido</a:t>
            </a:r>
            <a:r>
              <a:rPr lang="es" sz="1100">
                <a:solidFill>
                  <a:srgbClr val="000000"/>
                </a:solidFill>
              </a:rPr>
              <a:t>: Se revisa si cada matriz de rotación tiene exactamente 4 filas y 4 columnas, y si los valores son solo </a:t>
            </a:r>
            <a:r>
              <a:rPr lang="es" sz="1100">
                <a:solidFill>
                  <a:srgbClr val="188038"/>
                </a:solidFill>
              </a:rPr>
              <a:t>0</a:t>
            </a:r>
            <a:r>
              <a:rPr lang="es" sz="1100">
                <a:solidFill>
                  <a:srgbClr val="000000"/>
                </a:solidFill>
              </a:rPr>
              <a:t> o </a:t>
            </a:r>
            <a:r>
              <a:rPr lang="es" sz="1100">
                <a:solidFill>
                  <a:srgbClr val="188038"/>
                </a:solidFill>
              </a:rPr>
              <a:t>1</a:t>
            </a:r>
            <a:r>
              <a:rPr lang="es" sz="1100">
                <a:solidFill>
                  <a:srgbClr val="000000"/>
                </a:solidFill>
              </a:rPr>
              <a:t>, según las reglas de tu juego.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Verificación de Unicidad</a:t>
            </a:r>
            <a:r>
              <a:rPr lang="es" sz="1100">
                <a:solidFill>
                  <a:srgbClr val="000000"/>
                </a:solidFill>
              </a:rPr>
              <a:t>: Se confirma que </a:t>
            </a:r>
            <a:r>
              <a:rPr lang="es" sz="1100">
                <a:solidFill>
                  <a:srgbClr val="188038"/>
                </a:solidFill>
              </a:rPr>
              <a:t>figura_I</a:t>
            </a:r>
            <a:r>
              <a:rPr lang="es" sz="1100">
                <a:solidFill>
                  <a:srgbClr val="000000"/>
                </a:solidFill>
              </a:rPr>
              <a:t> es un nombre único y no ha sido usado para otra figura.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Generación de Código Intermedio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AST validado se traduce a una representación más simple y uniforme, fácil de manejar para el juego.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un lenguaje de especificación como este, una estructura de datos simple como un diccionario anidado (similar a un JSON) es una representación intermedia ideal.</a:t>
            </a:r>
            <a:endParaRPr/>
          </a:p>
        </p:txBody>
      </p:sp>
      <p:sp>
        <p:nvSpPr>
          <p:cNvPr id="200" name="Google Shape;200;p29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638" y="1706388"/>
            <a:ext cx="420052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 Optimización (Optimization)</a:t>
            </a:r>
            <a:endParaRPr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Esta fase es opcional, pero puede hacer tu juego más eficiente. El código intermedio se mejora para reducir su tamaño o acelerar el acceso a los datos.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Compresión de Datos</a:t>
            </a:r>
            <a:r>
              <a:rPr lang="es" sz="1100">
                <a:solidFill>
                  <a:srgbClr val="000000"/>
                </a:solidFill>
              </a:rPr>
              <a:t>: Las matrices de </a:t>
            </a:r>
            <a:r>
              <a:rPr lang="es" sz="1100">
                <a:solidFill>
                  <a:srgbClr val="188038"/>
                </a:solidFill>
              </a:rPr>
              <a:t>0</a:t>
            </a:r>
            <a:r>
              <a:rPr lang="es" sz="1100">
                <a:solidFill>
                  <a:srgbClr val="000000"/>
                </a:solidFill>
              </a:rPr>
              <a:t> y </a:t>
            </a:r>
            <a:r>
              <a:rPr lang="es" sz="1100">
                <a:solidFill>
                  <a:srgbClr val="188038"/>
                </a:solidFill>
              </a:rPr>
              <a:t>1</a:t>
            </a:r>
            <a:r>
              <a:rPr lang="es" sz="1100">
                <a:solidFill>
                  <a:srgbClr val="000000"/>
                </a:solidFill>
              </a:rPr>
              <a:t> pueden ser representadas de forma más compacta, por ejemplo, usando números binarios de 16 bits. El valor </a:t>
            </a:r>
            <a:r>
              <a:rPr lang="es" sz="1100">
                <a:solidFill>
                  <a:srgbClr val="188038"/>
                </a:solidFill>
              </a:rPr>
              <a:t>1111</a:t>
            </a:r>
            <a:r>
              <a:rPr lang="es" sz="1100">
                <a:solidFill>
                  <a:srgbClr val="000000"/>
                </a:solidFill>
              </a:rPr>
              <a:t> se podría convertir a </a:t>
            </a:r>
            <a:r>
              <a:rPr lang="es" sz="1100">
                <a:solidFill>
                  <a:srgbClr val="188038"/>
                </a:solidFill>
              </a:rPr>
              <a:t>15</a:t>
            </a:r>
            <a:r>
              <a:rPr lang="es" sz="1100">
                <a:solidFill>
                  <a:srgbClr val="000000"/>
                </a:solidFill>
              </a:rPr>
              <a:t> en decimal, o a una secuencia de bits, reduciendo el tamaño de la representación.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</a:rPr>
              <a:t>Consistencia</a:t>
            </a:r>
            <a:r>
              <a:rPr lang="es" sz="1100">
                <a:solidFill>
                  <a:srgbClr val="000000"/>
                </a:solidFill>
              </a:rPr>
              <a:t>: Se podría verificar que las rotaciones sean válidas y que los cambios entre ellas sean consistentes para evitar errores en el juego.</a:t>
            </a:r>
            <a:endParaRPr/>
          </a:p>
        </p:txBody>
      </p:sp>
      <p:sp>
        <p:nvSpPr>
          <p:cNvPr id="208" name="Google Shape;208;p30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600" y="1237081"/>
            <a:ext cx="2561925" cy="30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Generación de Código Final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Finalmente, la representación optimizada se utiliza para crear un objeto o una estructura de datos en la memoria del juego.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El motor del juego leerá esta información y creará una instancia de la figura, con sus propiedades y matrices de rotación listas para ser utilizadas en la lógica del juego.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La salida final es una estructura de datos nativa que representa a </a:t>
            </a:r>
            <a:r>
              <a:rPr lang="es">
                <a:solidFill>
                  <a:srgbClr val="188038"/>
                </a:solidFill>
              </a:rPr>
              <a:t>figura_I</a:t>
            </a:r>
            <a:r>
              <a:rPr lang="es">
                <a:solidFill>
                  <a:srgbClr val="000000"/>
                </a:solidFill>
              </a:rPr>
              <a:t>, lista para ser dibujada en pantalla, rotada y controlada por la lógica del juego.</a:t>
            </a:r>
            <a:endParaRPr/>
          </a:p>
        </p:txBody>
      </p:sp>
      <p:sp>
        <p:nvSpPr>
          <p:cNvPr id="216" name="Google Shape;216;p31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 decir se toma el </a:t>
            </a:r>
            <a:r>
              <a:rPr lang="es"/>
              <a:t>código</a:t>
            </a:r>
            <a:r>
              <a:rPr lang="es"/>
              <a:t> intermedio para que sea ejecutado por otro motor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Una opción es </a:t>
            </a:r>
            <a:r>
              <a:rPr b="1" lang="es"/>
              <a:t>Pygame</a:t>
            </a:r>
            <a:r>
              <a:rPr lang="es"/>
              <a:t>: Es un framework muy popular para desarrollar juegos en 2D.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Ofrece herramientas sencillas para aprender los conceptos clave del desarrollo de videojuegos, lo que lo hace ideal para principiantes.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830400" y="293475"/>
            <a:ext cx="76884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comencemos diseñando una expresión básica.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Queremos permitir que se pueda asignar variables: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i=10;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edad;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expresión regular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((Int|int)\s+(\w{1,255})\s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;)|((Int|int)\s+(\w{1,255})\s*(=)\s*(\d{1,5}));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//—------------------------------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string nombre;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string barrio = ‘Robledo’;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expresión regular: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((string)\s+(\w{1,255})(;))|((string)\s+(\w{1,255})\s*(=)\s*(')(\w{1,255})(')\s*(;))</a:t>
            </a:r>
            <a:endParaRPr/>
          </a:p>
        </p:txBody>
      </p:sp>
      <p:sp>
        <p:nvSpPr>
          <p:cNvPr id="223" name="Google Shape;223;p32"/>
          <p:cNvSpPr txBox="1"/>
          <p:nvPr>
            <p:ph idx="2" type="body"/>
          </p:nvPr>
        </p:nvSpPr>
        <p:spPr>
          <a:xfrm>
            <a:off x="4643600" y="1237075"/>
            <a:ext cx="44001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int Optimizada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latin typeface="Courier New"/>
                <a:ea typeface="Courier New"/>
                <a:cs typeface="Courier New"/>
                <a:sym typeface="Courier New"/>
              </a:rPr>
              <a:t>(Int|int)\s+(\w{1,255})\s*(=\s*\d{1,5})?\s*;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edad;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edad 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i=123;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i = 123;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int i = 123 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//—------------------------------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¿Cómo </a:t>
            </a:r>
            <a:r>
              <a:rPr b="1" lang="es"/>
              <a:t>optimizamos</a:t>
            </a:r>
            <a:r>
              <a:rPr b="1" lang="es"/>
              <a:t> la del String?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0" y="0"/>
            <a:ext cx="40275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Lexer Opción 1: una </a:t>
            </a:r>
            <a:r>
              <a:rPr lang="es"/>
              <a:t>expresión</a:t>
            </a:r>
            <a:r>
              <a:rPr lang="es"/>
              <a:t> regular por tipo de expresión.</a:t>
            </a:r>
            <a:endParaRPr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950" y="1668837"/>
            <a:ext cx="4188600" cy="2969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500" y="30900"/>
            <a:ext cx="5116500" cy="4989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830400" y="247025"/>
            <a:ext cx="7688400" cy="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Lexer Opción 2: una </a:t>
            </a:r>
            <a:r>
              <a:rPr lang="es"/>
              <a:t>expresión</a:t>
            </a:r>
            <a:r>
              <a:rPr lang="es"/>
              <a:t> regular por token </a:t>
            </a:r>
            <a:endParaRPr/>
          </a:p>
        </p:txBody>
      </p:sp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4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0" y="1237075"/>
            <a:ext cx="4454099" cy="237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600" y="1237075"/>
            <a:ext cx="4454100" cy="266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1721" y="4125946"/>
            <a:ext cx="2932775" cy="9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830400" y="617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Incorporando </a:t>
            </a:r>
            <a:r>
              <a:rPr lang="es"/>
              <a:t>Números</a:t>
            </a:r>
            <a:r>
              <a:rPr lang="es"/>
              <a:t> Reales</a:t>
            </a:r>
            <a:endParaRPr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5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800" y="1466525"/>
            <a:ext cx="594360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