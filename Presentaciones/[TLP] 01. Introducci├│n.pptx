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Raleway"/>
      <p:regular r:id="rId48"/>
      <p:bold r:id="rId49"/>
      <p:italic r:id="rId50"/>
      <p:boldItalic r:id="rId51"/>
    </p:embeddedFont>
    <p:embeddedFont>
      <p:font typeface="Lato"/>
      <p:regular r:id="rId52"/>
      <p:bold r:id="rId53"/>
      <p:italic r:id="rId54"/>
      <p:boldItalic r:id="rId55"/>
    </p:embeddedFont>
    <p:embeddedFont>
      <p:font typeface="Corbel"/>
      <p:regular r:id="rId56"/>
      <p:bold r:id="rId57"/>
      <p:italic r:id="rId58"/>
      <p:boldItalic r:id="rId59"/>
    </p:embeddedFont>
    <p:embeddedFont>
      <p:font typeface="Roboto Mon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FEFA6B-B14A-4E10-809A-CED3F9E72636}">
  <a:tblStyle styleId="{EBFEFA6B-B14A-4E10-809A-CED3F9E7263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aleway-regular.fntdata"/><Relationship Id="rId47" Type="http://schemas.openxmlformats.org/officeDocument/2006/relationships/slide" Target="slides/slide41.xml"/><Relationship Id="rId49" Type="http://schemas.openxmlformats.org/officeDocument/2006/relationships/font" Target="fonts/Raleway-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italic.fntdata"/><Relationship Id="rId61" Type="http://schemas.openxmlformats.org/officeDocument/2006/relationships/font" Target="fonts/RobotoMono-bold.fntdata"/><Relationship Id="rId20" Type="http://schemas.openxmlformats.org/officeDocument/2006/relationships/slide" Target="slides/slide14.xml"/><Relationship Id="rId63" Type="http://schemas.openxmlformats.org/officeDocument/2006/relationships/font" Target="fonts/RobotoMon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Lato-bold.fntdata"/><Relationship Id="rId52" Type="http://schemas.openxmlformats.org/officeDocument/2006/relationships/font" Target="fonts/Lato-regular.fntdata"/><Relationship Id="rId11" Type="http://schemas.openxmlformats.org/officeDocument/2006/relationships/slide" Target="slides/slide5.xml"/><Relationship Id="rId55" Type="http://schemas.openxmlformats.org/officeDocument/2006/relationships/font" Target="fonts/Lato-boldItalic.fntdata"/><Relationship Id="rId10" Type="http://schemas.openxmlformats.org/officeDocument/2006/relationships/slide" Target="slides/slide4.xml"/><Relationship Id="rId54" Type="http://schemas.openxmlformats.org/officeDocument/2006/relationships/font" Target="fonts/Lato-italic.fntdata"/><Relationship Id="rId13" Type="http://schemas.openxmlformats.org/officeDocument/2006/relationships/slide" Target="slides/slide7.xml"/><Relationship Id="rId57" Type="http://schemas.openxmlformats.org/officeDocument/2006/relationships/font" Target="fonts/Corbel-bold.fntdata"/><Relationship Id="rId12" Type="http://schemas.openxmlformats.org/officeDocument/2006/relationships/slide" Target="slides/slide6.xml"/><Relationship Id="rId56" Type="http://schemas.openxmlformats.org/officeDocument/2006/relationships/font" Target="fonts/Corbel-regular.fntdata"/><Relationship Id="rId15" Type="http://schemas.openxmlformats.org/officeDocument/2006/relationships/slide" Target="slides/slide9.xml"/><Relationship Id="rId59" Type="http://schemas.openxmlformats.org/officeDocument/2006/relationships/font" Target="fonts/Corbel-boldItalic.fntdata"/><Relationship Id="rId14" Type="http://schemas.openxmlformats.org/officeDocument/2006/relationships/slide" Target="slides/slide8.xml"/><Relationship Id="rId58" Type="http://schemas.openxmlformats.org/officeDocument/2006/relationships/font" Target="fonts/Corbel-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a74099c92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a74099c92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a74099c9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a74099c9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a74099c92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a74099c9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a74099c9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a74099c9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a988a0af0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a988a0af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a988a0af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a988a0af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7a988a0af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7a988a0af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7a988a0af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7a988a0af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a988a0af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a988a0af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a988a0af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a988a0af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a988a0af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7a988a0af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a988a0af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7a988a0af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7a988a0af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7a988a0af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a988a0af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7a988a0af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a988a0af0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7a988a0af0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a988a0af0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a988a0af0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7a988a0af0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7a988a0af0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7a74099c92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7a74099c92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7a988a0af0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7a988a0af0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7a988a0af0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7a988a0af0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a74099c92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7a74099c92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4d1b29aa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4d1b29aa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a988a0af0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7a988a0af0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a988a0af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7a988a0af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7a988a0af0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7a988a0af0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7a988a0af0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7a988a0af0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7a988a0af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7a988a0af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a988a0af0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7a988a0af0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c5fc9dfd22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c5fc9dfd22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c5fc9dfd2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c5fc9dfd2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c5fc9dfd22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c5fc9dfd22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c5fc9dfd22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c5fc9dfd22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5fc9dfd22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c5fc9dfd22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c5fc9dfd2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c5fc9dfd2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c5fc9dfd22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c5fc9dfd2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5fc9dfd22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5fc9dfd22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5fc9dfd22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c5fc9dfd22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7a988a0af0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7a988a0af0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652147f3e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652147f3e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652147f3e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652147f3e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652147f3e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652147f3e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grpSp>
        <p:nvGrpSpPr>
          <p:cNvPr id="24" name="Google Shape;24;p4"/>
          <p:cNvGrpSpPr/>
          <p:nvPr/>
        </p:nvGrpSpPr>
        <p:grpSpPr>
          <a:xfrm>
            <a:off x="830392" y="1191256"/>
            <a:ext cx="745763" cy="45826"/>
            <a:chOff x="4580561" y="2589004"/>
            <a:chExt cx="1064464" cy="25200"/>
          </a:xfrm>
        </p:grpSpPr>
        <p:sp>
          <p:nvSpPr>
            <p:cNvPr id="25" name="Google Shape;25;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 name="Google Shape;27;p4"/>
          <p:cNvSpPr txBox="1"/>
          <p:nvPr>
            <p:ph type="title"/>
          </p:nvPr>
        </p:nvSpPr>
        <p:spPr>
          <a:xfrm>
            <a:off x="830400" y="6560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8" name="Google Shape;28;p4"/>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 name="Google Shape;29;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grpSp>
        <p:nvGrpSpPr>
          <p:cNvPr id="31" name="Google Shape;31;p5"/>
          <p:cNvGrpSpPr/>
          <p:nvPr/>
        </p:nvGrpSpPr>
        <p:grpSpPr>
          <a:xfrm>
            <a:off x="830392" y="1191256"/>
            <a:ext cx="745763" cy="45826"/>
            <a:chOff x="4580561" y="2589004"/>
            <a:chExt cx="1064464" cy="25200"/>
          </a:xfrm>
        </p:grpSpPr>
        <p:sp>
          <p:nvSpPr>
            <p:cNvPr id="32" name="Google Shape;3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5"/>
          <p:cNvSpPr txBox="1"/>
          <p:nvPr>
            <p:ph type="title"/>
          </p:nvPr>
        </p:nvSpPr>
        <p:spPr>
          <a:xfrm>
            <a:off x="830400" y="6560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5" name="Google Shape;35;p5"/>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0"/>
              </a:spcBef>
              <a:spcAft>
                <a:spcPts val="0"/>
              </a:spcAft>
              <a:buClr>
                <a:schemeClr val="dk2"/>
              </a:buClr>
              <a:buSzPts val="1100"/>
              <a:buChar char="○"/>
              <a:defRPr>
                <a:solidFill>
                  <a:schemeClr val="dk2"/>
                </a:solidFill>
              </a:defRPr>
            </a:lvl2pPr>
            <a:lvl3pPr indent="-298450" lvl="2" marL="1371600">
              <a:spcBef>
                <a:spcPts val="0"/>
              </a:spcBef>
              <a:spcAft>
                <a:spcPts val="0"/>
              </a:spcAft>
              <a:buClr>
                <a:schemeClr val="dk2"/>
              </a:buClr>
              <a:buSzPts val="1100"/>
              <a:buChar char="■"/>
              <a:defRPr>
                <a:solidFill>
                  <a:schemeClr val="dk2"/>
                </a:solidFill>
              </a:defRPr>
            </a:lvl3pPr>
            <a:lvl4pPr indent="-298450" lvl="3" marL="1828800">
              <a:spcBef>
                <a:spcPts val="0"/>
              </a:spcBef>
              <a:spcAft>
                <a:spcPts val="0"/>
              </a:spcAft>
              <a:buClr>
                <a:schemeClr val="dk2"/>
              </a:buClr>
              <a:buSzPts val="1100"/>
              <a:buChar char="●"/>
              <a:defRPr>
                <a:solidFill>
                  <a:schemeClr val="dk2"/>
                </a:solidFill>
              </a:defRPr>
            </a:lvl4pPr>
            <a:lvl5pPr indent="-298450" lvl="4" marL="2286000">
              <a:spcBef>
                <a:spcPts val="0"/>
              </a:spcBef>
              <a:spcAft>
                <a:spcPts val="0"/>
              </a:spcAft>
              <a:buClr>
                <a:schemeClr val="dk2"/>
              </a:buClr>
              <a:buSzPts val="1100"/>
              <a:buChar char="○"/>
              <a:defRPr>
                <a:solidFill>
                  <a:schemeClr val="dk2"/>
                </a:solidFill>
              </a:defRPr>
            </a:lvl5pPr>
            <a:lvl6pPr indent="-298450" lvl="5" marL="2743200">
              <a:spcBef>
                <a:spcPts val="0"/>
              </a:spcBef>
              <a:spcAft>
                <a:spcPts val="0"/>
              </a:spcAft>
              <a:buClr>
                <a:schemeClr val="dk2"/>
              </a:buClr>
              <a:buSzPts val="1100"/>
              <a:buChar char="■"/>
              <a:defRPr>
                <a:solidFill>
                  <a:schemeClr val="dk2"/>
                </a:solidFill>
              </a:defRPr>
            </a:lvl6pPr>
            <a:lvl7pPr indent="-298450" lvl="6" marL="3200400">
              <a:spcBef>
                <a:spcPts val="0"/>
              </a:spcBef>
              <a:spcAft>
                <a:spcPts val="0"/>
              </a:spcAft>
              <a:buClr>
                <a:schemeClr val="dk2"/>
              </a:buClr>
              <a:buSzPts val="1100"/>
              <a:buChar char="●"/>
              <a:defRPr>
                <a:solidFill>
                  <a:schemeClr val="dk2"/>
                </a:solidFill>
              </a:defRPr>
            </a:lvl7pPr>
            <a:lvl8pPr indent="-298450" lvl="7" marL="3657600">
              <a:spcBef>
                <a:spcPts val="0"/>
              </a:spcBef>
              <a:spcAft>
                <a:spcPts val="0"/>
              </a:spcAft>
              <a:buClr>
                <a:schemeClr val="dk2"/>
              </a:buClr>
              <a:buSzPts val="1100"/>
              <a:buChar char="○"/>
              <a:defRPr>
                <a:solidFill>
                  <a:schemeClr val="dk2"/>
                </a:solidFill>
              </a:defRPr>
            </a:lvl8pPr>
            <a:lvl9pPr indent="-298450" lvl="8" marL="4114800">
              <a:spcBef>
                <a:spcPts val="0"/>
              </a:spcBef>
              <a:spcAft>
                <a:spcPts val="0"/>
              </a:spcAft>
              <a:buClr>
                <a:schemeClr val="dk2"/>
              </a:buClr>
              <a:buSzPts val="1100"/>
              <a:buChar char="■"/>
              <a:defRPr>
                <a:solidFill>
                  <a:schemeClr val="dk2"/>
                </a:solidFill>
              </a:defRPr>
            </a:lvl9pPr>
          </a:lstStyle>
          <a:p/>
        </p:txBody>
      </p:sp>
      <p:sp>
        <p:nvSpPr>
          <p:cNvPr id="36" name="Google Shape;36;p5"/>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0"/>
              </a:spcBef>
              <a:spcAft>
                <a:spcPts val="0"/>
              </a:spcAft>
              <a:buClr>
                <a:schemeClr val="dk2"/>
              </a:buClr>
              <a:buSzPts val="1100"/>
              <a:buChar char="○"/>
              <a:defRPr>
                <a:solidFill>
                  <a:schemeClr val="dk2"/>
                </a:solidFill>
              </a:defRPr>
            </a:lvl2pPr>
            <a:lvl3pPr indent="-298450" lvl="2" marL="1371600">
              <a:spcBef>
                <a:spcPts val="0"/>
              </a:spcBef>
              <a:spcAft>
                <a:spcPts val="0"/>
              </a:spcAft>
              <a:buClr>
                <a:schemeClr val="dk2"/>
              </a:buClr>
              <a:buSzPts val="1100"/>
              <a:buChar char="■"/>
              <a:defRPr>
                <a:solidFill>
                  <a:schemeClr val="dk2"/>
                </a:solidFill>
              </a:defRPr>
            </a:lvl3pPr>
            <a:lvl4pPr indent="-298450" lvl="3" marL="1828800">
              <a:spcBef>
                <a:spcPts val="0"/>
              </a:spcBef>
              <a:spcAft>
                <a:spcPts val="0"/>
              </a:spcAft>
              <a:buClr>
                <a:schemeClr val="dk2"/>
              </a:buClr>
              <a:buSzPts val="1100"/>
              <a:buChar char="●"/>
              <a:defRPr>
                <a:solidFill>
                  <a:schemeClr val="dk2"/>
                </a:solidFill>
              </a:defRPr>
            </a:lvl4pPr>
            <a:lvl5pPr indent="-298450" lvl="4" marL="2286000">
              <a:spcBef>
                <a:spcPts val="0"/>
              </a:spcBef>
              <a:spcAft>
                <a:spcPts val="0"/>
              </a:spcAft>
              <a:buClr>
                <a:schemeClr val="dk2"/>
              </a:buClr>
              <a:buSzPts val="1100"/>
              <a:buChar char="○"/>
              <a:defRPr>
                <a:solidFill>
                  <a:schemeClr val="dk2"/>
                </a:solidFill>
              </a:defRPr>
            </a:lvl5pPr>
            <a:lvl6pPr indent="-298450" lvl="5" marL="2743200">
              <a:spcBef>
                <a:spcPts val="0"/>
              </a:spcBef>
              <a:spcAft>
                <a:spcPts val="0"/>
              </a:spcAft>
              <a:buClr>
                <a:schemeClr val="dk2"/>
              </a:buClr>
              <a:buSzPts val="1100"/>
              <a:buChar char="■"/>
              <a:defRPr>
                <a:solidFill>
                  <a:schemeClr val="dk2"/>
                </a:solidFill>
              </a:defRPr>
            </a:lvl6pPr>
            <a:lvl7pPr indent="-298450" lvl="6" marL="3200400">
              <a:spcBef>
                <a:spcPts val="0"/>
              </a:spcBef>
              <a:spcAft>
                <a:spcPts val="0"/>
              </a:spcAft>
              <a:buClr>
                <a:schemeClr val="dk2"/>
              </a:buClr>
              <a:buSzPts val="1100"/>
              <a:buChar char="●"/>
              <a:defRPr>
                <a:solidFill>
                  <a:schemeClr val="dk2"/>
                </a:solidFill>
              </a:defRPr>
            </a:lvl7pPr>
            <a:lvl8pPr indent="-298450" lvl="7" marL="3657600">
              <a:spcBef>
                <a:spcPts val="0"/>
              </a:spcBef>
              <a:spcAft>
                <a:spcPts val="0"/>
              </a:spcAft>
              <a:buClr>
                <a:schemeClr val="dk2"/>
              </a:buClr>
              <a:buSzPts val="1100"/>
              <a:buChar char="○"/>
              <a:defRPr>
                <a:solidFill>
                  <a:schemeClr val="dk2"/>
                </a:solidFill>
              </a:defRPr>
            </a:lvl8pPr>
            <a:lvl9pPr indent="-298450" lvl="8" marL="4114800">
              <a:spcBef>
                <a:spcPts val="0"/>
              </a:spcBef>
              <a:spcAft>
                <a:spcPts val="0"/>
              </a:spcAft>
              <a:buClr>
                <a:schemeClr val="dk2"/>
              </a:buClr>
              <a:buSzPts val="1100"/>
              <a:buChar char="■"/>
              <a:defRPr>
                <a:solidFill>
                  <a:schemeClr val="dk2"/>
                </a:solidFill>
              </a:defRPr>
            </a:lvl9pPr>
          </a:lstStyle>
          <a:p/>
        </p:txBody>
      </p:sp>
      <p:sp>
        <p:nvSpPr>
          <p:cNvPr id="37" name="Google Shape;37;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6"/>
          <p:cNvGrpSpPr/>
          <p:nvPr/>
        </p:nvGrpSpPr>
        <p:grpSpPr>
          <a:xfrm>
            <a:off x="830392" y="1191256"/>
            <a:ext cx="745763" cy="45826"/>
            <a:chOff x="4580561" y="2589004"/>
            <a:chExt cx="1064464" cy="25200"/>
          </a:xfrm>
        </p:grpSpPr>
        <p:sp>
          <p:nvSpPr>
            <p:cNvPr id="41" name="Google Shape;41;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6"/>
          <p:cNvSpPr txBox="1"/>
          <p:nvPr>
            <p:ph type="title"/>
          </p:nvPr>
        </p:nvSpPr>
        <p:spPr>
          <a:xfrm>
            <a:off x="830400" y="6560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4" name="Google Shape;44;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 name="Google Shape;47;p7"/>
          <p:cNvGrpSpPr/>
          <p:nvPr/>
        </p:nvGrpSpPr>
        <p:grpSpPr>
          <a:xfrm>
            <a:off x="830392" y="1191256"/>
            <a:ext cx="745763" cy="45826"/>
            <a:chOff x="4580561" y="2589004"/>
            <a:chExt cx="1064464" cy="25200"/>
          </a:xfrm>
        </p:grpSpPr>
        <p:sp>
          <p:nvSpPr>
            <p:cNvPr id="48" name="Google Shape;48;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 name="Google Shape;50;p7"/>
          <p:cNvSpPr txBox="1"/>
          <p:nvPr>
            <p:ph type="title"/>
          </p:nvPr>
        </p:nvSpPr>
        <p:spPr>
          <a:xfrm>
            <a:off x="830400" y="703450"/>
            <a:ext cx="7827600" cy="4878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1" name="Google Shape;51;p7"/>
          <p:cNvSpPr txBox="1"/>
          <p:nvPr>
            <p:ph idx="1" type="body"/>
          </p:nvPr>
        </p:nvSpPr>
        <p:spPr>
          <a:xfrm>
            <a:off x="721225" y="1237075"/>
            <a:ext cx="3300900" cy="3142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 name="Google Shape;52;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3" name="Shape 53"/>
        <p:cNvGrpSpPr/>
        <p:nvPr/>
      </p:nvGrpSpPr>
      <p:grpSpPr>
        <a:xfrm>
          <a:off x="0" y="0"/>
          <a:ext cx="0" cy="0"/>
          <a:chOff x="0" y="0"/>
          <a:chExt cx="0" cy="0"/>
        </a:xfrm>
      </p:grpSpPr>
      <p:grpSp>
        <p:nvGrpSpPr>
          <p:cNvPr id="54" name="Google Shape;54;p8"/>
          <p:cNvGrpSpPr/>
          <p:nvPr/>
        </p:nvGrpSpPr>
        <p:grpSpPr>
          <a:xfrm>
            <a:off x="830392" y="4169130"/>
            <a:ext cx="745763" cy="45826"/>
            <a:chOff x="4580561" y="2589004"/>
            <a:chExt cx="1064464" cy="25200"/>
          </a:xfrm>
        </p:grpSpPr>
        <p:sp>
          <p:nvSpPr>
            <p:cNvPr id="55" name="Google Shape;55;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58" name="Google Shape;58;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 name="Google Shape;61;p9"/>
          <p:cNvGrpSpPr/>
          <p:nvPr/>
        </p:nvGrpSpPr>
        <p:grpSpPr>
          <a:xfrm>
            <a:off x="830392" y="1191256"/>
            <a:ext cx="745763" cy="45826"/>
            <a:chOff x="4580561" y="2589004"/>
            <a:chExt cx="1064464" cy="25200"/>
          </a:xfrm>
        </p:grpSpPr>
        <p:sp>
          <p:nvSpPr>
            <p:cNvPr id="62" name="Google Shape;62;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9"/>
          <p:cNvSpPr txBox="1"/>
          <p:nvPr>
            <p:ph type="title"/>
          </p:nvPr>
        </p:nvSpPr>
        <p:spPr>
          <a:xfrm>
            <a:off x="830400" y="286450"/>
            <a:ext cx="4077600" cy="9048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5" name="Google Shape;65;p9"/>
          <p:cNvSpPr txBox="1"/>
          <p:nvPr>
            <p:ph idx="1" type="subTitle"/>
          </p:nvPr>
        </p:nvSpPr>
        <p:spPr>
          <a:xfrm>
            <a:off x="830400" y="1399200"/>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6" name="Google Shape;66;p9"/>
          <p:cNvSpPr txBox="1"/>
          <p:nvPr>
            <p:ph idx="2" type="body"/>
          </p:nvPr>
        </p:nvSpPr>
        <p:spPr>
          <a:xfrm>
            <a:off x="5174225" y="389350"/>
            <a:ext cx="3374400" cy="4360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7" name="Google Shape;67;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0" name="Google Shape;70;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1" name="Shape 71"/>
        <p:cNvGrpSpPr/>
        <p:nvPr/>
      </p:nvGrpSpPr>
      <p:grpSpPr>
        <a:xfrm>
          <a:off x="0" y="0"/>
          <a:ext cx="0" cy="0"/>
          <a:chOff x="0" y="0"/>
          <a:chExt cx="0" cy="0"/>
        </a:xfrm>
      </p:grpSpPr>
      <p:grpSp>
        <p:nvGrpSpPr>
          <p:cNvPr id="72" name="Google Shape;72;p11"/>
          <p:cNvGrpSpPr/>
          <p:nvPr/>
        </p:nvGrpSpPr>
        <p:grpSpPr>
          <a:xfrm>
            <a:off x="830392" y="4169130"/>
            <a:ext cx="745763" cy="45826"/>
            <a:chOff x="4580561" y="2589004"/>
            <a:chExt cx="1064464" cy="25200"/>
          </a:xfrm>
        </p:grpSpPr>
        <p:sp>
          <p:nvSpPr>
            <p:cNvPr id="73" name="Google Shape;73;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6" name="Google Shape;76;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7" name="Google Shape;77;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Lato"/>
              <a:buChar char="●"/>
              <a:defRPr sz="1300">
                <a:solidFill>
                  <a:schemeClr val="dk2"/>
                </a:solidFill>
                <a:latin typeface="Lato"/>
                <a:ea typeface="Lato"/>
                <a:cs typeface="Lato"/>
                <a:sym typeface="Lato"/>
              </a:defRPr>
            </a:lvl1pPr>
            <a:lvl2pPr indent="-298450" lvl="1" marL="9144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2pPr>
            <a:lvl3pPr indent="-298450" lvl="2" marL="13716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3pPr>
            <a:lvl4pPr indent="-298450" lvl="3" marL="18288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4pPr>
            <a:lvl5pPr indent="-298450" lvl="4" marL="22860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5pPr>
            <a:lvl6pPr indent="-298450" lvl="5" marL="27432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6pPr>
            <a:lvl7pPr indent="-298450" lvl="6" marL="32004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7pPr>
            <a:lvl8pPr indent="-298450" lvl="7" marL="36576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8pPr>
            <a:lvl9pPr indent="-298450" lvl="8" marL="41148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hyperlink" Target="https://labo2ar.blogspot.com/p/actividad-2-mediciones-con-captura-de_05.html" TargetMode="External"/><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opensource.com/article/18/4/introduction-python-bytecode" TargetMode="External"/><Relationship Id="rId4" Type="http://schemas.openxmlformats.org/officeDocument/2006/relationships/hyperlink" Target="https://leanpub.com/insidethepythonvirtualmachine" TargetMode="External"/><Relationship Id="rId5" Type="http://schemas.openxmlformats.org/officeDocument/2006/relationships/hyperlink" Target="https://aosabook.org/en/500L/a-python-interpreter-written-in-python.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coursera.org/programs/coursera-para-la-universidad-nacional-de-colombia-ji3sj/learn/cs-programming-java?fromClip=sfc_page_course_link~VdN6m" TargetMode="External"/><Relationship Id="rId4" Type="http://schemas.openxmlformats.org/officeDocument/2006/relationships/hyperlink" Target="https://www.coursera.org/programs/coursera-para-la-universidad-nacional-de-colombia-ji3sj/specializations/explainable-artificial-intelligence-xai?source=search"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forms.gle/Yjrz2jx8ci8a9rxMA" TargetMode="External"/><Relationship Id="rId4" Type="http://schemas.openxmlformats.org/officeDocument/2006/relationships/image" Target="../media/image9.png"/><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8.png"/><Relationship Id="rId4" Type="http://schemas.openxmlformats.org/officeDocument/2006/relationships/image" Target="../media/image10.jpg"/><Relationship Id="rId5" Type="http://schemas.openxmlformats.org/officeDocument/2006/relationships/image" Target="../media/image7.jpg"/><Relationship Id="rId6" Type="http://schemas.openxmlformats.org/officeDocument/2006/relationships/image" Target="../media/image11.png"/><Relationship Id="rId7"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[TLP] Teoría de lenguajes de programación (3010426) y Programación Lógica y Funcional (3007743).</a:t>
            </a:r>
            <a:endParaRPr sz="2880"/>
          </a:p>
        </p:txBody>
      </p:sp>
      <p:sp>
        <p:nvSpPr>
          <p:cNvPr id="85" name="Google Shape;85;p13"/>
          <p:cNvSpPr txBox="1"/>
          <p:nvPr>
            <p:ph idx="1" type="subTitle"/>
          </p:nvPr>
        </p:nvSpPr>
        <p:spPr>
          <a:xfrm>
            <a:off x="729625" y="2987150"/>
            <a:ext cx="7688100" cy="1955400"/>
          </a:xfrm>
          <a:prstGeom prst="rect">
            <a:avLst/>
          </a:prstGeom>
        </p:spPr>
        <p:txBody>
          <a:bodyPr anchorCtr="0" anchor="t" bIns="91425" lIns="91425" spcFirstLastPara="1" rIns="91425" wrap="square" tIns="91425">
            <a:normAutofit fontScale="62500" lnSpcReduction="20000"/>
          </a:bodyPr>
          <a:lstStyle/>
          <a:p>
            <a:pPr indent="0" lvl="0" marL="0" rtl="0" algn="ctr">
              <a:lnSpc>
                <a:spcPct val="115000"/>
              </a:lnSpc>
              <a:spcBef>
                <a:spcPts val="0"/>
              </a:spcBef>
              <a:spcAft>
                <a:spcPts val="0"/>
              </a:spcAft>
              <a:buNone/>
            </a:pPr>
            <a:r>
              <a:rPr lang="es" sz="3057"/>
              <a:t>¡Gracias por tomar esta Asignatura!</a:t>
            </a:r>
            <a:endParaRPr sz="3057"/>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lang="es" sz="2200"/>
              <a:t>Fernán A. Villa-Garzón.		Hinara P. Sánchez-Mata.</a:t>
            </a:r>
            <a:endParaRPr sz="2200"/>
          </a:p>
          <a:p>
            <a:pPr indent="0" lvl="0" marL="0" rtl="0" algn="l">
              <a:lnSpc>
                <a:spcPct val="115000"/>
              </a:lnSpc>
              <a:spcBef>
                <a:spcPts val="0"/>
              </a:spcBef>
              <a:spcAft>
                <a:spcPts val="0"/>
              </a:spcAft>
              <a:buNone/>
            </a:pPr>
            <a:r>
              <a:rPr lang="es" sz="2200"/>
              <a:t>favillao@unal.edu.co 		hisanchezm@unal.edu.co </a:t>
            </a:r>
            <a:endParaRPr sz="2200"/>
          </a:p>
          <a:p>
            <a:pPr indent="0" lvl="0" marL="0" rtl="0" algn="l">
              <a:lnSpc>
                <a:spcPct val="115000"/>
              </a:lnSpc>
              <a:spcBef>
                <a:spcPts val="0"/>
              </a:spcBef>
              <a:spcAft>
                <a:spcPts val="0"/>
              </a:spcAft>
              <a:buNone/>
            </a:pPr>
            <a:r>
              <a:rPr lang="es" sz="2200"/>
              <a:t>Profesor Asociado		Monitora	</a:t>
            </a:r>
            <a:endParaRPr sz="2200"/>
          </a:p>
          <a:p>
            <a:pPr indent="0" lvl="0" marL="0" rtl="0" algn="l">
              <a:lnSpc>
                <a:spcPct val="115000"/>
              </a:lnSpc>
              <a:spcBef>
                <a:spcPts val="0"/>
              </a:spcBef>
              <a:spcAft>
                <a:spcPts val="0"/>
              </a:spcAft>
              <a:buNone/>
            </a:pPr>
            <a:r>
              <a:rPr lang="es" sz="2200"/>
              <a:t>Oficina M8A-315. 		Oficina M8A-402</a:t>
            </a:r>
            <a:endParaRPr sz="2200"/>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lang="es" sz="2200"/>
              <a:t>Asesoría, por favor Agendar por Google Calendar.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Agenda</a:t>
            </a:r>
            <a:endParaRPr/>
          </a:p>
        </p:txBody>
      </p:sp>
      <p:sp>
        <p:nvSpPr>
          <p:cNvPr id="91" name="Google Shape;91;p14"/>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AutoNum type="arabicPeriod"/>
            </a:pPr>
            <a:r>
              <a:rPr lang="es" sz="1500"/>
              <a:t>Reflexión</a:t>
            </a:r>
            <a:endParaRPr sz="1500"/>
          </a:p>
          <a:p>
            <a:pPr indent="-323850" lvl="0" marL="457200" rtl="0" algn="l">
              <a:spcBef>
                <a:spcPts val="0"/>
              </a:spcBef>
              <a:spcAft>
                <a:spcPts val="0"/>
              </a:spcAft>
              <a:buSzPts val="1500"/>
              <a:buAutoNum type="arabicPeriod"/>
            </a:pPr>
            <a:r>
              <a:rPr lang="es" sz="1500"/>
              <a:t>Objetivo de la Asignatura</a:t>
            </a:r>
            <a:endParaRPr sz="1500"/>
          </a:p>
          <a:p>
            <a:pPr indent="-311150" lvl="0" marL="457200" rtl="0" algn="l">
              <a:spcBef>
                <a:spcPts val="0"/>
              </a:spcBef>
              <a:spcAft>
                <a:spcPts val="0"/>
              </a:spcAft>
              <a:buSzPts val="1300"/>
              <a:buAutoNum type="arabicPeriod"/>
            </a:pPr>
            <a:r>
              <a:rPr lang="es" sz="1500"/>
              <a:t>Respuestas de la Conducta de Entrada. </a:t>
            </a:r>
            <a:endParaRPr sz="1500"/>
          </a:p>
          <a:p>
            <a:pPr indent="0" lvl="0" marL="457200" rtl="0" algn="l">
              <a:spcBef>
                <a:spcPts val="1200"/>
              </a:spcBef>
              <a:spcAft>
                <a:spcPts val="0"/>
              </a:spcAft>
              <a:buNone/>
            </a:pPr>
            <a:r>
              <a:rPr lang="es" sz="1500"/>
              <a:t>https://docs.google.com/forms/d/1kZJqDmSXeStm2qhQO38Ga_0YyUsBX0CbDtQRjgsBI9s/edit</a:t>
            </a:r>
            <a:endParaRPr sz="1500"/>
          </a:p>
          <a:p>
            <a:pPr indent="-311150" lvl="0" marL="457200" rtl="0" algn="l">
              <a:spcBef>
                <a:spcPts val="1200"/>
              </a:spcBef>
              <a:spcAft>
                <a:spcPts val="0"/>
              </a:spcAft>
              <a:buSzPts val="1300"/>
              <a:buAutoNum type="arabicPeriod"/>
            </a:pPr>
            <a:r>
              <a:rPr lang="es" sz="1500"/>
              <a:t>Aceptación de Compromiso de Integridad Académica y Uso Ético de la Inteligencia Artificial. </a:t>
            </a:r>
            <a:r>
              <a:rPr lang="es" sz="1600"/>
              <a:t>https://forms.gle/X8EsZZRYN9JzsJ4aA</a:t>
            </a:r>
            <a:r>
              <a:rPr lang="es" sz="1500"/>
              <a:t> </a:t>
            </a:r>
            <a:r>
              <a:rPr lang="es" sz="1500"/>
              <a:t>.</a:t>
            </a:r>
            <a:endParaRPr sz="1500"/>
          </a:p>
          <a:p>
            <a:pPr indent="-323850" lvl="0" marL="457200" rtl="0" algn="l">
              <a:spcBef>
                <a:spcPts val="0"/>
              </a:spcBef>
              <a:spcAft>
                <a:spcPts val="0"/>
              </a:spcAft>
              <a:buSzPts val="1500"/>
              <a:buAutoNum type="arabicPeriod"/>
            </a:pPr>
            <a:r>
              <a:rPr lang="es" sz="1500"/>
              <a:t>Plan de Temas </a:t>
            </a:r>
            <a:endParaRPr sz="1500"/>
          </a:p>
          <a:p>
            <a:pPr indent="-323850" lvl="0" marL="457200" rtl="0" algn="l">
              <a:spcBef>
                <a:spcPts val="0"/>
              </a:spcBef>
              <a:spcAft>
                <a:spcPts val="0"/>
              </a:spcAft>
              <a:buSzPts val="1500"/>
              <a:buAutoNum type="arabicPeriod"/>
            </a:pPr>
            <a:r>
              <a:rPr lang="es" sz="1500"/>
              <a:t>Evaluación de la Asignatura</a:t>
            </a:r>
            <a:endParaRPr sz="1500"/>
          </a:p>
          <a:p>
            <a:pPr indent="-323850" lvl="0" marL="457200" rtl="0" algn="l">
              <a:spcBef>
                <a:spcPts val="0"/>
              </a:spcBef>
              <a:spcAft>
                <a:spcPts val="0"/>
              </a:spcAft>
              <a:buSzPts val="1500"/>
              <a:buAutoNum type="arabicPeriod"/>
            </a:pPr>
            <a:r>
              <a:rPr lang="es" sz="1500"/>
              <a:t>Bibliografía</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00000"/>
              <a:buAutoNum type="arabicPeriod"/>
            </a:pPr>
            <a:r>
              <a:rPr lang="es"/>
              <a:t>Reflexión</a:t>
            </a:r>
            <a:endParaRPr/>
          </a:p>
        </p:txBody>
      </p:sp>
      <p:sp>
        <p:nvSpPr>
          <p:cNvPr id="97" name="Google Shape;97;p15"/>
          <p:cNvSpPr txBox="1"/>
          <p:nvPr>
            <p:ph idx="1" type="body"/>
          </p:nvPr>
        </p:nvSpPr>
        <p:spPr>
          <a:xfrm>
            <a:off x="2624200" y="1237075"/>
            <a:ext cx="5895000" cy="35298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Clr>
                <a:schemeClr val="dk1"/>
              </a:buClr>
              <a:buFont typeface="Arial"/>
              <a:buNone/>
            </a:pPr>
            <a:r>
              <a:rPr lang="es" sz="3200">
                <a:solidFill>
                  <a:schemeClr val="dk1"/>
                </a:solidFill>
                <a:latin typeface="Corbel"/>
                <a:ea typeface="Corbel"/>
                <a:cs typeface="Corbel"/>
                <a:sym typeface="Corbel"/>
              </a:rPr>
              <a:t>El </a:t>
            </a:r>
            <a:r>
              <a:rPr b="1" lang="es" sz="3200">
                <a:solidFill>
                  <a:schemeClr val="dk1"/>
                </a:solidFill>
                <a:latin typeface="Corbel"/>
                <a:ea typeface="Corbel"/>
                <a:cs typeface="Corbel"/>
                <a:sym typeface="Corbel"/>
              </a:rPr>
              <a:t>propósito de la educación</a:t>
            </a:r>
            <a:r>
              <a:rPr lang="es" sz="3200">
                <a:solidFill>
                  <a:schemeClr val="dk1"/>
                </a:solidFill>
                <a:latin typeface="Corbel"/>
                <a:ea typeface="Corbel"/>
                <a:cs typeface="Corbel"/>
                <a:sym typeface="Corbel"/>
              </a:rPr>
              <a:t> no es perfeccionar a los jóvenes en alguna de las ciencias, sino </a:t>
            </a:r>
            <a:r>
              <a:rPr b="1" lang="es" sz="3200">
                <a:solidFill>
                  <a:schemeClr val="dk1"/>
                </a:solidFill>
                <a:latin typeface="Corbel"/>
                <a:ea typeface="Corbel"/>
                <a:cs typeface="Corbel"/>
                <a:sym typeface="Corbel"/>
              </a:rPr>
              <a:t>abrir su mente</a:t>
            </a:r>
            <a:r>
              <a:rPr lang="es" sz="3200">
                <a:solidFill>
                  <a:schemeClr val="dk1"/>
                </a:solidFill>
                <a:latin typeface="Corbel"/>
                <a:ea typeface="Corbel"/>
                <a:cs typeface="Corbel"/>
                <a:sym typeface="Corbel"/>
              </a:rPr>
              <a:t> y disponerla de modo que </a:t>
            </a:r>
            <a:r>
              <a:rPr b="1" lang="es" sz="3200">
                <a:solidFill>
                  <a:schemeClr val="dk1"/>
                </a:solidFill>
                <a:latin typeface="Corbel"/>
                <a:ea typeface="Corbel"/>
                <a:cs typeface="Corbel"/>
                <a:sym typeface="Corbel"/>
              </a:rPr>
              <a:t>sea capaz de dedicarse a cualquiera</a:t>
            </a:r>
            <a:r>
              <a:rPr lang="es" sz="3200">
                <a:solidFill>
                  <a:schemeClr val="dk1"/>
                </a:solidFill>
                <a:latin typeface="Corbel"/>
                <a:ea typeface="Corbel"/>
                <a:cs typeface="Corbel"/>
                <a:sym typeface="Corbel"/>
              </a:rPr>
              <a:t> de ellas cuando se lo proponga. </a:t>
            </a:r>
            <a:r>
              <a:rPr lang="es" sz="1700">
                <a:solidFill>
                  <a:srgbClr val="3F3F3F"/>
                </a:solidFill>
                <a:latin typeface="Corbel"/>
                <a:ea typeface="Corbel"/>
                <a:cs typeface="Corbel"/>
                <a:sym typeface="Corbel"/>
              </a:rPr>
              <a:t>John Locke 1632 - 1704. Filósofo y Médico Inglés. </a:t>
            </a:r>
            <a:r>
              <a:rPr i="1" lang="es" sz="1700">
                <a:solidFill>
                  <a:srgbClr val="3F3F3F"/>
                </a:solidFill>
                <a:latin typeface="Corbel"/>
                <a:ea typeface="Corbel"/>
                <a:cs typeface="Corbel"/>
                <a:sym typeface="Corbel"/>
              </a:rPr>
              <a:t>Some Thoughts Concerning Education</a:t>
            </a:r>
            <a:r>
              <a:rPr lang="es" sz="1700">
                <a:solidFill>
                  <a:srgbClr val="3F3F3F"/>
                </a:solidFill>
                <a:latin typeface="Corbel"/>
                <a:ea typeface="Corbel"/>
                <a:cs typeface="Corbel"/>
                <a:sym typeface="Corbel"/>
              </a:rPr>
              <a:t> (1693).</a:t>
            </a:r>
            <a:endParaRPr sz="1100"/>
          </a:p>
        </p:txBody>
      </p:sp>
      <p:pic>
        <p:nvPicPr>
          <p:cNvPr id="98" name="Google Shape;98;p15"/>
          <p:cNvPicPr preferRelativeResize="0"/>
          <p:nvPr/>
        </p:nvPicPr>
        <p:blipFill>
          <a:blip r:embed="rId3">
            <a:alphaModFix/>
          </a:blip>
          <a:stretch>
            <a:fillRect/>
          </a:stretch>
        </p:blipFill>
        <p:spPr>
          <a:xfrm>
            <a:off x="171400" y="1365450"/>
            <a:ext cx="2121350" cy="3198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Objetivo de la Asignatura</a:t>
            </a:r>
            <a:endParaRPr/>
          </a:p>
        </p:txBody>
      </p:sp>
      <p:sp>
        <p:nvSpPr>
          <p:cNvPr id="104" name="Google Shape;104;p16"/>
          <p:cNvSpPr txBox="1"/>
          <p:nvPr>
            <p:ph idx="1" type="body"/>
          </p:nvPr>
        </p:nvSpPr>
        <p:spPr>
          <a:xfrm>
            <a:off x="729450" y="1237075"/>
            <a:ext cx="4120800" cy="358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700"/>
              <a:t>E</a:t>
            </a:r>
            <a:r>
              <a:rPr lang="es" sz="1700"/>
              <a:t>l objetivo principal es que las y los estudiantes comprendan los principios teóricos y los conceptos fundamentales detrás del diseño, la implementación y la clasificación de los lenguajes de programación. </a:t>
            </a:r>
            <a:endParaRPr sz="1700"/>
          </a:p>
          <a:p>
            <a:pPr indent="0" lvl="0" marL="0" rtl="0" algn="l">
              <a:spcBef>
                <a:spcPts val="1200"/>
              </a:spcBef>
              <a:spcAft>
                <a:spcPts val="1200"/>
              </a:spcAft>
              <a:buNone/>
            </a:pPr>
            <a:r>
              <a:rPr lang="es" sz="1700"/>
              <a:t>Esto va más allá de simplemente aprender a programar en un lenguaje específico; se trata de entender el "porqué" de su estructura y funcionamiento.</a:t>
            </a:r>
            <a:endParaRPr sz="1700"/>
          </a:p>
        </p:txBody>
      </p:sp>
      <p:pic>
        <p:nvPicPr>
          <p:cNvPr descr="Imagen que contiene captura de pantalla&#10;&#10;Descripción generada con confianza muy alta" id="105" name="Google Shape;105;p16"/>
          <p:cNvPicPr preferRelativeResize="0"/>
          <p:nvPr/>
        </p:nvPicPr>
        <p:blipFill rotWithShape="1">
          <a:blip r:embed="rId3">
            <a:alphaModFix/>
          </a:blip>
          <a:srcRect b="0" l="0" r="0" t="0"/>
          <a:stretch/>
        </p:blipFill>
        <p:spPr>
          <a:xfrm>
            <a:off x="4798650" y="1307850"/>
            <a:ext cx="4069200" cy="29053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526550" y="0"/>
            <a:ext cx="8518800" cy="117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El camino de una línea de código es una cadena de transformaciones, desde un simple texto hasta impulsos eléctricos que cambian el estado de un procesador.</a:t>
            </a:r>
            <a:endParaRPr/>
          </a:p>
        </p:txBody>
      </p:sp>
      <p:sp>
        <p:nvSpPr>
          <p:cNvPr id="111" name="Google Shape;111;p17"/>
          <p:cNvSpPr txBox="1"/>
          <p:nvPr>
            <p:ph idx="1" type="body"/>
          </p:nvPr>
        </p:nvSpPr>
        <p:spPr>
          <a:xfrm>
            <a:off x="130575" y="1237075"/>
            <a:ext cx="4152600" cy="38187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s"/>
              <a:t>Paso </a:t>
            </a:r>
            <a:r>
              <a:rPr b="1" lang="es"/>
              <a:t>1. </a:t>
            </a:r>
            <a:r>
              <a:rPr lang="es"/>
              <a:t>Lenguaje de Alto Nivel (Python)</a:t>
            </a:r>
            <a:endParaRPr/>
          </a:p>
          <a:p>
            <a:pPr indent="0" lvl="0" marL="0" rtl="0" algn="l">
              <a:spcBef>
                <a:spcPts val="1200"/>
              </a:spcBef>
              <a:spcAft>
                <a:spcPts val="0"/>
              </a:spcAft>
              <a:buNone/>
            </a:pPr>
            <a:r>
              <a:rPr lang="es"/>
              <a:t>El punto de partida es el código que escribiste. Es una instrucción simple y legible para los humanos, que usa símbolos y palabras clave para expresar una idea.</a:t>
            </a:r>
            <a:endParaRPr/>
          </a:p>
          <a:p>
            <a:pPr indent="0" lvl="0" marL="0" rtl="0" algn="l">
              <a:spcBef>
                <a:spcPts val="1200"/>
              </a:spcBef>
              <a:spcAft>
                <a:spcPts val="0"/>
              </a:spcAft>
              <a:buNone/>
            </a:pPr>
            <a:r>
              <a:rPr b="1" lang="es">
                <a:solidFill>
                  <a:srgbClr val="0000FF"/>
                </a:solidFill>
                <a:latin typeface="Courier New"/>
                <a:ea typeface="Courier New"/>
                <a:cs typeface="Courier New"/>
                <a:sym typeface="Courier New"/>
              </a:rPr>
              <a:t>edad = 1964 - 2024</a:t>
            </a:r>
            <a:endParaRPr b="1">
              <a:solidFill>
                <a:srgbClr val="0000FF"/>
              </a:solidFill>
              <a:latin typeface="Courier New"/>
              <a:ea typeface="Courier New"/>
              <a:cs typeface="Courier New"/>
              <a:sym typeface="Courier New"/>
            </a:endParaRPr>
          </a:p>
          <a:p>
            <a:pPr indent="0" lvl="0" marL="0" rtl="0" algn="l">
              <a:spcBef>
                <a:spcPts val="1200"/>
              </a:spcBef>
              <a:spcAft>
                <a:spcPts val="0"/>
              </a:spcAft>
              <a:buNone/>
            </a:pPr>
            <a:r>
              <a:rPr b="1" lang="es"/>
              <a:t>Paso 2.</a:t>
            </a:r>
            <a:r>
              <a:rPr lang="es"/>
              <a:t> Compilación y Análisis (El Cerebro del Intérprete)</a:t>
            </a:r>
            <a:endParaRPr/>
          </a:p>
          <a:p>
            <a:pPr indent="0" lvl="0" marL="0" rtl="0" algn="l">
              <a:spcBef>
                <a:spcPts val="1200"/>
              </a:spcBef>
              <a:spcAft>
                <a:spcPts val="0"/>
              </a:spcAft>
              <a:buNone/>
            </a:pPr>
            <a:r>
              <a:rPr lang="es"/>
              <a:t>Cuando ejecutas el programa, el intérprete de Python lee el código. Su tarea es entenderlo antes de poder ejecutarlo.</a:t>
            </a:r>
            <a:endParaRPr/>
          </a:p>
          <a:p>
            <a:pPr indent="0" lvl="0" marL="0" rtl="0" algn="l">
              <a:spcBef>
                <a:spcPts val="1200"/>
              </a:spcBef>
              <a:spcAft>
                <a:spcPts val="0"/>
              </a:spcAft>
              <a:buNone/>
            </a:pPr>
            <a:r>
              <a:rPr b="1" lang="es"/>
              <a:t>Paso 2. Fase 1. Análisis Léxico (</a:t>
            </a:r>
            <a:r>
              <a:rPr b="1" i="1" lang="es"/>
              <a:t>lexer</a:t>
            </a:r>
            <a:r>
              <a:rPr b="1" lang="es"/>
              <a:t>): </a:t>
            </a:r>
            <a:r>
              <a:rPr lang="es"/>
              <a:t>El intérprete escanea la línea carácter por carácter y los agrupa en unidades lógicas llamadas </a:t>
            </a:r>
            <a:r>
              <a:rPr b="1" lang="es"/>
              <a:t>tokens</a:t>
            </a:r>
            <a:r>
              <a:rPr lang="es"/>
              <a:t>.</a:t>
            </a:r>
            <a:endParaRPr/>
          </a:p>
          <a:p>
            <a:pPr indent="0" lvl="0" marL="0" rtl="0" algn="l">
              <a:spcBef>
                <a:spcPts val="1200"/>
              </a:spcBef>
              <a:spcAft>
                <a:spcPts val="1200"/>
              </a:spcAft>
              <a:buNone/>
            </a:pPr>
            <a:r>
              <a:rPr b="1" lang="es">
                <a:solidFill>
                  <a:srgbClr val="0000FF"/>
                </a:solidFill>
                <a:latin typeface="Courier New"/>
                <a:ea typeface="Courier New"/>
                <a:cs typeface="Courier New"/>
                <a:sym typeface="Courier New"/>
              </a:rPr>
              <a:t>[ IDENTIFICADOR('edad'), OPERADOR('='), NUMERO(1964), OPERADOR('-'), NUMERO(2024) ]</a:t>
            </a:r>
            <a:endParaRPr/>
          </a:p>
        </p:txBody>
      </p:sp>
      <p:sp>
        <p:nvSpPr>
          <p:cNvPr id="112" name="Google Shape;112;p17"/>
          <p:cNvSpPr txBox="1"/>
          <p:nvPr>
            <p:ph idx="1" type="body"/>
          </p:nvPr>
        </p:nvSpPr>
        <p:spPr>
          <a:xfrm>
            <a:off x="4692300" y="1237075"/>
            <a:ext cx="4152600" cy="381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Paso 2. Fase 2. Análisis Sintáctico (</a:t>
            </a:r>
            <a:r>
              <a:rPr b="1" i="1" lang="es"/>
              <a:t>parser</a:t>
            </a:r>
            <a:r>
              <a:rPr b="1" lang="es"/>
              <a:t>): </a:t>
            </a:r>
            <a:r>
              <a:rPr lang="es"/>
              <a:t>El intérprete toma el flujo de tokens y verifica que sigan la gramática de Python. </a:t>
            </a:r>
            <a:endParaRPr/>
          </a:p>
          <a:p>
            <a:pPr indent="0" lvl="0" marL="0" rtl="0" algn="l">
              <a:spcBef>
                <a:spcPts val="1200"/>
              </a:spcBef>
              <a:spcAft>
                <a:spcPts val="1200"/>
              </a:spcAft>
              <a:buNone/>
            </a:pPr>
            <a:r>
              <a:rPr lang="es"/>
              <a:t>Con los tokens, construye un </a:t>
            </a:r>
            <a:r>
              <a:rPr b="1" i="1" lang="es"/>
              <a:t>Árbol de Sintaxis Abstracta (AST)</a:t>
            </a:r>
            <a:r>
              <a:rPr lang="es"/>
              <a:t>, una representación jerárquica del código.</a:t>
            </a:r>
            <a:endParaRPr/>
          </a:p>
        </p:txBody>
      </p:sp>
      <p:grpSp>
        <p:nvGrpSpPr>
          <p:cNvPr id="113" name="Google Shape;113;p17"/>
          <p:cNvGrpSpPr/>
          <p:nvPr/>
        </p:nvGrpSpPr>
        <p:grpSpPr>
          <a:xfrm>
            <a:off x="4851750" y="2841682"/>
            <a:ext cx="3993150" cy="2214100"/>
            <a:chOff x="4762100" y="1053100"/>
            <a:chExt cx="3993150" cy="2214100"/>
          </a:xfrm>
        </p:grpSpPr>
        <p:sp>
          <p:nvSpPr>
            <p:cNvPr id="114" name="Google Shape;114;p17"/>
            <p:cNvSpPr/>
            <p:nvPr/>
          </p:nvSpPr>
          <p:spPr>
            <a:xfrm>
              <a:off x="5808350" y="10531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ASIGNACIÓN</a:t>
              </a:r>
              <a:endParaRPr b="1">
                <a:latin typeface="Courier New"/>
                <a:ea typeface="Courier New"/>
                <a:cs typeface="Courier New"/>
                <a:sym typeface="Courier New"/>
              </a:endParaRPr>
            </a:p>
          </p:txBody>
        </p:sp>
        <p:sp>
          <p:nvSpPr>
            <p:cNvPr id="115" name="Google Shape;115;p17"/>
            <p:cNvSpPr/>
            <p:nvPr/>
          </p:nvSpPr>
          <p:spPr>
            <a:xfrm>
              <a:off x="4762100" y="17177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VARIABLE</a:t>
              </a:r>
              <a:endParaRPr b="1">
                <a:latin typeface="Courier New"/>
                <a:ea typeface="Courier New"/>
                <a:cs typeface="Courier New"/>
                <a:sym typeface="Courier New"/>
              </a:endParaRPr>
            </a:p>
          </p:txBody>
        </p:sp>
        <p:cxnSp>
          <p:nvCxnSpPr>
            <p:cNvPr id="116" name="Google Shape;116;p17"/>
            <p:cNvCxnSpPr>
              <a:stCxn id="115" idx="0"/>
              <a:endCxn id="114" idx="2"/>
            </p:cNvCxnSpPr>
            <p:nvPr/>
          </p:nvCxnSpPr>
          <p:spPr>
            <a:xfrm flipH="1" rot="10800000">
              <a:off x="5484500" y="1320800"/>
              <a:ext cx="1046400" cy="396900"/>
            </a:xfrm>
            <a:prstGeom prst="straightConnector1">
              <a:avLst/>
            </a:prstGeom>
            <a:noFill/>
            <a:ln cap="flat" cmpd="sng" w="9525">
              <a:solidFill>
                <a:schemeClr val="dk2"/>
              </a:solidFill>
              <a:prstDash val="solid"/>
              <a:round/>
              <a:headEnd len="med" w="med" type="none"/>
              <a:tailEnd len="med" w="med" type="none"/>
            </a:ln>
          </p:spPr>
        </p:cxnSp>
        <p:sp>
          <p:nvSpPr>
            <p:cNvPr id="117" name="Google Shape;117;p17"/>
            <p:cNvSpPr/>
            <p:nvPr/>
          </p:nvSpPr>
          <p:spPr>
            <a:xfrm>
              <a:off x="4762100" y="227535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‘edad’</a:t>
              </a:r>
              <a:endParaRPr b="1">
                <a:latin typeface="Courier New"/>
                <a:ea typeface="Courier New"/>
                <a:cs typeface="Courier New"/>
                <a:sym typeface="Courier New"/>
              </a:endParaRPr>
            </a:p>
          </p:txBody>
        </p:sp>
        <p:cxnSp>
          <p:nvCxnSpPr>
            <p:cNvPr id="118" name="Google Shape;118;p17"/>
            <p:cNvCxnSpPr>
              <a:stCxn id="117" idx="0"/>
              <a:endCxn id="115" idx="2"/>
            </p:cNvCxnSpPr>
            <p:nvPr/>
          </p:nvCxnSpPr>
          <p:spPr>
            <a:xfrm rot="10800000">
              <a:off x="5484500" y="1985250"/>
              <a:ext cx="0" cy="290100"/>
            </a:xfrm>
            <a:prstGeom prst="straightConnector1">
              <a:avLst/>
            </a:prstGeom>
            <a:noFill/>
            <a:ln cap="flat" cmpd="sng" w="9525">
              <a:solidFill>
                <a:schemeClr val="dk2"/>
              </a:solidFill>
              <a:prstDash val="solid"/>
              <a:round/>
              <a:headEnd len="med" w="med" type="none"/>
              <a:tailEnd len="med" w="med" type="none"/>
            </a:ln>
          </p:spPr>
        </p:cxnSp>
        <p:sp>
          <p:nvSpPr>
            <p:cNvPr id="119" name="Google Shape;119;p17"/>
            <p:cNvSpPr/>
            <p:nvPr/>
          </p:nvSpPr>
          <p:spPr>
            <a:xfrm>
              <a:off x="6832975" y="17177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RESTA</a:t>
              </a:r>
              <a:endParaRPr b="1">
                <a:latin typeface="Courier New"/>
                <a:ea typeface="Courier New"/>
                <a:cs typeface="Courier New"/>
                <a:sym typeface="Courier New"/>
              </a:endParaRPr>
            </a:p>
          </p:txBody>
        </p:sp>
        <p:cxnSp>
          <p:nvCxnSpPr>
            <p:cNvPr id="120" name="Google Shape;120;p17"/>
            <p:cNvCxnSpPr>
              <a:stCxn id="119" idx="0"/>
              <a:endCxn id="114" idx="2"/>
            </p:cNvCxnSpPr>
            <p:nvPr/>
          </p:nvCxnSpPr>
          <p:spPr>
            <a:xfrm rot="10800000">
              <a:off x="6530875" y="1320800"/>
              <a:ext cx="1024500" cy="396900"/>
            </a:xfrm>
            <a:prstGeom prst="straightConnector1">
              <a:avLst/>
            </a:prstGeom>
            <a:noFill/>
            <a:ln cap="flat" cmpd="sng" w="9525">
              <a:solidFill>
                <a:schemeClr val="dk2"/>
              </a:solidFill>
              <a:prstDash val="solid"/>
              <a:round/>
              <a:headEnd len="med" w="med" type="none"/>
              <a:tailEnd len="med" w="med" type="none"/>
            </a:ln>
          </p:spPr>
        </p:cxnSp>
        <p:sp>
          <p:nvSpPr>
            <p:cNvPr id="121" name="Google Shape;121;p17"/>
            <p:cNvSpPr/>
            <p:nvPr/>
          </p:nvSpPr>
          <p:spPr>
            <a:xfrm>
              <a:off x="6420950" y="243795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NUMERO</a:t>
              </a:r>
              <a:endParaRPr b="1">
                <a:latin typeface="Courier New"/>
                <a:ea typeface="Courier New"/>
                <a:cs typeface="Courier New"/>
                <a:sym typeface="Courier New"/>
              </a:endParaRPr>
            </a:p>
          </p:txBody>
        </p:sp>
        <p:cxnSp>
          <p:nvCxnSpPr>
            <p:cNvPr id="122" name="Google Shape;122;p17"/>
            <p:cNvCxnSpPr>
              <a:stCxn id="121" idx="0"/>
              <a:endCxn id="119" idx="2"/>
            </p:cNvCxnSpPr>
            <p:nvPr/>
          </p:nvCxnSpPr>
          <p:spPr>
            <a:xfrm flipH="1" rot="10800000">
              <a:off x="6953300" y="1985250"/>
              <a:ext cx="602100" cy="452700"/>
            </a:xfrm>
            <a:prstGeom prst="straightConnector1">
              <a:avLst/>
            </a:prstGeom>
            <a:noFill/>
            <a:ln cap="flat" cmpd="sng" w="9525">
              <a:solidFill>
                <a:schemeClr val="dk2"/>
              </a:solidFill>
              <a:prstDash val="solid"/>
              <a:round/>
              <a:headEnd len="med" w="med" type="none"/>
              <a:tailEnd len="med" w="med" type="none"/>
            </a:ln>
          </p:spPr>
        </p:cxnSp>
        <p:sp>
          <p:nvSpPr>
            <p:cNvPr id="123" name="Google Shape;123;p17"/>
            <p:cNvSpPr/>
            <p:nvPr/>
          </p:nvSpPr>
          <p:spPr>
            <a:xfrm>
              <a:off x="7699700" y="2437950"/>
              <a:ext cx="10464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NUMERO</a:t>
              </a:r>
              <a:endParaRPr b="1">
                <a:latin typeface="Courier New"/>
                <a:ea typeface="Courier New"/>
                <a:cs typeface="Courier New"/>
                <a:sym typeface="Courier New"/>
              </a:endParaRPr>
            </a:p>
          </p:txBody>
        </p:sp>
        <p:cxnSp>
          <p:nvCxnSpPr>
            <p:cNvPr id="124" name="Google Shape;124;p17"/>
            <p:cNvCxnSpPr>
              <a:stCxn id="123" idx="0"/>
              <a:endCxn id="119" idx="2"/>
            </p:cNvCxnSpPr>
            <p:nvPr/>
          </p:nvCxnSpPr>
          <p:spPr>
            <a:xfrm rot="10800000">
              <a:off x="7555400" y="1985250"/>
              <a:ext cx="667500" cy="452700"/>
            </a:xfrm>
            <a:prstGeom prst="straightConnector1">
              <a:avLst/>
            </a:prstGeom>
            <a:noFill/>
            <a:ln cap="flat" cmpd="sng" w="9525">
              <a:solidFill>
                <a:schemeClr val="dk2"/>
              </a:solidFill>
              <a:prstDash val="solid"/>
              <a:round/>
              <a:headEnd len="med" w="med" type="none"/>
              <a:tailEnd len="med" w="med" type="none"/>
            </a:ln>
          </p:spPr>
        </p:cxnSp>
        <p:sp>
          <p:nvSpPr>
            <p:cNvPr id="125" name="Google Shape;125;p17"/>
            <p:cNvSpPr/>
            <p:nvPr/>
          </p:nvSpPr>
          <p:spPr>
            <a:xfrm>
              <a:off x="6420950" y="299960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1964</a:t>
              </a:r>
              <a:endParaRPr b="1">
                <a:latin typeface="Courier New"/>
                <a:ea typeface="Courier New"/>
                <a:cs typeface="Courier New"/>
                <a:sym typeface="Courier New"/>
              </a:endParaRPr>
            </a:p>
          </p:txBody>
        </p:sp>
        <p:sp>
          <p:nvSpPr>
            <p:cNvPr id="126" name="Google Shape;126;p17"/>
            <p:cNvSpPr/>
            <p:nvPr/>
          </p:nvSpPr>
          <p:spPr>
            <a:xfrm>
              <a:off x="7690550" y="299960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2024</a:t>
              </a:r>
              <a:endParaRPr b="1">
                <a:latin typeface="Courier New"/>
                <a:ea typeface="Courier New"/>
                <a:cs typeface="Courier New"/>
                <a:sym typeface="Courier New"/>
              </a:endParaRPr>
            </a:p>
          </p:txBody>
        </p:sp>
        <p:cxnSp>
          <p:nvCxnSpPr>
            <p:cNvPr id="127" name="Google Shape;127;p17"/>
            <p:cNvCxnSpPr>
              <a:stCxn id="125" idx="0"/>
              <a:endCxn id="121" idx="2"/>
            </p:cNvCxnSpPr>
            <p:nvPr/>
          </p:nvCxnSpPr>
          <p:spPr>
            <a:xfrm rot="10800000">
              <a:off x="6953300" y="2705600"/>
              <a:ext cx="0" cy="294000"/>
            </a:xfrm>
            <a:prstGeom prst="straightConnector1">
              <a:avLst/>
            </a:prstGeom>
            <a:noFill/>
            <a:ln cap="flat" cmpd="sng" w="9525">
              <a:solidFill>
                <a:schemeClr val="dk2"/>
              </a:solidFill>
              <a:prstDash val="solid"/>
              <a:round/>
              <a:headEnd len="med" w="med" type="none"/>
              <a:tailEnd len="med" w="med" type="none"/>
            </a:ln>
          </p:spPr>
        </p:cxnSp>
        <p:cxnSp>
          <p:nvCxnSpPr>
            <p:cNvPr id="128" name="Google Shape;128;p17"/>
            <p:cNvCxnSpPr>
              <a:stCxn id="126" idx="0"/>
              <a:endCxn id="123" idx="2"/>
            </p:cNvCxnSpPr>
            <p:nvPr/>
          </p:nvCxnSpPr>
          <p:spPr>
            <a:xfrm rot="10800000">
              <a:off x="8222900" y="2705600"/>
              <a:ext cx="0" cy="2940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Continuamos con la </a:t>
            </a:r>
            <a:r>
              <a:rPr lang="es"/>
              <a:t>transformación</a:t>
            </a:r>
            <a:r>
              <a:rPr lang="es"/>
              <a:t>…</a:t>
            </a:r>
            <a:endParaRPr/>
          </a:p>
        </p:txBody>
      </p:sp>
      <p:sp>
        <p:nvSpPr>
          <p:cNvPr id="134" name="Google Shape;134;p18"/>
          <p:cNvSpPr txBox="1"/>
          <p:nvPr>
            <p:ph idx="1" type="body"/>
          </p:nvPr>
        </p:nvSpPr>
        <p:spPr>
          <a:xfrm>
            <a:off x="162675" y="1237075"/>
            <a:ext cx="43410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
              <a:t>Paso 2. Fase 3. Análisis Semántico y la Tabla de Símbolos:</a:t>
            </a:r>
            <a:r>
              <a:rPr lang="es"/>
              <a:t> el intérprete verifica el significado del código. Crea una </a:t>
            </a:r>
            <a:r>
              <a:rPr b="1" lang="es"/>
              <a:t>tabla de símbolos</a:t>
            </a:r>
            <a:r>
              <a:rPr lang="es"/>
              <a:t>, que es una estructura de datos interna que asocia el nombre de la variable (edad) con su tipo y una ubicación lógica en la memoria.</a:t>
            </a:r>
            <a:endParaRPr/>
          </a:p>
        </p:txBody>
      </p:sp>
      <p:sp>
        <p:nvSpPr>
          <p:cNvPr id="135" name="Google Shape;135;p18"/>
          <p:cNvSpPr txBox="1"/>
          <p:nvPr>
            <p:ph idx="2" type="body"/>
          </p:nvPr>
        </p:nvSpPr>
        <p:spPr>
          <a:xfrm>
            <a:off x="4643600" y="1237075"/>
            <a:ext cx="43410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Paso </a:t>
            </a:r>
            <a:r>
              <a:rPr b="1" lang="es"/>
              <a:t>3. Generación de Código Intermedio y de Máquina</a:t>
            </a:r>
            <a:endParaRPr b="1"/>
          </a:p>
          <a:p>
            <a:pPr indent="0" lvl="0" marL="0" rtl="0" algn="l">
              <a:spcBef>
                <a:spcPts val="1200"/>
              </a:spcBef>
              <a:spcAft>
                <a:spcPts val="0"/>
              </a:spcAft>
              <a:buNone/>
            </a:pPr>
            <a:r>
              <a:rPr b="1" lang="es"/>
              <a:t>Paso 3. Fase 1. Generación de Bytecode:</a:t>
            </a:r>
            <a:r>
              <a:rPr lang="es"/>
              <a:t> El intérprete genera bytecode, que son instrucciones de bajo nivel, pero genéricas y no específicas de la máquina.</a:t>
            </a:r>
            <a:endParaRPr/>
          </a:p>
          <a:p>
            <a:pPr indent="0" lvl="0" marL="0" marR="0" rtl="0" algn="l">
              <a:lnSpc>
                <a:spcPct val="100000"/>
              </a:lnSpc>
              <a:spcBef>
                <a:spcPts val="1200"/>
              </a:spcBef>
              <a:spcAft>
                <a:spcPts val="0"/>
              </a:spcAft>
              <a:buNone/>
            </a:pPr>
            <a:r>
              <a:rPr b="1" lang="es" sz="1500">
                <a:solidFill>
                  <a:srgbClr val="0000FF"/>
                </a:solidFill>
                <a:latin typeface="Courier New"/>
                <a:ea typeface="Courier New"/>
                <a:cs typeface="Courier New"/>
                <a:sym typeface="Courier New"/>
              </a:rPr>
              <a:t>LOAD_CONST 1964</a:t>
            </a:r>
            <a:endParaRPr b="1" sz="1500">
              <a:solidFill>
                <a:srgbClr val="0000FF"/>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LOAD_CONST 2024</a:t>
            </a:r>
            <a:endParaRPr b="1" sz="1500">
              <a:solidFill>
                <a:srgbClr val="0000FF"/>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BINARY_SUBTRACT</a:t>
            </a:r>
            <a:endParaRPr b="1" sz="1500">
              <a:solidFill>
                <a:srgbClr val="0000FF"/>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STORE_FAST 0x10A0</a:t>
            </a:r>
            <a:endParaRPr/>
          </a:p>
        </p:txBody>
      </p:sp>
      <p:graphicFrame>
        <p:nvGraphicFramePr>
          <p:cNvPr id="136" name="Google Shape;136;p18"/>
          <p:cNvGraphicFramePr/>
          <p:nvPr/>
        </p:nvGraphicFramePr>
        <p:xfrm>
          <a:off x="404613" y="2618875"/>
          <a:ext cx="3000000" cy="3000000"/>
        </p:xfrm>
        <a:graphic>
          <a:graphicData uri="http://schemas.openxmlformats.org/drawingml/2006/table">
            <a:tbl>
              <a:tblPr>
                <a:noFill/>
                <a:tableStyleId>{EBFEFA6B-B14A-4E10-809A-CED3F9E72636}</a:tableStyleId>
              </a:tblPr>
              <a:tblGrid>
                <a:gridCol w="959675"/>
                <a:gridCol w="969550"/>
                <a:gridCol w="1927900"/>
              </a:tblGrid>
              <a:tr h="381000">
                <a:tc>
                  <a:txBody>
                    <a:bodyPr/>
                    <a:lstStyle/>
                    <a:p>
                      <a:pPr indent="0" lvl="0" marL="0" rtl="0" algn="l">
                        <a:spcBef>
                          <a:spcPts val="0"/>
                        </a:spcBef>
                        <a:spcAft>
                          <a:spcPts val="0"/>
                        </a:spcAft>
                        <a:buNone/>
                      </a:pPr>
                      <a:r>
                        <a:rPr lang="es"/>
                        <a:t>Nombre</a:t>
                      </a:r>
                      <a:endParaRPr/>
                    </a:p>
                  </a:txBody>
                  <a:tcPr marT="91425" marB="91425" marR="91425" marL="91425"/>
                </a:tc>
                <a:tc>
                  <a:txBody>
                    <a:bodyPr/>
                    <a:lstStyle/>
                    <a:p>
                      <a:pPr indent="0" lvl="0" marL="0" rtl="0" algn="l">
                        <a:spcBef>
                          <a:spcPts val="0"/>
                        </a:spcBef>
                        <a:spcAft>
                          <a:spcPts val="0"/>
                        </a:spcAft>
                        <a:buNone/>
                      </a:pPr>
                      <a:r>
                        <a:rPr lang="es"/>
                        <a:t>Tipo</a:t>
                      </a:r>
                      <a:endParaRPr/>
                    </a:p>
                  </a:txBody>
                  <a:tcPr marT="91425" marB="91425" marR="91425" marL="91425"/>
                </a:tc>
                <a:tc>
                  <a:txBody>
                    <a:bodyPr/>
                    <a:lstStyle/>
                    <a:p>
                      <a:pPr indent="0" lvl="0" marL="0" rtl="0" algn="l">
                        <a:spcBef>
                          <a:spcPts val="0"/>
                        </a:spcBef>
                        <a:spcAft>
                          <a:spcPts val="0"/>
                        </a:spcAft>
                        <a:buNone/>
                      </a:pPr>
                      <a:r>
                        <a:rPr lang="es"/>
                        <a:t>Ubicación</a:t>
                      </a:r>
                      <a:r>
                        <a:rPr lang="es"/>
                        <a:t> </a:t>
                      </a:r>
                      <a:r>
                        <a:rPr lang="es"/>
                        <a:t>Lógica</a:t>
                      </a:r>
                      <a:endParaRPr/>
                    </a:p>
                  </a:txBody>
                  <a:tcPr marT="91425" marB="91425" marR="91425" marL="91425"/>
                </a:tc>
              </a:tr>
              <a:tr h="381000">
                <a:tc>
                  <a:txBody>
                    <a:bodyPr/>
                    <a:lstStyle/>
                    <a:p>
                      <a:pPr indent="0" lvl="0" marL="0" rtl="0" algn="l">
                        <a:lnSpc>
                          <a:spcPct val="115000"/>
                        </a:lnSpc>
                        <a:spcBef>
                          <a:spcPts val="0"/>
                        </a:spcBef>
                        <a:spcAft>
                          <a:spcPts val="1200"/>
                        </a:spcAft>
                        <a:buNone/>
                      </a:pPr>
                      <a:r>
                        <a:rPr b="1" lang="es" sz="1300">
                          <a:solidFill>
                            <a:srgbClr val="0000FF"/>
                          </a:solidFill>
                          <a:latin typeface="Courier New"/>
                          <a:ea typeface="Courier New"/>
                          <a:cs typeface="Courier New"/>
                          <a:sym typeface="Courier New"/>
                        </a:rPr>
                        <a:t>edad </a:t>
                      </a:r>
                      <a:endParaRPr/>
                    </a:p>
                  </a:txBody>
                  <a:tcPr marT="91425" marB="91425" marR="91425" marL="91425"/>
                </a:tc>
                <a:tc>
                  <a:txBody>
                    <a:bodyPr/>
                    <a:lstStyle/>
                    <a:p>
                      <a:pPr indent="0" lvl="0" marL="0" rtl="0" algn="l">
                        <a:spcBef>
                          <a:spcPts val="0"/>
                        </a:spcBef>
                        <a:spcAft>
                          <a:spcPts val="0"/>
                        </a:spcAft>
                        <a:buNone/>
                      </a:pPr>
                      <a:r>
                        <a:rPr lang="es"/>
                        <a:t>Entero</a:t>
                      </a:r>
                      <a:endParaRPr/>
                    </a:p>
                  </a:txBody>
                  <a:tcPr marT="91425" marB="91425" marR="91425" marL="91425"/>
                </a:tc>
                <a:tc>
                  <a:txBody>
                    <a:bodyPr/>
                    <a:lstStyle/>
                    <a:p>
                      <a:pPr indent="0" lvl="0" marL="0" rtl="0" algn="l">
                        <a:spcBef>
                          <a:spcPts val="0"/>
                        </a:spcBef>
                        <a:spcAft>
                          <a:spcPts val="0"/>
                        </a:spcAft>
                        <a:buNone/>
                      </a:pPr>
                      <a:r>
                        <a:rPr lang="es"/>
                        <a:t>0x10A0</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Continuamos con la </a:t>
            </a:r>
            <a:r>
              <a:rPr lang="es"/>
              <a:t>transformación</a:t>
            </a:r>
            <a:r>
              <a:rPr lang="es"/>
              <a:t> a assembler</a:t>
            </a:r>
            <a:endParaRPr/>
          </a:p>
        </p:txBody>
      </p:sp>
      <p:sp>
        <p:nvSpPr>
          <p:cNvPr id="142" name="Google Shape;142;p19"/>
          <p:cNvSpPr txBox="1"/>
          <p:nvPr>
            <p:ph idx="1" type="body"/>
          </p:nvPr>
        </p:nvSpPr>
        <p:spPr>
          <a:xfrm>
            <a:off x="729450" y="1237075"/>
            <a:ext cx="7688700" cy="3711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s"/>
              <a:t>Paso 3. Fase 2. </a:t>
            </a:r>
            <a:r>
              <a:rPr b="1" lang="es"/>
              <a:t>Traducción a Ensamblador</a:t>
            </a:r>
            <a:r>
              <a:rPr lang="es"/>
              <a:t>: La </a:t>
            </a:r>
            <a:r>
              <a:rPr b="1" lang="es"/>
              <a:t>Python Virtual Machine (PVM)</a:t>
            </a:r>
            <a:r>
              <a:rPr lang="es"/>
              <a:t>, que está escrita en C y compilada para una arquitectura específica (como x86-64), lee el bytecode. Por cada instrucción de bytecode, el PVM genera las instrucciones de ensamblador.</a:t>
            </a:r>
            <a:endParaRPr/>
          </a:p>
          <a:p>
            <a:pPr indent="0" lvl="0" marL="0" marR="0" rtl="0" algn="l">
              <a:lnSpc>
                <a:spcPct val="115000"/>
              </a:lnSpc>
              <a:spcBef>
                <a:spcPts val="1200"/>
              </a:spcBef>
              <a:spcAft>
                <a:spcPts val="0"/>
              </a:spcAft>
              <a:buNone/>
            </a:pPr>
            <a:r>
              <a:rPr b="1" lang="es" sz="1200">
                <a:solidFill>
                  <a:srgbClr val="0000FF"/>
                </a:solidFill>
                <a:latin typeface="Courier New"/>
                <a:ea typeface="Courier New"/>
                <a:cs typeface="Courier New"/>
                <a:sym typeface="Courier New"/>
              </a:rPr>
              <a:t>mov rax, 1964       ; Mueve el valor 1964 al registro RAX</a:t>
            </a:r>
            <a:endParaRPr b="1" sz="1200">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b="1" lang="es" sz="1200">
                <a:solidFill>
                  <a:srgbClr val="0000FF"/>
                </a:solidFill>
                <a:latin typeface="Courier New"/>
                <a:ea typeface="Courier New"/>
                <a:cs typeface="Courier New"/>
                <a:sym typeface="Courier New"/>
              </a:rPr>
              <a:t>mov rbx, 2024       ; Mueve el valor 2024 al registro RBX</a:t>
            </a:r>
            <a:endParaRPr b="1" sz="1200">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b="1" lang="es" sz="1200">
                <a:solidFill>
                  <a:srgbClr val="0000FF"/>
                </a:solidFill>
                <a:latin typeface="Courier New"/>
                <a:ea typeface="Courier New"/>
                <a:cs typeface="Courier New"/>
                <a:sym typeface="Courier New"/>
              </a:rPr>
              <a:t>sub rax, rbx        ; Resta RBX de RAX (RAX = -60)</a:t>
            </a:r>
            <a:endParaRPr b="1" sz="1200">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b="1" lang="es" sz="1200">
                <a:solidFill>
                  <a:srgbClr val="0000FF"/>
                </a:solidFill>
                <a:latin typeface="Courier New"/>
                <a:ea typeface="Courier New"/>
                <a:cs typeface="Courier New"/>
                <a:sym typeface="Courier New"/>
              </a:rPr>
              <a:t>mov [rbp-4], rax</a:t>
            </a:r>
            <a:r>
              <a:rPr b="1" lang="es" sz="1200">
                <a:solidFill>
                  <a:srgbClr val="0000FF"/>
                </a:solidFill>
                <a:latin typeface="Courier New"/>
                <a:ea typeface="Courier New"/>
                <a:cs typeface="Courier New"/>
                <a:sym typeface="Courier New"/>
              </a:rPr>
              <a:t>    </a:t>
            </a:r>
            <a:r>
              <a:rPr b="1" lang="es" sz="1200">
                <a:solidFill>
                  <a:srgbClr val="0000FF"/>
                </a:solidFill>
                <a:latin typeface="Courier New"/>
                <a:ea typeface="Courier New"/>
                <a:cs typeface="Courier New"/>
                <a:sym typeface="Courier New"/>
              </a:rPr>
              <a:t>; Almacena el resultado en la dirección de memoria de 'edad'</a:t>
            </a:r>
            <a:endParaRPr b="1" sz="1200">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b="1" sz="1200">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b="1" lang="es" sz="1200">
                <a:solidFill>
                  <a:srgbClr val="0000FF"/>
                </a:solidFill>
                <a:latin typeface="Courier New"/>
                <a:ea typeface="Courier New"/>
                <a:cs typeface="Courier New"/>
                <a:sym typeface="Courier New"/>
              </a:rPr>
              <a:t>rbp: </a:t>
            </a:r>
            <a:r>
              <a:rPr lang="es"/>
              <a:t>Es un registro del procesador que significa Base Pointer (Puntero Base). Su función principal es apuntar al inicio de un área de memoria temporal llamada "marco de pila" (stack frame), que el programa usa para sus variables locales.</a:t>
            </a:r>
            <a:endParaRPr/>
          </a:p>
          <a:p>
            <a:pPr indent="0" lvl="0" marL="0" marR="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rPr b="1" lang="es" sz="1200">
                <a:solidFill>
                  <a:srgbClr val="0000FF"/>
                </a:solidFill>
                <a:latin typeface="Courier New"/>
                <a:ea typeface="Courier New"/>
                <a:cs typeface="Courier New"/>
                <a:sym typeface="Courier New"/>
              </a:rPr>
              <a:t>-4:</a:t>
            </a:r>
            <a:r>
              <a:rPr lang="es"/>
              <a:t> Es un desplazamiento (offset). Significa que la dirección de la variable está 4 bytes por debajo de la dirección a la que apunta rbp. 4 bytes * 8 bits/byte = 32 bits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830400" y="68500"/>
            <a:ext cx="7688700" cy="112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ahora el </a:t>
            </a:r>
            <a:r>
              <a:rPr lang="es"/>
              <a:t>ensamblador traduce estas instrucciones a código máquina binario</a:t>
            </a:r>
            <a:endParaRPr/>
          </a:p>
        </p:txBody>
      </p:sp>
      <p:sp>
        <p:nvSpPr>
          <p:cNvPr id="148" name="Google Shape;148;p20"/>
          <p:cNvSpPr txBox="1"/>
          <p:nvPr>
            <p:ph idx="1" type="body"/>
          </p:nvPr>
        </p:nvSpPr>
        <p:spPr>
          <a:xfrm>
            <a:off x="184075" y="1237075"/>
            <a:ext cx="4259400" cy="3658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s"/>
              <a:t>Paso 3. Fase 3.</a:t>
            </a:r>
            <a:r>
              <a:rPr lang="es"/>
              <a:t> Cada instrucción en ensamblador se convierte en un </a:t>
            </a:r>
            <a:r>
              <a:rPr b="1" i="1" lang="es"/>
              <a:t>código de operación (opcode)</a:t>
            </a:r>
            <a:r>
              <a:rPr lang="es"/>
              <a:t> que el procesador entiende.</a:t>
            </a:r>
            <a:endParaRPr/>
          </a:p>
          <a:p>
            <a:pPr indent="0" lvl="0" marL="0" rtl="0" algn="l">
              <a:spcBef>
                <a:spcPts val="1200"/>
              </a:spcBef>
              <a:spcAft>
                <a:spcPts val="0"/>
              </a:spcAft>
              <a:buNone/>
            </a:pPr>
            <a:r>
              <a:rPr lang="es"/>
              <a:t>Convertir el código ensamblador a códigos de operación (opcodes) es exactamente lo que hace un </a:t>
            </a:r>
            <a:r>
              <a:rPr b="1" lang="es"/>
              <a:t>programa ensamblador.</a:t>
            </a:r>
            <a:r>
              <a:rPr lang="es"/>
              <a:t> Cada línea de tu código en el lenguaje x86-64 se traduce en una secuencia de bytes que el procesador </a:t>
            </a:r>
            <a:r>
              <a:rPr b="1" lang="es"/>
              <a:t>AMD Athlon puede leer y ejecutar.</a:t>
            </a:r>
            <a:r>
              <a:rPr lang="es"/>
              <a: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sz="1500">
                <a:solidFill>
                  <a:srgbClr val="0000FF"/>
                </a:solidFill>
                <a:latin typeface="Courier New"/>
                <a:ea typeface="Courier New"/>
                <a:cs typeface="Courier New"/>
                <a:sym typeface="Courier New"/>
              </a:rPr>
              <a:t>mov rax, 1964</a:t>
            </a:r>
            <a:endParaRPr/>
          </a:p>
          <a:p>
            <a:pPr indent="0" lvl="0" marL="0" rtl="0" algn="l">
              <a:spcBef>
                <a:spcPts val="0"/>
              </a:spcBef>
              <a:spcAft>
                <a:spcPts val="0"/>
              </a:spcAft>
              <a:buNone/>
            </a:pPr>
            <a:r>
              <a:rPr lang="es"/>
              <a:t>La instrucción mov de un valor inmediato a un registro de 64 bits tiene un opcode base (48 B8). El valor 1964 se convierte a su representación hexadecimal.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a:t>Decimal</a:t>
            </a:r>
            <a:r>
              <a:rPr lang="es"/>
              <a:t>: 1964. Hexadecimal: 7 AC</a:t>
            </a:r>
            <a:endParaRPr/>
          </a:p>
          <a:p>
            <a:pPr indent="0" lvl="0" marL="0" rtl="0" algn="l">
              <a:spcBef>
                <a:spcPts val="0"/>
              </a:spcBef>
              <a:spcAft>
                <a:spcPts val="0"/>
              </a:spcAft>
              <a:buNone/>
            </a:pPr>
            <a:r>
              <a:rPr b="1" lang="es"/>
              <a:t>Código de Operación:</a:t>
            </a:r>
            <a:endParaRPr b="1"/>
          </a:p>
          <a:p>
            <a:pPr indent="0" lvl="0" marL="0" rtl="0" algn="l">
              <a:spcBef>
                <a:spcPts val="0"/>
              </a:spcBef>
              <a:spcAft>
                <a:spcPts val="0"/>
              </a:spcAft>
              <a:buNone/>
            </a:pPr>
            <a:r>
              <a:rPr b="1" lang="es"/>
              <a:t>byte</a:t>
            </a:r>
            <a:endParaRPr b="1"/>
          </a:p>
          <a:p>
            <a:pPr indent="0" lvl="0" marL="0" rtl="0" algn="l">
              <a:spcBef>
                <a:spcPts val="0"/>
              </a:spcBef>
              <a:spcAft>
                <a:spcPts val="0"/>
              </a:spcAft>
              <a:buNone/>
            </a:pPr>
            <a:r>
              <a:rPr b="1" lang="es"/>
              <a:t>01 02   08   07 06 05 04 07 02 01</a:t>
            </a:r>
            <a:endParaRPr b="1"/>
          </a:p>
          <a:p>
            <a:pPr indent="0" lvl="0" marL="0" rtl="0" algn="l">
              <a:spcBef>
                <a:spcPts val="0"/>
              </a:spcBef>
              <a:spcAft>
                <a:spcPts val="0"/>
              </a:spcAft>
              <a:buNone/>
            </a:pPr>
            <a:r>
              <a:rPr lang="es"/>
              <a:t>48 B8   AC  07 00 00 00 00 00 00 </a:t>
            </a:r>
            <a:endParaRPr/>
          </a:p>
        </p:txBody>
      </p:sp>
      <p:sp>
        <p:nvSpPr>
          <p:cNvPr id="149" name="Google Shape;149;p20"/>
          <p:cNvSpPr txBox="1"/>
          <p:nvPr>
            <p:ph idx="1" type="body"/>
          </p:nvPr>
        </p:nvSpPr>
        <p:spPr>
          <a:xfrm>
            <a:off x="4871875" y="1218250"/>
            <a:ext cx="4259400" cy="3658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1500">
                <a:solidFill>
                  <a:srgbClr val="0000FF"/>
                </a:solidFill>
                <a:latin typeface="Courier New"/>
                <a:ea typeface="Courier New"/>
                <a:cs typeface="Courier New"/>
                <a:sym typeface="Courier New"/>
              </a:rPr>
              <a:t>mov rbx, 2024</a:t>
            </a:r>
            <a:endParaRPr b="1" sz="1500">
              <a:solidFill>
                <a:srgbClr val="0000FF"/>
              </a:solidFill>
              <a:latin typeface="Courier New"/>
              <a:ea typeface="Courier New"/>
              <a:cs typeface="Courier New"/>
              <a:sym typeface="Courier New"/>
            </a:endParaRPr>
          </a:p>
          <a:p>
            <a:pPr indent="0" lvl="0" marL="0" rtl="0" algn="l">
              <a:spcBef>
                <a:spcPts val="0"/>
              </a:spcBef>
              <a:spcAft>
                <a:spcPts val="0"/>
              </a:spcAft>
              <a:buNone/>
            </a:pPr>
            <a:r>
              <a:rPr lang="es"/>
              <a:t>Decimal: 2024 Hexadecimal: 7 E8</a:t>
            </a:r>
            <a:endParaRPr/>
          </a:p>
          <a:p>
            <a:pPr indent="0" lvl="0" marL="0" rtl="0" algn="l">
              <a:spcBef>
                <a:spcPts val="0"/>
              </a:spcBef>
              <a:spcAft>
                <a:spcPts val="0"/>
              </a:spcAft>
              <a:buNone/>
            </a:pPr>
            <a:r>
              <a:rPr b="1" lang="es"/>
              <a:t>Código de Operación en bytes</a:t>
            </a:r>
            <a:endParaRPr b="1"/>
          </a:p>
          <a:p>
            <a:pPr indent="0" lvl="0" marL="0" rtl="0" algn="l">
              <a:spcBef>
                <a:spcPts val="0"/>
              </a:spcBef>
              <a:spcAft>
                <a:spcPts val="0"/>
              </a:spcAft>
              <a:buNone/>
            </a:pPr>
            <a:r>
              <a:rPr b="1" lang="es"/>
              <a:t>01 02   08   07 06 05 04 07 02 01</a:t>
            </a:r>
            <a:endParaRPr b="1"/>
          </a:p>
          <a:p>
            <a:pPr indent="0" lvl="0" marL="0" rtl="0" algn="l">
              <a:spcBef>
                <a:spcPts val="0"/>
              </a:spcBef>
              <a:spcAft>
                <a:spcPts val="0"/>
              </a:spcAft>
              <a:buNone/>
            </a:pPr>
            <a:r>
              <a:rPr lang="es"/>
              <a:t>48 BB   E8  07 00 00 00 00 00 00</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 sz="1500">
                <a:solidFill>
                  <a:srgbClr val="0000FF"/>
                </a:solidFill>
                <a:latin typeface="Courier New"/>
                <a:ea typeface="Courier New"/>
                <a:cs typeface="Courier New"/>
                <a:sym typeface="Courier New"/>
              </a:rPr>
              <a:t>sub rax, rbx</a:t>
            </a:r>
            <a:endParaRPr/>
          </a:p>
          <a:p>
            <a:pPr indent="0" lvl="0" marL="0" rtl="0" algn="l">
              <a:spcBef>
                <a:spcPts val="0"/>
              </a:spcBef>
              <a:spcAft>
                <a:spcPts val="0"/>
              </a:spcAft>
              <a:buNone/>
            </a:pPr>
            <a:r>
              <a:rPr lang="es"/>
              <a:t>La operación de resta entre dos registros también tiene un opcode específico. La combinación de bytes (48 29 D8) le dice al procesador que debe realizar una operación de resta de 64 bits (48 29), donde el primer operando es el registro rax y el segundo es rbx (D8) </a:t>
            </a:r>
            <a:r>
              <a:rPr b="1" i="1" lang="es"/>
              <a:t>CODIFICADO</a:t>
            </a:r>
            <a:r>
              <a:rPr lang="e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Código de Operación:</a:t>
            </a:r>
            <a:endParaRPr/>
          </a:p>
          <a:p>
            <a:pPr indent="0" lvl="0" marL="0" rtl="0" algn="l">
              <a:spcBef>
                <a:spcPts val="0"/>
              </a:spcBef>
              <a:spcAft>
                <a:spcPts val="0"/>
              </a:spcAft>
              <a:buNone/>
            </a:pPr>
            <a:r>
              <a:rPr lang="es"/>
              <a:t>48 29 D8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Nos falta convertir </a:t>
            </a:r>
            <a:endParaRPr/>
          </a:p>
        </p:txBody>
      </p:sp>
      <p:sp>
        <p:nvSpPr>
          <p:cNvPr id="155" name="Google Shape;155;p21"/>
          <p:cNvSpPr txBox="1"/>
          <p:nvPr>
            <p:ph idx="1" type="body"/>
          </p:nvPr>
        </p:nvSpPr>
        <p:spPr>
          <a:xfrm>
            <a:off x="280400" y="1237075"/>
            <a:ext cx="4098900" cy="3102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sz="1500">
                <a:solidFill>
                  <a:srgbClr val="0000FF"/>
                </a:solidFill>
                <a:latin typeface="Courier New"/>
                <a:ea typeface="Courier New"/>
                <a:cs typeface="Courier New"/>
                <a:sym typeface="Courier New"/>
              </a:rPr>
              <a:t>mov [rbp-4], rax</a:t>
            </a:r>
            <a:endParaRPr b="1">
              <a:solidFill>
                <a:srgbClr val="000000"/>
              </a:solidFill>
              <a:latin typeface="Arial"/>
              <a:ea typeface="Arial"/>
              <a:cs typeface="Arial"/>
              <a:sym typeface="Arial"/>
            </a:endParaRPr>
          </a:p>
          <a:p>
            <a:pPr indent="0" lvl="0" marL="0" rtl="0" algn="l">
              <a:spcBef>
                <a:spcPts val="1200"/>
              </a:spcBef>
              <a:spcAft>
                <a:spcPts val="0"/>
              </a:spcAft>
              <a:buNone/>
            </a:pPr>
            <a:r>
              <a:rPr lang="es"/>
              <a:t>Esta instrucción mueve un valor del registro rax a una dirección de memoria. El opcode (48 89 45 FC) se desglosa para indicar la operación, el registro fuente (rax), el registro base (rbp) y el desplazamiento de 4 bytes (-4).</a:t>
            </a:r>
            <a:endParaRPr/>
          </a:p>
          <a:p>
            <a:pPr indent="-298450" lvl="0" marL="457200" rtl="0" algn="l">
              <a:spcBef>
                <a:spcPts val="1200"/>
              </a:spcBef>
              <a:spcAft>
                <a:spcPts val="0"/>
              </a:spcAft>
              <a:buClr>
                <a:srgbClr val="000000"/>
              </a:buClr>
              <a:buSzPts val="1100"/>
              <a:buFont typeface="Arial"/>
              <a:buChar char="●"/>
            </a:pPr>
            <a:r>
              <a:rPr b="1" lang="es"/>
              <a:t>Desplazamiento</a:t>
            </a:r>
            <a:r>
              <a:rPr lang="es"/>
              <a:t>: -4 (en hexadecimal es FC)</a:t>
            </a:r>
            <a:endParaRPr/>
          </a:p>
          <a:p>
            <a:pPr indent="-298450" lvl="0" marL="457200" rtl="0" algn="l">
              <a:spcBef>
                <a:spcPts val="0"/>
              </a:spcBef>
              <a:spcAft>
                <a:spcPts val="0"/>
              </a:spcAft>
              <a:buClr>
                <a:srgbClr val="000000"/>
              </a:buClr>
              <a:buSzPts val="1100"/>
              <a:buFont typeface="Arial"/>
              <a:buChar char="●"/>
            </a:pPr>
            <a:r>
              <a:rPr b="1" lang="es"/>
              <a:t>Código de Operación</a:t>
            </a:r>
            <a:r>
              <a:rPr lang="es"/>
              <a:t>: 48 89 45 FC</a:t>
            </a:r>
            <a:endParaRPr sz="1100">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
        <p:nvSpPr>
          <p:cNvPr id="156" name="Google Shape;156;p21"/>
          <p:cNvSpPr txBox="1"/>
          <p:nvPr>
            <p:ph idx="1" type="body"/>
          </p:nvPr>
        </p:nvSpPr>
        <p:spPr>
          <a:xfrm>
            <a:off x="4796750" y="1237075"/>
            <a:ext cx="3512400" cy="3102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sz="1100">
                <a:solidFill>
                  <a:srgbClr val="000000"/>
                </a:solidFill>
                <a:latin typeface="Arial"/>
                <a:ea typeface="Arial"/>
                <a:cs typeface="Arial"/>
                <a:sym typeface="Arial"/>
              </a:rPr>
              <a:t>El code op resultante es:</a:t>
            </a:r>
            <a:endParaRPr b="1" sz="1200">
              <a:solidFill>
                <a:srgbClr val="0000FF"/>
              </a:solidFill>
              <a:latin typeface="Courier New"/>
              <a:ea typeface="Courier New"/>
              <a:cs typeface="Courier New"/>
              <a:sym typeface="Courier New"/>
            </a:endParaRPr>
          </a:p>
          <a:p>
            <a:pPr indent="0" lvl="0" marL="0" rtl="0" algn="l">
              <a:spcBef>
                <a:spcPts val="1200"/>
              </a:spcBef>
              <a:spcAft>
                <a:spcPts val="0"/>
              </a:spcAft>
              <a:buNone/>
            </a:pPr>
            <a:r>
              <a:rPr b="1" lang="es" sz="1200">
                <a:solidFill>
                  <a:srgbClr val="0000FF"/>
                </a:solidFill>
                <a:latin typeface="Courier New"/>
                <a:ea typeface="Courier New"/>
                <a:cs typeface="Courier New"/>
                <a:sym typeface="Courier New"/>
              </a:rPr>
              <a:t>48 B8   AC  07 00 00 00 00 00 00 </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00FF"/>
                </a:solidFill>
                <a:latin typeface="Courier New"/>
                <a:ea typeface="Courier New"/>
                <a:cs typeface="Courier New"/>
                <a:sym typeface="Courier New"/>
              </a:rPr>
              <a:t>48 BB   E8  07 00 00 00 00 00 00</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00FF"/>
                </a:solidFill>
                <a:latin typeface="Courier New"/>
                <a:ea typeface="Courier New"/>
                <a:cs typeface="Courier New"/>
                <a:sym typeface="Courier New"/>
              </a:rPr>
              <a:t>48 29   D8</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00FF"/>
                </a:solidFill>
                <a:latin typeface="Courier New"/>
                <a:ea typeface="Courier New"/>
                <a:cs typeface="Courier New"/>
                <a:sym typeface="Courier New"/>
              </a:rPr>
              <a:t>48 89   45 FC</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recordemos el Assembler</a:t>
            </a:r>
            <a:endParaRPr/>
          </a:p>
          <a:p>
            <a:pPr indent="0" lvl="0" marL="0" rtl="0" algn="l">
              <a:spcBef>
                <a:spcPts val="0"/>
              </a:spcBef>
              <a:spcAft>
                <a:spcPts val="0"/>
              </a:spcAft>
              <a:buNone/>
            </a:pPr>
            <a:r>
              <a:rPr b="1" lang="es" sz="1200">
                <a:solidFill>
                  <a:srgbClr val="0000FF"/>
                </a:solidFill>
                <a:latin typeface="Courier New"/>
                <a:ea typeface="Courier New"/>
                <a:cs typeface="Courier New"/>
                <a:sym typeface="Courier New"/>
              </a:rPr>
              <a:t>mov rax, 1964   </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00FF"/>
                </a:solidFill>
                <a:latin typeface="Courier New"/>
                <a:ea typeface="Courier New"/>
                <a:cs typeface="Courier New"/>
                <a:sym typeface="Courier New"/>
              </a:rPr>
              <a:t>mov rbx, 2024      </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00FF"/>
                </a:solidFill>
                <a:latin typeface="Courier New"/>
                <a:ea typeface="Courier New"/>
                <a:cs typeface="Courier New"/>
                <a:sym typeface="Courier New"/>
              </a:rPr>
              <a:t>sub rax, rbx       </a:t>
            </a:r>
            <a:endParaRPr b="1" sz="1200">
              <a:solidFill>
                <a:srgbClr val="0000FF"/>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00FF"/>
                </a:solidFill>
                <a:latin typeface="Courier New"/>
                <a:ea typeface="Courier New"/>
                <a:cs typeface="Courier New"/>
                <a:sym typeface="Courier New"/>
              </a:rPr>
              <a:t>mov [rbp-4], rax</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787600" y="281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Y “finalmente”, Paso 4. La Ejecución en el Hardware (Señales Eléctricas)</a:t>
            </a:r>
            <a:endParaRPr/>
          </a:p>
        </p:txBody>
      </p:sp>
      <p:sp>
        <p:nvSpPr>
          <p:cNvPr id="162" name="Google Shape;162;p22"/>
          <p:cNvSpPr txBox="1"/>
          <p:nvPr>
            <p:ph idx="1" type="body"/>
          </p:nvPr>
        </p:nvSpPr>
        <p:spPr>
          <a:xfrm>
            <a:off x="226175" y="1237075"/>
            <a:ext cx="6048300" cy="3690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
              <a:t>El código binario es una serie de instrucciones para el hardware.</a:t>
            </a:r>
            <a:endParaRPr b="1"/>
          </a:p>
          <a:p>
            <a:pPr indent="-311150" lvl="0" marL="457200" rtl="0" algn="l">
              <a:spcBef>
                <a:spcPts val="1200"/>
              </a:spcBef>
              <a:spcAft>
                <a:spcPts val="0"/>
              </a:spcAft>
              <a:buSzPts val="1300"/>
              <a:buChar char="●"/>
            </a:pPr>
            <a:r>
              <a:rPr b="1" lang="es"/>
              <a:t>Obtención y Decodificación:</a:t>
            </a:r>
            <a:r>
              <a:rPr lang="es"/>
              <a:t> El procesador lee el patrón binario de la memoria RAM. Su unidad de control decodifica la instrucción binaria, identificando que es una operación de resta (sub).</a:t>
            </a:r>
            <a:endParaRPr/>
          </a:p>
          <a:p>
            <a:pPr indent="-311150" lvl="0" marL="457200" rtl="0" algn="l">
              <a:spcBef>
                <a:spcPts val="0"/>
              </a:spcBef>
              <a:spcAft>
                <a:spcPts val="0"/>
              </a:spcAft>
              <a:buSzPts val="1300"/>
              <a:buChar char="●"/>
            </a:pPr>
            <a:r>
              <a:rPr b="1" lang="es"/>
              <a:t>Ejecución en la ALU: </a:t>
            </a:r>
            <a:r>
              <a:rPr lang="es"/>
              <a:t>La unidad de control envía señales eléctricas a la Unidad Lógico-Aritmética (ALU). La ALU es un circuito que contiene millones de transistores. Se activan y desactivan para representar los números binarios de los registros RAX y RBX.</a:t>
            </a:r>
            <a:endParaRPr/>
          </a:p>
          <a:p>
            <a:pPr indent="-311150" lvl="0" marL="457200" rtl="0" algn="l">
              <a:spcBef>
                <a:spcPts val="0"/>
              </a:spcBef>
              <a:spcAft>
                <a:spcPts val="0"/>
              </a:spcAft>
              <a:buSzPts val="1300"/>
              <a:buChar char="●"/>
            </a:pPr>
            <a:r>
              <a:rPr b="1" lang="es"/>
              <a:t>La Transformación Física:</a:t>
            </a:r>
            <a:r>
              <a:rPr lang="es"/>
              <a:t> La resta se realiza a nivel físico </a:t>
            </a:r>
            <a:r>
              <a:rPr b="1" lang="es"/>
              <a:t>en BINARIO.</a:t>
            </a:r>
            <a:r>
              <a:rPr lang="es"/>
              <a:t> Las señales eléctricas se manipulan a través de compuertas lógicas (que son circuitos de transistores) para realizar la operación de resta binaria.</a:t>
            </a:r>
            <a:endParaRPr/>
          </a:p>
          <a:p>
            <a:pPr indent="-311150" lvl="0" marL="457200" rtl="0" algn="l">
              <a:spcBef>
                <a:spcPts val="0"/>
              </a:spcBef>
              <a:spcAft>
                <a:spcPts val="0"/>
              </a:spcAft>
              <a:buSzPts val="1300"/>
              <a:buChar char="●"/>
            </a:pPr>
            <a:r>
              <a:rPr b="1" lang="es"/>
              <a:t>Almacenamiento del Resultado: </a:t>
            </a:r>
            <a:r>
              <a:rPr lang="es"/>
              <a:t>El resultado de la operación (-60) se convierte en otro patrón de impulsos eléctricos y se almacena en el registro RAX. Después, otra serie de pulsos eléctricos lo mueve a la dirección de memoria asignada a edad.</a:t>
            </a:r>
            <a:endParaRPr/>
          </a:p>
          <a:p>
            <a:pPr indent="0" lvl="0" marL="0" rtl="0" algn="l">
              <a:spcBef>
                <a:spcPts val="1200"/>
              </a:spcBef>
              <a:spcAft>
                <a:spcPts val="1200"/>
              </a:spcAft>
              <a:buNone/>
            </a:pPr>
            <a:r>
              <a:rPr lang="es"/>
              <a:t>El resultado final es una serie de cambios físicos en los transistores y las celdas de memoria, que representan el </a:t>
            </a:r>
            <a:r>
              <a:rPr b="1" lang="es"/>
              <a:t>valor -60</a:t>
            </a:r>
            <a:r>
              <a:rPr lang="es"/>
              <a:t>.</a:t>
            </a:r>
            <a:endParaRPr/>
          </a:p>
        </p:txBody>
      </p:sp>
      <p:pic>
        <p:nvPicPr>
          <p:cNvPr id="163" name="Google Shape;163;p22"/>
          <p:cNvPicPr preferRelativeResize="0"/>
          <p:nvPr/>
        </p:nvPicPr>
        <p:blipFill>
          <a:blip r:embed="rId3">
            <a:alphaModFix/>
          </a:blip>
          <a:stretch>
            <a:fillRect/>
          </a:stretch>
        </p:blipFill>
        <p:spPr>
          <a:xfrm>
            <a:off x="6282850" y="913250"/>
            <a:ext cx="2738300" cy="2002375"/>
          </a:xfrm>
          <a:prstGeom prst="rect">
            <a:avLst/>
          </a:prstGeom>
          <a:noFill/>
          <a:ln>
            <a:noFill/>
          </a:ln>
        </p:spPr>
      </p:pic>
      <p:sp>
        <p:nvSpPr>
          <p:cNvPr id="164" name="Google Shape;164;p22"/>
          <p:cNvSpPr txBox="1"/>
          <p:nvPr/>
        </p:nvSpPr>
        <p:spPr>
          <a:xfrm>
            <a:off x="6274473" y="2915659"/>
            <a:ext cx="26973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500" u="sng">
                <a:solidFill>
                  <a:schemeClr val="hlink"/>
                </a:solidFill>
                <a:hlinkClick r:id="rId4"/>
              </a:rPr>
              <a:t>https://labo2ar.blogspot.com/p/actividad-2-mediciones-con-captura-de_05.html</a:t>
            </a:r>
            <a:r>
              <a:rPr lang="es" sz="500"/>
              <a:t> </a:t>
            </a:r>
            <a:endParaRPr sz="500"/>
          </a:p>
        </p:txBody>
      </p:sp>
      <p:pic>
        <p:nvPicPr>
          <p:cNvPr id="165" name="Google Shape;165;p22"/>
          <p:cNvPicPr preferRelativeResize="0"/>
          <p:nvPr/>
        </p:nvPicPr>
        <p:blipFill>
          <a:blip r:embed="rId5">
            <a:alphaModFix/>
          </a:blip>
          <a:stretch>
            <a:fillRect/>
          </a:stretch>
        </p:blipFill>
        <p:spPr>
          <a:xfrm>
            <a:off x="6855288" y="3644500"/>
            <a:ext cx="1398025" cy="1398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793650" y="4955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Retomemos el </a:t>
            </a:r>
            <a:r>
              <a:rPr lang="es"/>
              <a:t>bytecode para el programa P</a:t>
            </a:r>
            <a:endParaRPr/>
          </a:p>
        </p:txBody>
      </p:sp>
      <p:sp>
        <p:nvSpPr>
          <p:cNvPr id="171" name="Google Shape;171;p23"/>
          <p:cNvSpPr txBox="1"/>
          <p:nvPr>
            <p:ph idx="1" type="body"/>
          </p:nvPr>
        </p:nvSpPr>
        <p:spPr>
          <a:xfrm>
            <a:off x="729450" y="1237075"/>
            <a:ext cx="8144700" cy="3636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LOAD_CONST 1964</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LOAD_CONST 2024</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BINARY_SUBTRACT</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STORE_FAST </a:t>
            </a:r>
            <a:r>
              <a:rPr lang="es" sz="1400">
                <a:solidFill>
                  <a:srgbClr val="000000"/>
                </a:solidFill>
                <a:latin typeface="Arial"/>
                <a:ea typeface="Arial"/>
                <a:cs typeface="Arial"/>
                <a:sym typeface="Arial"/>
              </a:rPr>
              <a:t>0x10A0</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500">
              <a:latin typeface="Courier New"/>
              <a:ea typeface="Courier New"/>
              <a:cs typeface="Courier New"/>
              <a:sym typeface="Courier New"/>
            </a:endParaRPr>
          </a:p>
          <a:p>
            <a:pPr indent="-323850" lvl="0" marL="457200" rtl="0" algn="l">
              <a:lnSpc>
                <a:spcPct val="100000"/>
              </a:lnSpc>
              <a:spcBef>
                <a:spcPts val="0"/>
              </a:spcBef>
              <a:spcAft>
                <a:spcPts val="0"/>
              </a:spcAft>
              <a:buSzPts val="1500"/>
              <a:buFont typeface="Courier New"/>
              <a:buChar char="●"/>
            </a:pPr>
            <a:r>
              <a:rPr lang="es" sz="1500">
                <a:latin typeface="Courier New"/>
                <a:ea typeface="Courier New"/>
                <a:cs typeface="Courier New"/>
                <a:sym typeface="Courier New"/>
              </a:rPr>
              <a:t>LOAD_CONST: </a:t>
            </a:r>
            <a:r>
              <a:rPr lang="es" sz="1500"/>
              <a:t>Carga una constante numérica.</a:t>
            </a:r>
            <a:endParaRPr sz="1500"/>
          </a:p>
          <a:p>
            <a:pPr indent="-323850" lvl="0" marL="457200" rtl="0" algn="l">
              <a:lnSpc>
                <a:spcPct val="100000"/>
              </a:lnSpc>
              <a:spcBef>
                <a:spcPts val="0"/>
              </a:spcBef>
              <a:spcAft>
                <a:spcPts val="0"/>
              </a:spcAft>
              <a:buSzPts val="1500"/>
              <a:buFont typeface="Courier New"/>
              <a:buChar char="●"/>
            </a:pPr>
            <a:r>
              <a:rPr lang="es" sz="1500">
                <a:latin typeface="Courier New"/>
                <a:ea typeface="Courier New"/>
                <a:cs typeface="Courier New"/>
                <a:sym typeface="Courier New"/>
              </a:rPr>
              <a:t>BINARY_SUBTRACT:</a:t>
            </a:r>
            <a:r>
              <a:rPr lang="es" sz="1500"/>
              <a:t> Resta los dos valores que están en la pila.</a:t>
            </a:r>
            <a:endParaRPr sz="1500"/>
          </a:p>
          <a:p>
            <a:pPr indent="-323850" lvl="0" marL="457200" rtl="0" algn="l">
              <a:lnSpc>
                <a:spcPct val="100000"/>
              </a:lnSpc>
              <a:spcBef>
                <a:spcPts val="0"/>
              </a:spcBef>
              <a:spcAft>
                <a:spcPts val="0"/>
              </a:spcAft>
              <a:buSzPts val="1500"/>
              <a:buFont typeface="Courier New"/>
              <a:buChar char="●"/>
            </a:pPr>
            <a:r>
              <a:rPr lang="es" sz="1500">
                <a:latin typeface="Courier New"/>
                <a:ea typeface="Courier New"/>
                <a:cs typeface="Courier New"/>
                <a:sym typeface="Courier New"/>
              </a:rPr>
              <a:t>STORE_FAST: </a:t>
            </a:r>
            <a:r>
              <a:rPr lang="es" sz="1500"/>
              <a:t>Almacena el resultado en la variable edad.</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rPr lang="es" sz="1500"/>
              <a:t>Evidente, el bytecode  es otro lenguaje de más bajo nivel. Lenguajes como JAVA o C# también usan Máquinas Virtuales que ejecutan bytecode, consulta sus diferencias.</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rPr lang="es" sz="1500"/>
              <a:t>Más info en </a:t>
            </a:r>
            <a:r>
              <a:rPr lang="es" sz="1500" u="sng">
                <a:solidFill>
                  <a:schemeClr val="hlink"/>
                </a:solidFill>
                <a:hlinkClick r:id="rId3"/>
              </a:rPr>
              <a:t>https://opensource.com/article/18/4/introduction-python-bytecode</a:t>
            </a:r>
            <a:r>
              <a:rPr lang="es" sz="1500"/>
              <a:t>, también  en Inside The Python Virtual Machine </a:t>
            </a:r>
            <a:r>
              <a:rPr lang="es" sz="1500" u="sng">
                <a:solidFill>
                  <a:schemeClr val="hlink"/>
                </a:solidFill>
                <a:hlinkClick r:id="rId4"/>
              </a:rPr>
              <a:t>https://leanpub.com/insidethepythonvirtualmachine</a:t>
            </a:r>
            <a:r>
              <a:rPr lang="es" sz="1500"/>
              <a:t>, otra referencia </a:t>
            </a:r>
            <a:r>
              <a:rPr lang="es" sz="1500" u="sng">
                <a:solidFill>
                  <a:schemeClr val="hlink"/>
                </a:solidFill>
                <a:hlinkClick r:id="rId5"/>
              </a:rPr>
              <a:t>https://aosabook.org/en/500L/a-python-interpreter-written-in-python.html</a:t>
            </a:r>
            <a:r>
              <a:rPr lang="es" sz="1500"/>
              <a:t>  </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727789" y="174701"/>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¿Pero cómo es que generamos el bytecode? </a:t>
            </a:r>
            <a:endParaRPr/>
          </a:p>
          <a:p>
            <a:pPr indent="0" lvl="0" marL="0" rtl="0" algn="l">
              <a:spcBef>
                <a:spcPts val="0"/>
              </a:spcBef>
              <a:spcAft>
                <a:spcPts val="0"/>
              </a:spcAft>
              <a:buNone/>
            </a:pPr>
            <a:r>
              <a:rPr lang="es"/>
              <a:t>Recuerda el Paso 2.</a:t>
            </a:r>
            <a:endParaRPr/>
          </a:p>
        </p:txBody>
      </p:sp>
      <p:sp>
        <p:nvSpPr>
          <p:cNvPr id="177" name="Google Shape;177;p24"/>
          <p:cNvSpPr txBox="1"/>
          <p:nvPr>
            <p:ph idx="1" type="body"/>
          </p:nvPr>
        </p:nvSpPr>
        <p:spPr>
          <a:xfrm>
            <a:off x="312500" y="1237075"/>
            <a:ext cx="4191000" cy="37611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s" sz="1400"/>
              <a:t>El paso 2, </a:t>
            </a:r>
            <a:r>
              <a:rPr lang="es" sz="1400"/>
              <a:t>es la primera etapa de la ejecución del código, se divide en: el</a:t>
            </a:r>
            <a:r>
              <a:rPr b="1" lang="es" sz="1400"/>
              <a:t> análisis léxico </a:t>
            </a:r>
            <a:r>
              <a:rPr lang="es" sz="1400"/>
              <a:t>y el </a:t>
            </a:r>
            <a:r>
              <a:rPr b="1" lang="es" sz="1400"/>
              <a:t>análisis sintáctico</a:t>
            </a:r>
            <a:r>
              <a:rPr lang="es" sz="1400"/>
              <a:t>. Juntos, actúan como los "</a:t>
            </a:r>
            <a:r>
              <a:rPr b="1" i="1" lang="es" sz="1400"/>
              <a:t>ojos y el cerebro</a:t>
            </a:r>
            <a:r>
              <a:rPr lang="es" sz="1400"/>
              <a:t>" del intérprete para comprender el código.</a:t>
            </a:r>
            <a:endParaRPr sz="1400"/>
          </a:p>
          <a:p>
            <a:pPr indent="0" lvl="0" marL="0" rtl="0" algn="l">
              <a:lnSpc>
                <a:spcPct val="140000"/>
              </a:lnSpc>
              <a:spcBef>
                <a:spcPts val="1200"/>
              </a:spcBef>
              <a:spcAft>
                <a:spcPts val="0"/>
              </a:spcAft>
              <a:buNone/>
            </a:pPr>
            <a:r>
              <a:rPr b="1" lang="es" sz="1400"/>
              <a:t>Paso 2. Fase 1. Análisis Léxico (El Lector).</a:t>
            </a:r>
            <a:r>
              <a:rPr lang="es" sz="1400"/>
              <a:t> Lee a </a:t>
            </a:r>
            <a:r>
              <a:rPr b="1" lang="es" sz="1400"/>
              <a:t>P </a:t>
            </a:r>
            <a:r>
              <a:rPr lang="es" sz="1400"/>
              <a:t>como una simple secuencia de caracteres y los agrupa en unidades lógicas </a:t>
            </a:r>
            <a:r>
              <a:rPr b="1" lang="es" sz="1400"/>
              <a:t>tokens</a:t>
            </a:r>
            <a:r>
              <a:rPr lang="es" sz="1400"/>
              <a:t>.</a:t>
            </a:r>
            <a:endParaRPr sz="1400"/>
          </a:p>
          <a:p>
            <a:pPr indent="0" lvl="0" marL="0" rtl="0" algn="l">
              <a:lnSpc>
                <a:spcPct val="140000"/>
              </a:lnSpc>
              <a:spcBef>
                <a:spcPts val="1200"/>
              </a:spcBef>
              <a:spcAft>
                <a:spcPts val="0"/>
              </a:spcAft>
              <a:buNone/>
            </a:pPr>
            <a:r>
              <a:rPr lang="es" sz="1400"/>
              <a:t>El analizador léxico (</a:t>
            </a:r>
            <a:r>
              <a:rPr b="1" i="1" lang="es" sz="1400"/>
              <a:t>o "lexer"</a:t>
            </a:r>
            <a:r>
              <a:rPr lang="es" sz="1400"/>
              <a:t>) ignora espacios en blanco y comentarios, y se enfoca en identificar palabras clave, identificadores, operadores y números.</a:t>
            </a:r>
            <a:endParaRPr sz="1400"/>
          </a:p>
          <a:p>
            <a:pPr indent="0" lvl="0" marL="0" rtl="0" algn="l">
              <a:lnSpc>
                <a:spcPct val="140000"/>
              </a:lnSpc>
              <a:spcBef>
                <a:spcPts val="1200"/>
              </a:spcBef>
              <a:spcAft>
                <a:spcPts val="1200"/>
              </a:spcAft>
              <a:buNone/>
            </a:pPr>
            <a:r>
              <a:t/>
            </a:r>
            <a:endParaRPr sz="1400"/>
          </a:p>
        </p:txBody>
      </p:sp>
      <p:sp>
        <p:nvSpPr>
          <p:cNvPr id="178" name="Google Shape;178;p24"/>
          <p:cNvSpPr txBox="1"/>
          <p:nvPr>
            <p:ph idx="2" type="body"/>
          </p:nvPr>
        </p:nvSpPr>
        <p:spPr>
          <a:xfrm>
            <a:off x="4643600" y="988900"/>
            <a:ext cx="4191000" cy="4154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Recordemos a P: </a:t>
            </a:r>
            <a:r>
              <a:rPr b="1" lang="es" sz="1700">
                <a:solidFill>
                  <a:srgbClr val="0000FF"/>
                </a:solidFill>
                <a:latin typeface="Courier New"/>
                <a:ea typeface="Courier New"/>
                <a:cs typeface="Courier New"/>
                <a:sym typeface="Courier New"/>
              </a:rPr>
              <a:t>edad = 1964 - 2024</a:t>
            </a:r>
            <a:endParaRPr b="1">
              <a:solidFill>
                <a:srgbClr val="0000FF"/>
              </a:solidFill>
              <a:latin typeface="Courier New"/>
              <a:ea typeface="Courier New"/>
              <a:cs typeface="Courier New"/>
              <a:sym typeface="Courier New"/>
            </a:endParaRPr>
          </a:p>
          <a:p>
            <a:pPr indent="0" lvl="0" marL="0" rtl="0" algn="l">
              <a:spcBef>
                <a:spcPts val="1200"/>
              </a:spcBef>
              <a:spcAft>
                <a:spcPts val="0"/>
              </a:spcAft>
              <a:buNone/>
            </a:pPr>
            <a:r>
              <a:rPr lang="es"/>
              <a:t>El lexer recorre la cadena, carácter por carácter, y emite un flujo de tokens.</a:t>
            </a:r>
            <a:endParaRPr/>
          </a:p>
          <a:p>
            <a:pPr indent="-311150" lvl="0" marL="457200" rtl="0" algn="l">
              <a:spcBef>
                <a:spcPts val="1200"/>
              </a:spcBef>
              <a:spcAft>
                <a:spcPts val="0"/>
              </a:spcAft>
              <a:buSzPts val="1300"/>
              <a:buChar char="●"/>
            </a:pPr>
            <a:r>
              <a:rPr lang="es"/>
              <a:t>Encuentra la secuencia de letras</a:t>
            </a:r>
            <a:r>
              <a:rPr b="1" lang="es">
                <a:solidFill>
                  <a:srgbClr val="0000FF"/>
                </a:solidFill>
                <a:latin typeface="Courier New"/>
                <a:ea typeface="Courier New"/>
                <a:cs typeface="Courier New"/>
                <a:sym typeface="Courier New"/>
              </a:rPr>
              <a:t> e,d,a,d</a:t>
            </a:r>
            <a:r>
              <a:rPr lang="es"/>
              <a:t> y la identifica como un identificador o variable.</a:t>
            </a:r>
            <a:endParaRPr/>
          </a:p>
          <a:p>
            <a:pPr indent="-311150" lvl="0" marL="457200" rtl="0" algn="l">
              <a:spcBef>
                <a:spcPts val="0"/>
              </a:spcBef>
              <a:spcAft>
                <a:spcPts val="0"/>
              </a:spcAft>
              <a:buSzPts val="1300"/>
              <a:buChar char="●"/>
            </a:pPr>
            <a:r>
              <a:rPr lang="es"/>
              <a:t>Ve el carácter</a:t>
            </a:r>
            <a:r>
              <a:rPr b="1" lang="es">
                <a:solidFill>
                  <a:srgbClr val="0000FF"/>
                </a:solidFill>
                <a:latin typeface="Courier New"/>
                <a:ea typeface="Courier New"/>
                <a:cs typeface="Courier New"/>
                <a:sym typeface="Courier New"/>
              </a:rPr>
              <a:t> =</a:t>
            </a:r>
            <a:r>
              <a:rPr lang="es"/>
              <a:t>  y lo clasifica como un operador de asignación.</a:t>
            </a:r>
            <a:endParaRPr/>
          </a:p>
          <a:p>
            <a:pPr indent="-311150" lvl="0" marL="457200" rtl="0" algn="l">
              <a:spcBef>
                <a:spcPts val="0"/>
              </a:spcBef>
              <a:spcAft>
                <a:spcPts val="0"/>
              </a:spcAft>
              <a:buSzPts val="1300"/>
              <a:buChar char="●"/>
            </a:pPr>
            <a:r>
              <a:rPr lang="es"/>
              <a:t>Identifica la secuencia de dígitos </a:t>
            </a:r>
            <a:r>
              <a:rPr b="1" lang="es">
                <a:solidFill>
                  <a:srgbClr val="0000FF"/>
                </a:solidFill>
                <a:latin typeface="Courier New"/>
                <a:ea typeface="Courier New"/>
                <a:cs typeface="Courier New"/>
                <a:sym typeface="Courier New"/>
              </a:rPr>
              <a:t>1,9,6,4</a:t>
            </a:r>
            <a:r>
              <a:rPr lang="es"/>
              <a:t> como un número entero.</a:t>
            </a:r>
            <a:endParaRPr/>
          </a:p>
          <a:p>
            <a:pPr indent="-311150" lvl="0" marL="457200" rtl="0" algn="l">
              <a:spcBef>
                <a:spcPts val="0"/>
              </a:spcBef>
              <a:spcAft>
                <a:spcPts val="0"/>
              </a:spcAft>
              <a:buSzPts val="1300"/>
              <a:buChar char="●"/>
            </a:pPr>
            <a:r>
              <a:rPr lang="es"/>
              <a:t>Reconoce el carácter </a:t>
            </a:r>
            <a:r>
              <a:rPr b="1" lang="es">
                <a:solidFill>
                  <a:srgbClr val="0000FF"/>
                </a:solidFill>
                <a:latin typeface="Courier New"/>
                <a:ea typeface="Courier New"/>
                <a:cs typeface="Courier New"/>
                <a:sym typeface="Courier New"/>
              </a:rPr>
              <a:t>-</a:t>
            </a:r>
            <a:r>
              <a:rPr lang="es"/>
              <a:t> como un operador aritmético.</a:t>
            </a:r>
            <a:endParaRPr/>
          </a:p>
          <a:p>
            <a:pPr indent="-311150" lvl="0" marL="457200" rtl="0" algn="l">
              <a:spcBef>
                <a:spcPts val="0"/>
              </a:spcBef>
              <a:spcAft>
                <a:spcPts val="0"/>
              </a:spcAft>
              <a:buSzPts val="1300"/>
              <a:buChar char="●"/>
            </a:pPr>
            <a:r>
              <a:rPr lang="es"/>
              <a:t>Por último, ve </a:t>
            </a:r>
            <a:r>
              <a:rPr b="1" lang="es">
                <a:solidFill>
                  <a:srgbClr val="0000FF"/>
                </a:solidFill>
                <a:latin typeface="Courier New"/>
                <a:ea typeface="Courier New"/>
                <a:cs typeface="Courier New"/>
                <a:sym typeface="Courier New"/>
              </a:rPr>
              <a:t>2,0,2,4</a:t>
            </a:r>
            <a:r>
              <a:rPr lang="es"/>
              <a:t> y lo clasifica como otro número entero.</a:t>
            </a:r>
            <a:endParaRPr/>
          </a:p>
          <a:p>
            <a:pPr indent="0" lvl="0" marL="0" rtl="0" algn="l">
              <a:spcBef>
                <a:spcPts val="1200"/>
              </a:spcBef>
              <a:spcAft>
                <a:spcPts val="0"/>
              </a:spcAft>
              <a:buNone/>
            </a:pPr>
            <a:r>
              <a:rPr b="1" lang="es" sz="1100">
                <a:solidFill>
                  <a:srgbClr val="000000"/>
                </a:solidFill>
                <a:latin typeface="Arial"/>
                <a:ea typeface="Arial"/>
                <a:cs typeface="Arial"/>
                <a:sym typeface="Arial"/>
              </a:rPr>
              <a:t>Flujo de Tokens:</a:t>
            </a:r>
            <a:endParaRPr b="1" sz="1100">
              <a:solidFill>
                <a:srgbClr val="000000"/>
              </a:solidFill>
              <a:latin typeface="Arial"/>
              <a:ea typeface="Arial"/>
              <a:cs typeface="Arial"/>
              <a:sym typeface="Arial"/>
            </a:endParaRPr>
          </a:p>
          <a:p>
            <a:pPr indent="0" lvl="0" marL="0" rtl="0" algn="l">
              <a:spcBef>
                <a:spcPts val="1200"/>
              </a:spcBef>
              <a:spcAft>
                <a:spcPts val="1200"/>
              </a:spcAft>
              <a:buNone/>
            </a:pPr>
            <a:r>
              <a:rPr b="1" lang="es">
                <a:solidFill>
                  <a:srgbClr val="0000FF"/>
                </a:solidFill>
                <a:latin typeface="Courier New"/>
                <a:ea typeface="Courier New"/>
                <a:cs typeface="Courier New"/>
                <a:sym typeface="Courier New"/>
              </a:rPr>
              <a:t>[ IDENTIFICADOR ('edad'), OPERADOR ('='), NUMERO (1964), OPERADOR ('-'), NUMERO (2024)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808975" y="2814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Ahora la siguiente fase para obtener el bytecode, el análisis sintáctico.</a:t>
            </a:r>
            <a:endParaRPr/>
          </a:p>
        </p:txBody>
      </p:sp>
      <p:sp>
        <p:nvSpPr>
          <p:cNvPr id="184" name="Google Shape;184;p25"/>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Paso 2. </a:t>
            </a:r>
            <a:r>
              <a:rPr b="1" lang="es"/>
              <a:t>Fase 2. </a:t>
            </a:r>
            <a:r>
              <a:rPr lang="es"/>
              <a:t>Una vez que el lexer ha clasificado los tokens, el </a:t>
            </a:r>
            <a:r>
              <a:rPr b="1" lang="es"/>
              <a:t>analizador sintáctico (o "parser")</a:t>
            </a:r>
            <a:r>
              <a:rPr lang="es"/>
              <a:t> toma ese flujo y verifica si los tokens están en un orden que cumple con las </a:t>
            </a:r>
            <a:r>
              <a:rPr b="1" i="1" lang="es"/>
              <a:t>reglas gramaticales del lenguaje.</a:t>
            </a:r>
            <a:endParaRPr b="1" i="1"/>
          </a:p>
          <a:p>
            <a:pPr indent="0" lvl="0" marL="0" rtl="0" algn="l">
              <a:spcBef>
                <a:spcPts val="1200"/>
              </a:spcBef>
              <a:spcAft>
                <a:spcPts val="0"/>
              </a:spcAft>
              <a:buNone/>
            </a:pPr>
            <a:r>
              <a:rPr lang="es"/>
              <a:t>Su objetivo es construir una representación jerárquica del código llamada</a:t>
            </a:r>
            <a:r>
              <a:rPr b="1" i="1" lang="es"/>
              <a:t> Árbol de Sintaxis Abstracta (AST).</a:t>
            </a:r>
            <a:endParaRPr b="1" i="1"/>
          </a:p>
          <a:p>
            <a:pPr indent="0" lvl="0" marL="0" rtl="0" algn="l">
              <a:spcBef>
                <a:spcPts val="1200"/>
              </a:spcBef>
              <a:spcAft>
                <a:spcPts val="1200"/>
              </a:spcAft>
              <a:buNone/>
            </a:pPr>
            <a:r>
              <a:rPr b="1" i="1" lang="es"/>
              <a:t>Entonces, usa las reglas de Python para construir la estructura del AST</a:t>
            </a:r>
            <a:endParaRPr b="1" i="1"/>
          </a:p>
        </p:txBody>
      </p:sp>
      <p:sp>
        <p:nvSpPr>
          <p:cNvPr id="185" name="Google Shape;185;p25"/>
          <p:cNvSpPr txBox="1"/>
          <p:nvPr>
            <p:ph idx="2" type="body"/>
          </p:nvPr>
        </p:nvSpPr>
        <p:spPr>
          <a:xfrm>
            <a:off x="4665000" y="3578825"/>
            <a:ext cx="4273500" cy="6327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None/>
            </a:pPr>
            <a:r>
              <a:rPr lang="es"/>
              <a:t>El AST es la representación que el intérprete de Python usa para generar el bytecode.</a:t>
            </a:r>
            <a:endParaRPr/>
          </a:p>
        </p:txBody>
      </p:sp>
      <p:grpSp>
        <p:nvGrpSpPr>
          <p:cNvPr id="186" name="Google Shape;186;p25"/>
          <p:cNvGrpSpPr/>
          <p:nvPr/>
        </p:nvGrpSpPr>
        <p:grpSpPr>
          <a:xfrm>
            <a:off x="4762100" y="1053100"/>
            <a:ext cx="3993150" cy="2214100"/>
            <a:chOff x="4762100" y="1053100"/>
            <a:chExt cx="3993150" cy="2214100"/>
          </a:xfrm>
        </p:grpSpPr>
        <p:sp>
          <p:nvSpPr>
            <p:cNvPr id="187" name="Google Shape;187;p25"/>
            <p:cNvSpPr/>
            <p:nvPr/>
          </p:nvSpPr>
          <p:spPr>
            <a:xfrm>
              <a:off x="5808350" y="10531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ASIGNACIÓN</a:t>
              </a:r>
              <a:endParaRPr b="1">
                <a:latin typeface="Courier New"/>
                <a:ea typeface="Courier New"/>
                <a:cs typeface="Courier New"/>
                <a:sym typeface="Courier New"/>
              </a:endParaRPr>
            </a:p>
          </p:txBody>
        </p:sp>
        <p:sp>
          <p:nvSpPr>
            <p:cNvPr id="188" name="Google Shape;188;p25"/>
            <p:cNvSpPr/>
            <p:nvPr/>
          </p:nvSpPr>
          <p:spPr>
            <a:xfrm>
              <a:off x="4762100" y="17177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VARIABLE</a:t>
              </a:r>
              <a:endParaRPr b="1">
                <a:latin typeface="Courier New"/>
                <a:ea typeface="Courier New"/>
                <a:cs typeface="Courier New"/>
                <a:sym typeface="Courier New"/>
              </a:endParaRPr>
            </a:p>
          </p:txBody>
        </p:sp>
        <p:cxnSp>
          <p:nvCxnSpPr>
            <p:cNvPr id="189" name="Google Shape;189;p25"/>
            <p:cNvCxnSpPr>
              <a:stCxn id="188" idx="0"/>
              <a:endCxn id="187" idx="2"/>
            </p:cNvCxnSpPr>
            <p:nvPr/>
          </p:nvCxnSpPr>
          <p:spPr>
            <a:xfrm flipH="1" rot="10800000">
              <a:off x="5484500" y="1320800"/>
              <a:ext cx="1046400" cy="396900"/>
            </a:xfrm>
            <a:prstGeom prst="straightConnector1">
              <a:avLst/>
            </a:prstGeom>
            <a:noFill/>
            <a:ln cap="flat" cmpd="sng" w="9525">
              <a:solidFill>
                <a:schemeClr val="dk2"/>
              </a:solidFill>
              <a:prstDash val="solid"/>
              <a:round/>
              <a:headEnd len="med" w="med" type="none"/>
              <a:tailEnd len="med" w="med" type="none"/>
            </a:ln>
          </p:spPr>
        </p:cxnSp>
        <p:sp>
          <p:nvSpPr>
            <p:cNvPr id="190" name="Google Shape;190;p25"/>
            <p:cNvSpPr/>
            <p:nvPr/>
          </p:nvSpPr>
          <p:spPr>
            <a:xfrm>
              <a:off x="4762100" y="227535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‘edad’</a:t>
              </a:r>
              <a:endParaRPr b="1">
                <a:latin typeface="Courier New"/>
                <a:ea typeface="Courier New"/>
                <a:cs typeface="Courier New"/>
                <a:sym typeface="Courier New"/>
              </a:endParaRPr>
            </a:p>
          </p:txBody>
        </p:sp>
        <p:cxnSp>
          <p:nvCxnSpPr>
            <p:cNvPr id="191" name="Google Shape;191;p25"/>
            <p:cNvCxnSpPr>
              <a:stCxn id="190" idx="0"/>
              <a:endCxn id="188" idx="2"/>
            </p:cNvCxnSpPr>
            <p:nvPr/>
          </p:nvCxnSpPr>
          <p:spPr>
            <a:xfrm rot="10800000">
              <a:off x="5484500" y="1985250"/>
              <a:ext cx="0" cy="290100"/>
            </a:xfrm>
            <a:prstGeom prst="straightConnector1">
              <a:avLst/>
            </a:prstGeom>
            <a:noFill/>
            <a:ln cap="flat" cmpd="sng" w="9525">
              <a:solidFill>
                <a:schemeClr val="dk2"/>
              </a:solidFill>
              <a:prstDash val="solid"/>
              <a:round/>
              <a:headEnd len="med" w="med" type="none"/>
              <a:tailEnd len="med" w="med" type="none"/>
            </a:ln>
          </p:spPr>
        </p:cxnSp>
        <p:sp>
          <p:nvSpPr>
            <p:cNvPr id="192" name="Google Shape;192;p25"/>
            <p:cNvSpPr/>
            <p:nvPr/>
          </p:nvSpPr>
          <p:spPr>
            <a:xfrm>
              <a:off x="6832975" y="17177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RESTA</a:t>
              </a:r>
              <a:endParaRPr b="1">
                <a:latin typeface="Courier New"/>
                <a:ea typeface="Courier New"/>
                <a:cs typeface="Courier New"/>
                <a:sym typeface="Courier New"/>
              </a:endParaRPr>
            </a:p>
          </p:txBody>
        </p:sp>
        <p:cxnSp>
          <p:nvCxnSpPr>
            <p:cNvPr id="193" name="Google Shape;193;p25"/>
            <p:cNvCxnSpPr>
              <a:stCxn id="192" idx="0"/>
              <a:endCxn id="187" idx="2"/>
            </p:cNvCxnSpPr>
            <p:nvPr/>
          </p:nvCxnSpPr>
          <p:spPr>
            <a:xfrm rot="10800000">
              <a:off x="6530875" y="1320800"/>
              <a:ext cx="1024500" cy="396900"/>
            </a:xfrm>
            <a:prstGeom prst="straightConnector1">
              <a:avLst/>
            </a:prstGeom>
            <a:noFill/>
            <a:ln cap="flat" cmpd="sng" w="9525">
              <a:solidFill>
                <a:schemeClr val="dk2"/>
              </a:solidFill>
              <a:prstDash val="solid"/>
              <a:round/>
              <a:headEnd len="med" w="med" type="none"/>
              <a:tailEnd len="med" w="med" type="none"/>
            </a:ln>
          </p:spPr>
        </p:cxnSp>
        <p:sp>
          <p:nvSpPr>
            <p:cNvPr id="194" name="Google Shape;194;p25"/>
            <p:cNvSpPr/>
            <p:nvPr/>
          </p:nvSpPr>
          <p:spPr>
            <a:xfrm>
              <a:off x="6420950" y="243795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NUMERO</a:t>
              </a:r>
              <a:endParaRPr b="1">
                <a:latin typeface="Courier New"/>
                <a:ea typeface="Courier New"/>
                <a:cs typeface="Courier New"/>
                <a:sym typeface="Courier New"/>
              </a:endParaRPr>
            </a:p>
          </p:txBody>
        </p:sp>
        <p:cxnSp>
          <p:nvCxnSpPr>
            <p:cNvPr id="195" name="Google Shape;195;p25"/>
            <p:cNvCxnSpPr>
              <a:stCxn id="194" idx="0"/>
              <a:endCxn id="192" idx="2"/>
            </p:cNvCxnSpPr>
            <p:nvPr/>
          </p:nvCxnSpPr>
          <p:spPr>
            <a:xfrm flipH="1" rot="10800000">
              <a:off x="6953300" y="1985250"/>
              <a:ext cx="602100" cy="452700"/>
            </a:xfrm>
            <a:prstGeom prst="straightConnector1">
              <a:avLst/>
            </a:prstGeom>
            <a:noFill/>
            <a:ln cap="flat" cmpd="sng" w="9525">
              <a:solidFill>
                <a:schemeClr val="dk2"/>
              </a:solidFill>
              <a:prstDash val="solid"/>
              <a:round/>
              <a:headEnd len="med" w="med" type="none"/>
              <a:tailEnd len="med" w="med" type="none"/>
            </a:ln>
          </p:spPr>
        </p:cxnSp>
        <p:sp>
          <p:nvSpPr>
            <p:cNvPr id="196" name="Google Shape;196;p25"/>
            <p:cNvSpPr/>
            <p:nvPr/>
          </p:nvSpPr>
          <p:spPr>
            <a:xfrm>
              <a:off x="7699700" y="2437950"/>
              <a:ext cx="10464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NUMERO</a:t>
              </a:r>
              <a:endParaRPr b="1">
                <a:latin typeface="Courier New"/>
                <a:ea typeface="Courier New"/>
                <a:cs typeface="Courier New"/>
                <a:sym typeface="Courier New"/>
              </a:endParaRPr>
            </a:p>
          </p:txBody>
        </p:sp>
        <p:cxnSp>
          <p:nvCxnSpPr>
            <p:cNvPr id="197" name="Google Shape;197;p25"/>
            <p:cNvCxnSpPr>
              <a:stCxn id="196" idx="0"/>
              <a:endCxn id="192" idx="2"/>
            </p:cNvCxnSpPr>
            <p:nvPr/>
          </p:nvCxnSpPr>
          <p:spPr>
            <a:xfrm rot="10800000">
              <a:off x="7555400" y="1985250"/>
              <a:ext cx="667500" cy="452700"/>
            </a:xfrm>
            <a:prstGeom prst="straightConnector1">
              <a:avLst/>
            </a:prstGeom>
            <a:noFill/>
            <a:ln cap="flat" cmpd="sng" w="9525">
              <a:solidFill>
                <a:schemeClr val="dk2"/>
              </a:solidFill>
              <a:prstDash val="solid"/>
              <a:round/>
              <a:headEnd len="med" w="med" type="none"/>
              <a:tailEnd len="med" w="med" type="none"/>
            </a:ln>
          </p:spPr>
        </p:cxnSp>
        <p:sp>
          <p:nvSpPr>
            <p:cNvPr id="198" name="Google Shape;198;p25"/>
            <p:cNvSpPr/>
            <p:nvPr/>
          </p:nvSpPr>
          <p:spPr>
            <a:xfrm>
              <a:off x="6420950" y="299960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1964</a:t>
              </a:r>
              <a:endParaRPr b="1">
                <a:latin typeface="Courier New"/>
                <a:ea typeface="Courier New"/>
                <a:cs typeface="Courier New"/>
                <a:sym typeface="Courier New"/>
              </a:endParaRPr>
            </a:p>
          </p:txBody>
        </p:sp>
        <p:sp>
          <p:nvSpPr>
            <p:cNvPr id="199" name="Google Shape;199;p25"/>
            <p:cNvSpPr/>
            <p:nvPr/>
          </p:nvSpPr>
          <p:spPr>
            <a:xfrm>
              <a:off x="7690550" y="299960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2024</a:t>
              </a:r>
              <a:endParaRPr b="1">
                <a:latin typeface="Courier New"/>
                <a:ea typeface="Courier New"/>
                <a:cs typeface="Courier New"/>
                <a:sym typeface="Courier New"/>
              </a:endParaRPr>
            </a:p>
          </p:txBody>
        </p:sp>
        <p:cxnSp>
          <p:nvCxnSpPr>
            <p:cNvPr id="200" name="Google Shape;200;p25"/>
            <p:cNvCxnSpPr>
              <a:stCxn id="198" idx="0"/>
              <a:endCxn id="194" idx="2"/>
            </p:cNvCxnSpPr>
            <p:nvPr/>
          </p:nvCxnSpPr>
          <p:spPr>
            <a:xfrm rot="10800000">
              <a:off x="6953300" y="2705600"/>
              <a:ext cx="0" cy="294000"/>
            </a:xfrm>
            <a:prstGeom prst="straightConnector1">
              <a:avLst/>
            </a:prstGeom>
            <a:noFill/>
            <a:ln cap="flat" cmpd="sng" w="9525">
              <a:solidFill>
                <a:schemeClr val="dk2"/>
              </a:solidFill>
              <a:prstDash val="solid"/>
              <a:round/>
              <a:headEnd len="med" w="med" type="none"/>
              <a:tailEnd len="med" w="med" type="none"/>
            </a:ln>
          </p:spPr>
        </p:cxnSp>
        <p:cxnSp>
          <p:nvCxnSpPr>
            <p:cNvPr id="201" name="Google Shape;201;p25"/>
            <p:cNvCxnSpPr>
              <a:stCxn id="199" idx="0"/>
              <a:endCxn id="196" idx="2"/>
            </p:cNvCxnSpPr>
            <p:nvPr/>
          </p:nvCxnSpPr>
          <p:spPr>
            <a:xfrm rot="10800000">
              <a:off x="8222900" y="2705600"/>
              <a:ext cx="0" cy="294000"/>
            </a:xfrm>
            <a:prstGeom prst="straightConnector1">
              <a:avLst/>
            </a:prstGeom>
            <a:noFill/>
            <a:ln cap="flat" cmpd="sng" w="9525">
              <a:solidFill>
                <a:schemeClr val="dk2"/>
              </a:solidFill>
              <a:prstDash val="solid"/>
              <a:round/>
              <a:headEnd len="med" w="med" type="none"/>
              <a:tailEnd len="med" w="med" type="none"/>
            </a:ln>
          </p:spPr>
        </p:cxnSp>
      </p:grpSp>
      <p:sp>
        <p:nvSpPr>
          <p:cNvPr id="202" name="Google Shape;202;p25"/>
          <p:cNvSpPr txBox="1"/>
          <p:nvPr/>
        </p:nvSpPr>
        <p:spPr>
          <a:xfrm>
            <a:off x="973900" y="4473525"/>
            <a:ext cx="7523400" cy="615000"/>
          </a:xfrm>
          <a:prstGeom prst="rect">
            <a:avLst/>
          </a:prstGeom>
          <a:noFill/>
          <a:ln>
            <a:noFill/>
          </a:ln>
        </p:spPr>
        <p:txBody>
          <a:bodyPr anchorCtr="0" anchor="ctr" bIns="91425" lIns="91425" spcFirstLastPara="1" rIns="91425" wrap="square" tIns="91425">
            <a:spAutoFit/>
          </a:bodyPr>
          <a:lstStyle/>
          <a:p>
            <a:pPr indent="0" lvl="0" marL="0" marR="0" rtl="0" algn="ctr">
              <a:lnSpc>
                <a:spcPct val="115000"/>
              </a:lnSpc>
              <a:spcBef>
                <a:spcPts val="0"/>
              </a:spcBef>
              <a:spcAft>
                <a:spcPts val="1200"/>
              </a:spcAft>
              <a:buNone/>
            </a:pPr>
            <a:r>
              <a:rPr b="1" lang="es" sz="1300">
                <a:solidFill>
                  <a:schemeClr val="dk2"/>
                </a:solidFill>
                <a:latin typeface="Lato"/>
                <a:ea typeface="Lato"/>
                <a:cs typeface="Lato"/>
                <a:sym typeface="Lato"/>
              </a:rPr>
              <a:t>E</a:t>
            </a:r>
            <a:r>
              <a:rPr b="1" lang="es" sz="1300">
                <a:solidFill>
                  <a:schemeClr val="dk2"/>
                </a:solidFill>
                <a:latin typeface="Lato"/>
                <a:ea typeface="Lato"/>
                <a:cs typeface="Lato"/>
                <a:sym typeface="Lato"/>
              </a:rPr>
              <a:t>l análisis léxico </a:t>
            </a:r>
            <a:r>
              <a:rPr lang="es" sz="1300">
                <a:solidFill>
                  <a:schemeClr val="dk2"/>
                </a:solidFill>
                <a:latin typeface="Lato"/>
                <a:ea typeface="Lato"/>
                <a:cs typeface="Lato"/>
                <a:sym typeface="Lato"/>
              </a:rPr>
              <a:t>nos dice qué son las "palabras", </a:t>
            </a:r>
            <a:r>
              <a:rPr b="1" lang="es" sz="1300">
                <a:solidFill>
                  <a:schemeClr val="dk2"/>
                </a:solidFill>
                <a:latin typeface="Lato"/>
                <a:ea typeface="Lato"/>
                <a:cs typeface="Lato"/>
                <a:sym typeface="Lato"/>
              </a:rPr>
              <a:t>el análisis sintáctico</a:t>
            </a:r>
            <a:r>
              <a:rPr lang="es" sz="1300">
                <a:solidFill>
                  <a:schemeClr val="dk2"/>
                </a:solidFill>
                <a:latin typeface="Lato"/>
                <a:ea typeface="Lato"/>
                <a:cs typeface="Lato"/>
                <a:sym typeface="Lato"/>
              </a:rPr>
              <a:t> nos dice si la "oración" tiene sentido gramatical.</a:t>
            </a:r>
            <a:endParaRPr sz="1300">
              <a:solidFill>
                <a:schemeClr val="dk2"/>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727801" y="174700"/>
            <a:ext cx="84162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Retomemos el Paso 2. El resultado de este paso es el bytecode generado del  </a:t>
            </a:r>
            <a:r>
              <a:rPr lang="es"/>
              <a:t>Árbol de Sintaxis Abstracta (AST)</a:t>
            </a:r>
            <a:endParaRPr/>
          </a:p>
        </p:txBody>
      </p:sp>
      <p:sp>
        <p:nvSpPr>
          <p:cNvPr id="208" name="Google Shape;208;p26"/>
          <p:cNvSpPr txBox="1"/>
          <p:nvPr>
            <p:ph idx="2" type="body"/>
          </p:nvPr>
        </p:nvSpPr>
        <p:spPr>
          <a:xfrm>
            <a:off x="555325" y="1235034"/>
            <a:ext cx="4191000" cy="415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100">
                <a:solidFill>
                  <a:srgbClr val="000000"/>
                </a:solidFill>
                <a:latin typeface="Arial"/>
                <a:ea typeface="Arial"/>
                <a:cs typeface="Arial"/>
                <a:sym typeface="Arial"/>
              </a:rPr>
              <a:t>Paso </a:t>
            </a:r>
            <a:r>
              <a:rPr b="1" lang="es" sz="1100">
                <a:solidFill>
                  <a:srgbClr val="000000"/>
                </a:solidFill>
                <a:latin typeface="Arial"/>
                <a:ea typeface="Arial"/>
                <a:cs typeface="Arial"/>
                <a:sym typeface="Arial"/>
              </a:rPr>
              <a:t>1. Programa</a:t>
            </a:r>
            <a:r>
              <a:rPr b="1" lang="es" sz="1100">
                <a:solidFill>
                  <a:srgbClr val="000000"/>
                </a:solidFill>
                <a:latin typeface="Arial"/>
                <a:ea typeface="Arial"/>
                <a:cs typeface="Arial"/>
                <a:sym typeface="Arial"/>
              </a:rPr>
              <a:t> P:</a:t>
            </a:r>
            <a:r>
              <a:rPr lang="es"/>
              <a:t> </a:t>
            </a:r>
            <a:r>
              <a:rPr b="1" lang="es" sz="1700">
                <a:solidFill>
                  <a:srgbClr val="0000FF"/>
                </a:solidFill>
                <a:latin typeface="Courier New"/>
                <a:ea typeface="Courier New"/>
                <a:cs typeface="Courier New"/>
                <a:sym typeface="Courier New"/>
              </a:rPr>
              <a:t>edad = 1964 - 2024</a:t>
            </a:r>
            <a:endParaRPr b="1">
              <a:solidFill>
                <a:srgbClr val="0000FF"/>
              </a:solidFill>
              <a:latin typeface="Courier New"/>
              <a:ea typeface="Courier New"/>
              <a:cs typeface="Courier New"/>
              <a:sym typeface="Courier New"/>
            </a:endParaRPr>
          </a:p>
          <a:p>
            <a:pPr indent="0" lvl="0" marL="0" rtl="0" algn="l">
              <a:spcBef>
                <a:spcPts val="1200"/>
              </a:spcBef>
              <a:spcAft>
                <a:spcPts val="0"/>
              </a:spcAft>
              <a:buNone/>
            </a:pPr>
            <a:r>
              <a:rPr b="1" lang="es" sz="1100">
                <a:solidFill>
                  <a:srgbClr val="000000"/>
                </a:solidFill>
                <a:latin typeface="Arial"/>
                <a:ea typeface="Arial"/>
                <a:cs typeface="Arial"/>
                <a:sym typeface="Arial"/>
              </a:rPr>
              <a:t>Paso </a:t>
            </a:r>
            <a:r>
              <a:rPr b="1" lang="es" sz="1100">
                <a:solidFill>
                  <a:srgbClr val="000000"/>
                </a:solidFill>
                <a:latin typeface="Arial"/>
                <a:ea typeface="Arial"/>
                <a:cs typeface="Arial"/>
                <a:sym typeface="Arial"/>
              </a:rPr>
              <a:t>2. Fase 1. </a:t>
            </a:r>
            <a:r>
              <a:rPr b="1" lang="es" sz="1100">
                <a:solidFill>
                  <a:srgbClr val="000000"/>
                </a:solidFill>
                <a:latin typeface="Arial"/>
                <a:ea typeface="Arial"/>
                <a:cs typeface="Arial"/>
                <a:sym typeface="Arial"/>
              </a:rPr>
              <a:t>Lexer genera</a:t>
            </a:r>
            <a:r>
              <a:rPr b="1" lang="es" sz="1100">
                <a:solidFill>
                  <a:srgbClr val="000000"/>
                </a:solidFill>
                <a:latin typeface="Arial"/>
                <a:ea typeface="Arial"/>
                <a:cs typeface="Arial"/>
                <a:sym typeface="Arial"/>
              </a:rPr>
              <a:t>: </a:t>
            </a:r>
            <a:r>
              <a:rPr b="1" lang="es">
                <a:solidFill>
                  <a:srgbClr val="0000FF"/>
                </a:solidFill>
                <a:latin typeface="Courier New"/>
                <a:ea typeface="Courier New"/>
                <a:cs typeface="Courier New"/>
                <a:sym typeface="Courier New"/>
              </a:rPr>
              <a:t>[ IDENTIFICADOR ('edad'), OPERADOR ('='), NUMERO (1964), OPERADOR ('-'), NUMERO (2024) ]</a:t>
            </a:r>
            <a:endParaRPr b="1">
              <a:solidFill>
                <a:srgbClr val="0000FF"/>
              </a:solidFill>
              <a:latin typeface="Courier New"/>
              <a:ea typeface="Courier New"/>
              <a:cs typeface="Courier New"/>
              <a:sym typeface="Courier New"/>
            </a:endParaRPr>
          </a:p>
          <a:p>
            <a:pPr indent="0" lvl="0" marL="0" rtl="0" algn="l">
              <a:spcBef>
                <a:spcPts val="1200"/>
              </a:spcBef>
              <a:spcAft>
                <a:spcPts val="0"/>
              </a:spcAft>
              <a:buNone/>
            </a:pPr>
            <a:r>
              <a:rPr b="1" lang="es" sz="1100">
                <a:solidFill>
                  <a:srgbClr val="000000"/>
                </a:solidFill>
                <a:latin typeface="Arial"/>
                <a:ea typeface="Arial"/>
                <a:cs typeface="Arial"/>
                <a:sym typeface="Arial"/>
              </a:rPr>
              <a:t>Paso 3. Fase 2. Parser Genera:</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1200"/>
              </a:spcAft>
              <a:buNone/>
            </a:pPr>
            <a:r>
              <a:t/>
            </a:r>
            <a:endParaRPr b="1">
              <a:solidFill>
                <a:srgbClr val="0000FF"/>
              </a:solidFill>
              <a:latin typeface="Courier New"/>
              <a:ea typeface="Courier New"/>
              <a:cs typeface="Courier New"/>
              <a:sym typeface="Courier New"/>
            </a:endParaRPr>
          </a:p>
        </p:txBody>
      </p:sp>
      <p:grpSp>
        <p:nvGrpSpPr>
          <p:cNvPr id="209" name="Google Shape;209;p26"/>
          <p:cNvGrpSpPr/>
          <p:nvPr/>
        </p:nvGrpSpPr>
        <p:grpSpPr>
          <a:xfrm>
            <a:off x="449075" y="2843782"/>
            <a:ext cx="3993150" cy="2214100"/>
            <a:chOff x="4762100" y="1053100"/>
            <a:chExt cx="3993150" cy="2214100"/>
          </a:xfrm>
        </p:grpSpPr>
        <p:sp>
          <p:nvSpPr>
            <p:cNvPr id="210" name="Google Shape;210;p26"/>
            <p:cNvSpPr/>
            <p:nvPr/>
          </p:nvSpPr>
          <p:spPr>
            <a:xfrm>
              <a:off x="5808350" y="10531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ASIGNACIÓN</a:t>
              </a:r>
              <a:endParaRPr b="1">
                <a:latin typeface="Courier New"/>
                <a:ea typeface="Courier New"/>
                <a:cs typeface="Courier New"/>
                <a:sym typeface="Courier New"/>
              </a:endParaRPr>
            </a:p>
          </p:txBody>
        </p:sp>
        <p:sp>
          <p:nvSpPr>
            <p:cNvPr id="211" name="Google Shape;211;p26"/>
            <p:cNvSpPr/>
            <p:nvPr/>
          </p:nvSpPr>
          <p:spPr>
            <a:xfrm>
              <a:off x="4762100" y="17177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VARIABLE</a:t>
              </a:r>
              <a:endParaRPr b="1">
                <a:latin typeface="Courier New"/>
                <a:ea typeface="Courier New"/>
                <a:cs typeface="Courier New"/>
                <a:sym typeface="Courier New"/>
              </a:endParaRPr>
            </a:p>
          </p:txBody>
        </p:sp>
        <p:cxnSp>
          <p:nvCxnSpPr>
            <p:cNvPr id="212" name="Google Shape;212;p26"/>
            <p:cNvCxnSpPr>
              <a:stCxn id="211" idx="0"/>
              <a:endCxn id="210" idx="2"/>
            </p:cNvCxnSpPr>
            <p:nvPr/>
          </p:nvCxnSpPr>
          <p:spPr>
            <a:xfrm flipH="1" rot="10800000">
              <a:off x="5484500" y="1320800"/>
              <a:ext cx="1046400" cy="396900"/>
            </a:xfrm>
            <a:prstGeom prst="straightConnector1">
              <a:avLst/>
            </a:prstGeom>
            <a:noFill/>
            <a:ln cap="flat" cmpd="sng" w="9525">
              <a:solidFill>
                <a:schemeClr val="dk2"/>
              </a:solidFill>
              <a:prstDash val="solid"/>
              <a:round/>
              <a:headEnd len="med" w="med" type="none"/>
              <a:tailEnd len="med" w="med" type="none"/>
            </a:ln>
          </p:spPr>
        </p:cxnSp>
        <p:sp>
          <p:nvSpPr>
            <p:cNvPr id="213" name="Google Shape;213;p26"/>
            <p:cNvSpPr/>
            <p:nvPr/>
          </p:nvSpPr>
          <p:spPr>
            <a:xfrm>
              <a:off x="4762100" y="227535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‘edad’</a:t>
              </a:r>
              <a:endParaRPr b="1">
                <a:latin typeface="Courier New"/>
                <a:ea typeface="Courier New"/>
                <a:cs typeface="Courier New"/>
                <a:sym typeface="Courier New"/>
              </a:endParaRPr>
            </a:p>
          </p:txBody>
        </p:sp>
        <p:cxnSp>
          <p:nvCxnSpPr>
            <p:cNvPr id="214" name="Google Shape;214;p26"/>
            <p:cNvCxnSpPr>
              <a:stCxn id="213" idx="0"/>
              <a:endCxn id="211" idx="2"/>
            </p:cNvCxnSpPr>
            <p:nvPr/>
          </p:nvCxnSpPr>
          <p:spPr>
            <a:xfrm rot="10800000">
              <a:off x="5484500" y="1985250"/>
              <a:ext cx="0" cy="290100"/>
            </a:xfrm>
            <a:prstGeom prst="straightConnector1">
              <a:avLst/>
            </a:prstGeom>
            <a:noFill/>
            <a:ln cap="flat" cmpd="sng" w="9525">
              <a:solidFill>
                <a:schemeClr val="dk2"/>
              </a:solidFill>
              <a:prstDash val="solid"/>
              <a:round/>
              <a:headEnd len="med" w="med" type="none"/>
              <a:tailEnd len="med" w="med" type="none"/>
            </a:ln>
          </p:spPr>
        </p:cxnSp>
        <p:sp>
          <p:nvSpPr>
            <p:cNvPr id="215" name="Google Shape;215;p26"/>
            <p:cNvSpPr/>
            <p:nvPr/>
          </p:nvSpPr>
          <p:spPr>
            <a:xfrm>
              <a:off x="6832975" y="1717700"/>
              <a:ext cx="14448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RESTA</a:t>
              </a:r>
              <a:endParaRPr b="1">
                <a:latin typeface="Courier New"/>
                <a:ea typeface="Courier New"/>
                <a:cs typeface="Courier New"/>
                <a:sym typeface="Courier New"/>
              </a:endParaRPr>
            </a:p>
          </p:txBody>
        </p:sp>
        <p:cxnSp>
          <p:nvCxnSpPr>
            <p:cNvPr id="216" name="Google Shape;216;p26"/>
            <p:cNvCxnSpPr>
              <a:stCxn id="215" idx="0"/>
              <a:endCxn id="210" idx="2"/>
            </p:cNvCxnSpPr>
            <p:nvPr/>
          </p:nvCxnSpPr>
          <p:spPr>
            <a:xfrm rot="10800000">
              <a:off x="6530875" y="1320800"/>
              <a:ext cx="1024500" cy="396900"/>
            </a:xfrm>
            <a:prstGeom prst="straightConnector1">
              <a:avLst/>
            </a:prstGeom>
            <a:noFill/>
            <a:ln cap="flat" cmpd="sng" w="9525">
              <a:solidFill>
                <a:schemeClr val="dk2"/>
              </a:solidFill>
              <a:prstDash val="solid"/>
              <a:round/>
              <a:headEnd len="med" w="med" type="none"/>
              <a:tailEnd len="med" w="med" type="none"/>
            </a:ln>
          </p:spPr>
        </p:cxnSp>
        <p:sp>
          <p:nvSpPr>
            <p:cNvPr id="217" name="Google Shape;217;p26"/>
            <p:cNvSpPr/>
            <p:nvPr/>
          </p:nvSpPr>
          <p:spPr>
            <a:xfrm>
              <a:off x="6420950" y="243795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NUMERO</a:t>
              </a:r>
              <a:endParaRPr b="1">
                <a:latin typeface="Courier New"/>
                <a:ea typeface="Courier New"/>
                <a:cs typeface="Courier New"/>
                <a:sym typeface="Courier New"/>
              </a:endParaRPr>
            </a:p>
          </p:txBody>
        </p:sp>
        <p:cxnSp>
          <p:nvCxnSpPr>
            <p:cNvPr id="218" name="Google Shape;218;p26"/>
            <p:cNvCxnSpPr>
              <a:stCxn id="217" idx="0"/>
              <a:endCxn id="215" idx="2"/>
            </p:cNvCxnSpPr>
            <p:nvPr/>
          </p:nvCxnSpPr>
          <p:spPr>
            <a:xfrm flipH="1" rot="10800000">
              <a:off x="6953300" y="1985250"/>
              <a:ext cx="602100" cy="452700"/>
            </a:xfrm>
            <a:prstGeom prst="straightConnector1">
              <a:avLst/>
            </a:prstGeom>
            <a:noFill/>
            <a:ln cap="flat" cmpd="sng" w="9525">
              <a:solidFill>
                <a:schemeClr val="dk2"/>
              </a:solidFill>
              <a:prstDash val="solid"/>
              <a:round/>
              <a:headEnd len="med" w="med" type="none"/>
              <a:tailEnd len="med" w="med" type="none"/>
            </a:ln>
          </p:spPr>
        </p:cxnSp>
        <p:sp>
          <p:nvSpPr>
            <p:cNvPr id="219" name="Google Shape;219;p26"/>
            <p:cNvSpPr/>
            <p:nvPr/>
          </p:nvSpPr>
          <p:spPr>
            <a:xfrm>
              <a:off x="7699700" y="2437950"/>
              <a:ext cx="10464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NUMERO</a:t>
              </a:r>
              <a:endParaRPr b="1">
                <a:latin typeface="Courier New"/>
                <a:ea typeface="Courier New"/>
                <a:cs typeface="Courier New"/>
                <a:sym typeface="Courier New"/>
              </a:endParaRPr>
            </a:p>
          </p:txBody>
        </p:sp>
        <p:cxnSp>
          <p:nvCxnSpPr>
            <p:cNvPr id="220" name="Google Shape;220;p26"/>
            <p:cNvCxnSpPr>
              <a:stCxn id="219" idx="0"/>
              <a:endCxn id="215" idx="2"/>
            </p:cNvCxnSpPr>
            <p:nvPr/>
          </p:nvCxnSpPr>
          <p:spPr>
            <a:xfrm rot="10800000">
              <a:off x="7555400" y="1985250"/>
              <a:ext cx="667500" cy="452700"/>
            </a:xfrm>
            <a:prstGeom prst="straightConnector1">
              <a:avLst/>
            </a:prstGeom>
            <a:noFill/>
            <a:ln cap="flat" cmpd="sng" w="9525">
              <a:solidFill>
                <a:schemeClr val="dk2"/>
              </a:solidFill>
              <a:prstDash val="solid"/>
              <a:round/>
              <a:headEnd len="med" w="med" type="none"/>
              <a:tailEnd len="med" w="med" type="none"/>
            </a:ln>
          </p:spPr>
        </p:cxnSp>
        <p:sp>
          <p:nvSpPr>
            <p:cNvPr id="221" name="Google Shape;221;p26"/>
            <p:cNvSpPr/>
            <p:nvPr/>
          </p:nvSpPr>
          <p:spPr>
            <a:xfrm>
              <a:off x="6420950" y="299960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1964</a:t>
              </a:r>
              <a:endParaRPr b="1">
                <a:latin typeface="Courier New"/>
                <a:ea typeface="Courier New"/>
                <a:cs typeface="Courier New"/>
                <a:sym typeface="Courier New"/>
              </a:endParaRPr>
            </a:p>
          </p:txBody>
        </p:sp>
        <p:sp>
          <p:nvSpPr>
            <p:cNvPr id="222" name="Google Shape;222;p26"/>
            <p:cNvSpPr/>
            <p:nvPr/>
          </p:nvSpPr>
          <p:spPr>
            <a:xfrm>
              <a:off x="7690550" y="2999600"/>
              <a:ext cx="1064700" cy="26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Courier New"/>
                  <a:ea typeface="Courier New"/>
                  <a:cs typeface="Courier New"/>
                  <a:sym typeface="Courier New"/>
                </a:rPr>
                <a:t>2024</a:t>
              </a:r>
              <a:endParaRPr b="1">
                <a:latin typeface="Courier New"/>
                <a:ea typeface="Courier New"/>
                <a:cs typeface="Courier New"/>
                <a:sym typeface="Courier New"/>
              </a:endParaRPr>
            </a:p>
          </p:txBody>
        </p:sp>
        <p:cxnSp>
          <p:nvCxnSpPr>
            <p:cNvPr id="223" name="Google Shape;223;p26"/>
            <p:cNvCxnSpPr>
              <a:stCxn id="221" idx="0"/>
              <a:endCxn id="217" idx="2"/>
            </p:cNvCxnSpPr>
            <p:nvPr/>
          </p:nvCxnSpPr>
          <p:spPr>
            <a:xfrm rot="10800000">
              <a:off x="6953300" y="2705600"/>
              <a:ext cx="0" cy="2940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26"/>
            <p:cNvCxnSpPr>
              <a:stCxn id="222" idx="0"/>
              <a:endCxn id="219" idx="2"/>
            </p:cNvCxnSpPr>
            <p:nvPr/>
          </p:nvCxnSpPr>
          <p:spPr>
            <a:xfrm rot="10800000">
              <a:off x="8222900" y="2705600"/>
              <a:ext cx="0" cy="294000"/>
            </a:xfrm>
            <a:prstGeom prst="straightConnector1">
              <a:avLst/>
            </a:prstGeom>
            <a:noFill/>
            <a:ln cap="flat" cmpd="sng" w="9525">
              <a:solidFill>
                <a:schemeClr val="dk2"/>
              </a:solidFill>
              <a:prstDash val="solid"/>
              <a:round/>
              <a:headEnd len="med" w="med" type="none"/>
              <a:tailEnd len="med" w="med" type="none"/>
            </a:ln>
          </p:spPr>
        </p:cxnSp>
      </p:grpSp>
      <p:sp>
        <p:nvSpPr>
          <p:cNvPr id="225" name="Google Shape;225;p26"/>
          <p:cNvSpPr txBox="1"/>
          <p:nvPr>
            <p:ph idx="1" type="body"/>
          </p:nvPr>
        </p:nvSpPr>
        <p:spPr>
          <a:xfrm>
            <a:off x="5064300" y="1237075"/>
            <a:ext cx="3810000" cy="36366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1200"/>
              </a:spcBef>
              <a:spcAft>
                <a:spcPts val="0"/>
              </a:spcAft>
              <a:buNone/>
            </a:pPr>
            <a:r>
              <a:rPr b="1" lang="es" sz="1100">
                <a:solidFill>
                  <a:srgbClr val="000000"/>
                </a:solidFill>
                <a:latin typeface="Arial"/>
                <a:ea typeface="Arial"/>
                <a:cs typeface="Arial"/>
                <a:sym typeface="Arial"/>
              </a:rPr>
              <a:t>Paso 2. Se mapea el AST a ByteCode. Se apilan los nodos.</a:t>
            </a:r>
            <a:endParaRPr b="1"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b="1" lang="es" sz="1500">
                <a:solidFill>
                  <a:srgbClr val="0000FF"/>
                </a:solidFill>
                <a:latin typeface="Courier New"/>
                <a:ea typeface="Courier New"/>
                <a:cs typeface="Courier New"/>
                <a:sym typeface="Courier New"/>
              </a:rPr>
              <a:t>LOAD_CONST 1964</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LOAD_CONST 2024</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BINARY_SUBTRACT</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s" sz="1500">
                <a:solidFill>
                  <a:srgbClr val="0000FF"/>
                </a:solidFill>
                <a:latin typeface="Courier New"/>
                <a:ea typeface="Courier New"/>
                <a:cs typeface="Courier New"/>
                <a:sym typeface="Courier New"/>
              </a:rPr>
              <a:t>STORE_FAST edad</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500">
              <a:solidFill>
                <a:srgbClr val="0000FF"/>
              </a:solidFill>
              <a:latin typeface="Courier New"/>
              <a:ea typeface="Courier New"/>
              <a:cs typeface="Courier New"/>
              <a:sym typeface="Courier New"/>
            </a:endParaRPr>
          </a:p>
          <a:p>
            <a:pPr indent="-311150" lvl="0" marL="457200" rtl="0" algn="l">
              <a:lnSpc>
                <a:spcPct val="150000"/>
              </a:lnSpc>
              <a:spcBef>
                <a:spcPts val="0"/>
              </a:spcBef>
              <a:spcAft>
                <a:spcPts val="0"/>
              </a:spcAft>
              <a:buSzPts val="1300"/>
              <a:buChar char="●"/>
            </a:pPr>
            <a:r>
              <a:rPr lang="es"/>
              <a:t>Este bytecode es ejecutado por una </a:t>
            </a:r>
            <a:r>
              <a:rPr b="1" lang="es"/>
              <a:t>máquina</a:t>
            </a:r>
            <a:r>
              <a:rPr b="1" lang="es"/>
              <a:t> virtual </a:t>
            </a:r>
            <a:r>
              <a:rPr b="1" lang="es"/>
              <a:t>específica</a:t>
            </a:r>
            <a:r>
              <a:rPr b="1" lang="es"/>
              <a:t> para una arquitectura</a:t>
            </a:r>
            <a:r>
              <a:rPr lang="es"/>
              <a:t>.</a:t>
            </a:r>
            <a:endParaRPr b="1" sz="15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i="1"/>
          </a:p>
          <a:p>
            <a:pPr indent="0" lvl="0" marL="0" rtl="0" algn="l">
              <a:lnSpc>
                <a:spcPct val="100000"/>
              </a:lnSpc>
              <a:spcBef>
                <a:spcPts val="0"/>
              </a:spcBef>
              <a:spcAft>
                <a:spcPts val="0"/>
              </a:spcAft>
              <a:buNone/>
            </a:pPr>
            <a:r>
              <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ph type="title"/>
          </p:nvPr>
        </p:nvSpPr>
        <p:spPr>
          <a:xfrm>
            <a:off x="830400" y="111300"/>
            <a:ext cx="7688400" cy="108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Trataré de que todo sea autocontenido, pero por favor recomiendo repasar…</a:t>
            </a:r>
            <a:endParaRPr/>
          </a:p>
        </p:txBody>
      </p:sp>
      <p:sp>
        <p:nvSpPr>
          <p:cNvPr id="231" name="Google Shape;231;p27"/>
          <p:cNvSpPr txBox="1"/>
          <p:nvPr>
            <p:ph idx="1" type="body"/>
          </p:nvPr>
        </p:nvSpPr>
        <p:spPr>
          <a:xfrm>
            <a:off x="729325" y="1237075"/>
            <a:ext cx="3774300" cy="31029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s"/>
              <a:t>Estructuras de Datos y Algoritmos</a:t>
            </a:r>
            <a:endParaRPr/>
          </a:p>
          <a:p>
            <a:pPr indent="0" lvl="0" marL="0" rtl="0" algn="l">
              <a:spcBef>
                <a:spcPts val="1200"/>
              </a:spcBef>
              <a:spcAft>
                <a:spcPts val="0"/>
              </a:spcAft>
              <a:buNone/>
            </a:pPr>
            <a:r>
              <a:rPr lang="es"/>
              <a:t>Comprender estas estructuras es fundamental para entender cómo los compiladores e intérpretes organizan la información.</a:t>
            </a:r>
            <a:endParaRPr/>
          </a:p>
          <a:p>
            <a:pPr indent="-298450" lvl="0" marL="457200" rtl="0" algn="l">
              <a:spcBef>
                <a:spcPts val="1200"/>
              </a:spcBef>
              <a:spcAft>
                <a:spcPts val="0"/>
              </a:spcAft>
              <a:buClr>
                <a:srgbClr val="000000"/>
              </a:buClr>
              <a:buSzPts val="1100"/>
              <a:buFont typeface="Arial"/>
              <a:buChar char="●"/>
            </a:pPr>
            <a:r>
              <a:rPr lang="es"/>
              <a:t>Árboles: Son esenciales para entender los Árboles de Sintaxis Abstracta (AST), que son la representación interna del código.</a:t>
            </a:r>
            <a:endParaRPr/>
          </a:p>
          <a:p>
            <a:pPr indent="-298450" lvl="0" marL="457200" rtl="0" algn="l">
              <a:spcBef>
                <a:spcPts val="0"/>
              </a:spcBef>
              <a:spcAft>
                <a:spcPts val="0"/>
              </a:spcAft>
              <a:buClr>
                <a:srgbClr val="000000"/>
              </a:buClr>
              <a:buSzPts val="1100"/>
              <a:buFont typeface="Arial"/>
              <a:buChar char="●"/>
            </a:pPr>
            <a:r>
              <a:rPr lang="es"/>
              <a:t>Pilas y Colas: Las pilas son cruciales para el funcionamiento de las máquinas virtuales y los analizadores sintácticos.</a:t>
            </a:r>
            <a:endParaRPr/>
          </a:p>
          <a:p>
            <a:pPr indent="-298450" lvl="0" marL="457200" rtl="0" algn="l">
              <a:spcBef>
                <a:spcPts val="0"/>
              </a:spcBef>
              <a:spcAft>
                <a:spcPts val="0"/>
              </a:spcAft>
              <a:buClr>
                <a:srgbClr val="000000"/>
              </a:buClr>
              <a:buSzPts val="1100"/>
              <a:buFont typeface="Arial"/>
              <a:buChar char="●"/>
            </a:pPr>
            <a:r>
              <a:rPr lang="es"/>
              <a:t>Listas Enlazadas: Son la base de muchas estructuras de datos dinámicas.</a:t>
            </a:r>
            <a:endParaRPr b="1">
              <a:solidFill>
                <a:srgbClr val="000000"/>
              </a:solidFill>
              <a:latin typeface="Arial"/>
              <a:ea typeface="Arial"/>
              <a:cs typeface="Arial"/>
              <a:sym typeface="Arial"/>
            </a:endParaRPr>
          </a:p>
        </p:txBody>
      </p:sp>
      <p:sp>
        <p:nvSpPr>
          <p:cNvPr id="232" name="Google Shape;232;p27"/>
          <p:cNvSpPr txBox="1"/>
          <p:nvPr>
            <p:ph idx="2" type="body"/>
          </p:nvPr>
        </p:nvSpPr>
        <p:spPr>
          <a:xfrm>
            <a:off x="4643600" y="1237075"/>
            <a:ext cx="3774300" cy="39063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s"/>
              <a:t>Matemáticas Discretas</a:t>
            </a:r>
            <a:endParaRPr/>
          </a:p>
          <a:p>
            <a:pPr indent="0" lvl="0" marL="0" rtl="0" algn="l">
              <a:spcBef>
                <a:spcPts val="1200"/>
              </a:spcBef>
              <a:spcAft>
                <a:spcPts val="0"/>
              </a:spcAft>
              <a:buNone/>
            </a:pPr>
            <a:r>
              <a:rPr lang="es"/>
              <a:t>La teoría de lenguajes es una rama de las matemáticas, por lo que una buena base matemática es vital.</a:t>
            </a:r>
            <a:endParaRPr/>
          </a:p>
          <a:p>
            <a:pPr indent="-298768" lvl="0" marL="457200" rtl="0" algn="l">
              <a:spcBef>
                <a:spcPts val="1200"/>
              </a:spcBef>
              <a:spcAft>
                <a:spcPts val="0"/>
              </a:spcAft>
              <a:buSzPct val="100000"/>
              <a:buChar char="●"/>
            </a:pPr>
            <a:r>
              <a:rPr lang="es"/>
              <a:t>Lógica Booleana: Necesaria para entender el funcionamiento de las expresiones lógicas y las estructuras de control.</a:t>
            </a:r>
            <a:endParaRPr/>
          </a:p>
          <a:p>
            <a:pPr indent="-298768" lvl="0" marL="457200" rtl="0" algn="l">
              <a:spcBef>
                <a:spcPts val="0"/>
              </a:spcBef>
              <a:spcAft>
                <a:spcPts val="0"/>
              </a:spcAft>
              <a:buSzPct val="100000"/>
              <a:buChar char="●"/>
            </a:pPr>
            <a:r>
              <a:rPr lang="es"/>
              <a:t>Teoría de Conjuntos y Relaciones: Los lenguajes formales y las gramáticas se definen en términos de conjuntos de símbolos y reglas de producción.</a:t>
            </a:r>
            <a:endParaRPr/>
          </a:p>
          <a:p>
            <a:pPr indent="-298768" lvl="0" marL="457200" rtl="0" algn="l">
              <a:spcBef>
                <a:spcPts val="0"/>
              </a:spcBef>
              <a:spcAft>
                <a:spcPts val="0"/>
              </a:spcAft>
              <a:buSzPct val="100000"/>
              <a:buChar char="●"/>
            </a:pPr>
            <a:r>
              <a:rPr lang="es"/>
              <a:t>Teoría de Grafos: Útil para representar el flujo de un programa, como en los grafos de flujo de control.</a:t>
            </a:r>
            <a:endParaRPr/>
          </a:p>
          <a:p>
            <a:pPr indent="-298768" lvl="0" marL="457200" rtl="0" algn="l">
              <a:spcBef>
                <a:spcPts val="0"/>
              </a:spcBef>
              <a:spcAft>
                <a:spcPts val="0"/>
              </a:spcAft>
              <a:buSzPct val="100000"/>
              <a:buChar char="●"/>
            </a:pPr>
            <a:r>
              <a:rPr lang="es"/>
              <a:t>Comprender la relación entre los sistemas de numeración más comunes en la computación:</a:t>
            </a:r>
            <a:endParaRPr/>
          </a:p>
          <a:p>
            <a:pPr indent="-287973" lvl="1" marL="914400" rtl="0" algn="l">
              <a:spcBef>
                <a:spcPts val="0"/>
              </a:spcBef>
              <a:spcAft>
                <a:spcPts val="0"/>
              </a:spcAft>
              <a:buSzPct val="100000"/>
              <a:buChar char="○"/>
            </a:pPr>
            <a:r>
              <a:rPr lang="es"/>
              <a:t>Decimal (base 10): El sistema que usamos a diario.</a:t>
            </a:r>
            <a:endParaRPr/>
          </a:p>
          <a:p>
            <a:pPr indent="-287973" lvl="1" marL="914400" rtl="0" algn="l">
              <a:spcBef>
                <a:spcPts val="0"/>
              </a:spcBef>
              <a:spcAft>
                <a:spcPts val="0"/>
              </a:spcAft>
              <a:buSzPct val="100000"/>
              <a:buChar char="○"/>
            </a:pPr>
            <a:r>
              <a:rPr lang="es"/>
              <a:t>Binario (base 2): El sistema que usan los computadores para almacenar y procesar toda la información, utilizando solo 0s y 1s.</a:t>
            </a:r>
            <a:endParaRPr/>
          </a:p>
          <a:p>
            <a:pPr indent="-287973" lvl="1" marL="914400" rtl="0" algn="l">
              <a:spcBef>
                <a:spcPts val="0"/>
              </a:spcBef>
              <a:spcAft>
                <a:spcPts val="0"/>
              </a:spcAft>
              <a:buSzPct val="100000"/>
              <a:buChar char="○"/>
            </a:pPr>
            <a:r>
              <a:rPr lang="es"/>
              <a:t>Hexadecimal (base 16): Un sistema que se utiliza como una notación compacta y fácil de leer para representar valores binarios largos.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Ahora revisemos las respuestas de la conducta de entrada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9"/>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3200"/>
              <a:t>4. </a:t>
            </a:r>
            <a:r>
              <a:rPr lang="es" sz="3200"/>
              <a:t>Aceptación de Compromiso de Integridad Académica y Uso Ético de la Inteligencia Artificial. </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t/>
            </a:r>
            <a:endParaRPr sz="3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Plan de Temas, Módulo 1</a:t>
            </a:r>
            <a:endParaRPr/>
          </a:p>
        </p:txBody>
      </p:sp>
      <p:sp>
        <p:nvSpPr>
          <p:cNvPr id="248" name="Google Shape;248;p30"/>
          <p:cNvSpPr txBox="1"/>
          <p:nvPr>
            <p:ph idx="1" type="body"/>
          </p:nvPr>
        </p:nvSpPr>
        <p:spPr>
          <a:xfrm>
            <a:off x="729450" y="1237075"/>
            <a:ext cx="46023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s"/>
              <a:t>Módulo</a:t>
            </a:r>
            <a:r>
              <a:rPr b="1" lang="es"/>
              <a:t> </a:t>
            </a:r>
            <a:r>
              <a:rPr b="1" lang="es"/>
              <a:t>1: Fundamentos Teóricos </a:t>
            </a:r>
            <a:endParaRPr b="1"/>
          </a:p>
          <a:p>
            <a:pPr indent="0" lvl="0" marL="0" rtl="0" algn="l">
              <a:lnSpc>
                <a:spcPct val="150000"/>
              </a:lnSpc>
              <a:spcBef>
                <a:spcPts val="1200"/>
              </a:spcBef>
              <a:spcAft>
                <a:spcPts val="0"/>
              </a:spcAft>
              <a:buNone/>
            </a:pPr>
            <a:r>
              <a:rPr lang="es"/>
              <a:t>Estableceremos  las bases matemáticas y formales de la asignatura.</a:t>
            </a:r>
            <a:endParaRPr/>
          </a:p>
          <a:p>
            <a:pPr indent="-311150" lvl="0" marL="457200" rtl="0" algn="l">
              <a:lnSpc>
                <a:spcPct val="150000"/>
              </a:lnSpc>
              <a:spcBef>
                <a:spcPts val="1200"/>
              </a:spcBef>
              <a:spcAft>
                <a:spcPts val="0"/>
              </a:spcAft>
              <a:buSzPts val="1300"/>
              <a:buChar char="●"/>
            </a:pPr>
            <a:r>
              <a:rPr b="1" lang="es"/>
              <a:t>Lenguajes Formales y Teoría de Autómatas: </a:t>
            </a:r>
            <a:r>
              <a:rPr lang="es"/>
              <a:t>Una introducción a la jerarquía de Chomsky, expresiones regulares, gramáticas libres de contexto y los autómatas de pila.</a:t>
            </a:r>
            <a:endParaRPr/>
          </a:p>
          <a:p>
            <a:pPr indent="0" lvl="0" marL="457200" rtl="0" algn="l">
              <a:spcBef>
                <a:spcPts val="1200"/>
              </a:spcBef>
              <a:spcAft>
                <a:spcPts val="1200"/>
              </a:spcAft>
              <a:buNone/>
            </a:pPr>
            <a:r>
              <a:t/>
            </a:r>
            <a:endParaRPr/>
          </a:p>
        </p:txBody>
      </p:sp>
      <p:pic>
        <p:nvPicPr>
          <p:cNvPr id="249" name="Google Shape;249;p30"/>
          <p:cNvPicPr preferRelativeResize="0"/>
          <p:nvPr/>
        </p:nvPicPr>
        <p:blipFill rotWithShape="1">
          <a:blip r:embed="rId3">
            <a:alphaModFix/>
          </a:blip>
          <a:srcRect b="0" l="0" r="0" t="0"/>
          <a:stretch/>
        </p:blipFill>
        <p:spPr>
          <a:xfrm>
            <a:off x="5092175" y="155749"/>
            <a:ext cx="3907326" cy="49213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Plan de Temas, Módulos 2 y 3</a:t>
            </a:r>
            <a:endParaRPr/>
          </a:p>
        </p:txBody>
      </p:sp>
      <p:sp>
        <p:nvSpPr>
          <p:cNvPr id="255" name="Google Shape;255;p31"/>
          <p:cNvSpPr txBox="1"/>
          <p:nvPr>
            <p:ph idx="1" type="body"/>
          </p:nvPr>
        </p:nvSpPr>
        <p:spPr>
          <a:xfrm>
            <a:off x="237600" y="1237075"/>
            <a:ext cx="4266000" cy="374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
              <a:t>Módulo 2: El Modelo del Lenguaje (Abstracción)</a:t>
            </a:r>
            <a:endParaRPr b="1"/>
          </a:p>
          <a:p>
            <a:pPr indent="0" lvl="0" marL="0" rtl="0" algn="l">
              <a:spcBef>
                <a:spcPts val="1200"/>
              </a:spcBef>
              <a:spcAft>
                <a:spcPts val="0"/>
              </a:spcAft>
              <a:buNone/>
            </a:pPr>
            <a:r>
              <a:rPr lang="es"/>
              <a:t>Se enfoca en cómo los lenguajes permiten construir programas complejos a partir de bloques simples.</a:t>
            </a:r>
            <a:endParaRPr/>
          </a:p>
          <a:p>
            <a:pPr indent="-311150" lvl="0" marL="457200" rtl="0" algn="l">
              <a:spcBef>
                <a:spcPts val="1200"/>
              </a:spcBef>
              <a:spcAft>
                <a:spcPts val="0"/>
              </a:spcAft>
              <a:buSzPts val="1300"/>
              <a:buChar char="●"/>
            </a:pPr>
            <a:r>
              <a:rPr b="1" lang="es"/>
              <a:t>Paradigmas de Programación:</a:t>
            </a:r>
            <a:r>
              <a:rPr lang="es"/>
              <a:t> Una visión general de los diferentes enfoques para escribir código (imperativo, funcional, orientado a obje</a:t>
            </a:r>
            <a:r>
              <a:rPr lang="es"/>
              <a:t>t</a:t>
            </a:r>
            <a:r>
              <a:rPr lang="es"/>
              <a:t>os, etc.).</a:t>
            </a:r>
            <a:endParaRPr/>
          </a:p>
          <a:p>
            <a:pPr indent="-311150" lvl="0" marL="457200" rtl="0" algn="l">
              <a:spcBef>
                <a:spcPts val="0"/>
              </a:spcBef>
              <a:spcAft>
                <a:spcPts val="0"/>
              </a:spcAft>
              <a:buSzPts val="1300"/>
              <a:buChar char="●"/>
            </a:pPr>
            <a:r>
              <a:rPr b="1" lang="es"/>
              <a:t>Creación de Abstracciones con Procedimientos</a:t>
            </a:r>
            <a:r>
              <a:rPr lang="es"/>
              <a:t>: El rol de las funciones y los procedimientos como unidades de abstracción.</a:t>
            </a:r>
            <a:endParaRPr/>
          </a:p>
          <a:p>
            <a:pPr indent="-311150" lvl="0" marL="457200" rtl="0" algn="l">
              <a:spcBef>
                <a:spcPts val="0"/>
              </a:spcBef>
              <a:spcAft>
                <a:spcPts val="0"/>
              </a:spcAft>
              <a:buSzPts val="1300"/>
              <a:buChar char="●"/>
            </a:pPr>
            <a:r>
              <a:rPr b="1" lang="es"/>
              <a:t>Creación de Abstracciones con Datos: </a:t>
            </a:r>
            <a:r>
              <a:rPr lang="es"/>
              <a:t>La importancia de los tipos de datos a</a:t>
            </a:r>
            <a:r>
              <a:rPr lang="es"/>
              <a:t>b</a:t>
            </a:r>
            <a:r>
              <a:rPr lang="es"/>
              <a:t>stractos y las estructuras para modelar la información.</a:t>
            </a:r>
            <a:endParaRPr/>
          </a:p>
          <a:p>
            <a:pPr indent="-311150" lvl="0" marL="457200" rtl="0" algn="l">
              <a:spcBef>
                <a:spcPts val="0"/>
              </a:spcBef>
              <a:spcAft>
                <a:spcPts val="0"/>
              </a:spcAft>
              <a:buSzPts val="1300"/>
              <a:buChar char="●"/>
            </a:pPr>
            <a:r>
              <a:rPr b="1" lang="es"/>
              <a:t>Modularidad, Objetos y Estado:</a:t>
            </a:r>
            <a:r>
              <a:rPr lang="es"/>
              <a:t> Cómo los lenguajes de programación modernos manejan la organización de código, las interacciones entre objetos y el estado de un programa.</a:t>
            </a:r>
            <a:endParaRPr/>
          </a:p>
        </p:txBody>
      </p:sp>
      <p:sp>
        <p:nvSpPr>
          <p:cNvPr id="256" name="Google Shape;256;p31"/>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a:t>Módulo</a:t>
            </a:r>
            <a:r>
              <a:rPr b="1" lang="es"/>
              <a:t> </a:t>
            </a:r>
            <a:r>
              <a:rPr b="1" lang="es"/>
              <a:t>3: El Hardware y la Ejecución de Bajo Nivel</a:t>
            </a:r>
            <a:endParaRPr b="1"/>
          </a:p>
          <a:p>
            <a:pPr indent="0" lvl="0" marL="0" rtl="0" algn="l">
              <a:spcBef>
                <a:spcPts val="1200"/>
              </a:spcBef>
              <a:spcAft>
                <a:spcPts val="0"/>
              </a:spcAft>
              <a:buNone/>
            </a:pPr>
            <a:r>
              <a:rPr lang="es"/>
              <a:t>Aquí se exploran los cimientos físicos de la computación y se conecta la abstracción con la realidad del hardware.</a:t>
            </a:r>
            <a:endParaRPr/>
          </a:p>
          <a:p>
            <a:pPr indent="-311150" lvl="0" marL="457200" rtl="0" algn="l">
              <a:spcBef>
                <a:spcPts val="1200"/>
              </a:spcBef>
              <a:spcAft>
                <a:spcPts val="0"/>
              </a:spcAft>
              <a:buSzPts val="1300"/>
              <a:buChar char="●"/>
            </a:pPr>
            <a:r>
              <a:rPr b="1" lang="es"/>
              <a:t>Fundamentos de Lenguaje Ensamblador: </a:t>
            </a:r>
            <a:r>
              <a:rPr lang="es"/>
              <a:t>Una introducción al lenguaje de bajo nivel, registros y el flujo de control del CPU.</a:t>
            </a:r>
            <a:endParaRPr/>
          </a:p>
          <a:p>
            <a:pPr indent="-311150" lvl="0" marL="457200" rtl="0" algn="l">
              <a:spcBef>
                <a:spcPts val="0"/>
              </a:spcBef>
              <a:spcAft>
                <a:spcPts val="0"/>
              </a:spcAft>
              <a:buSzPts val="1300"/>
              <a:buChar char="●"/>
            </a:pPr>
            <a:r>
              <a:rPr b="1" lang="es"/>
              <a:t>Cálculos con Máquinas de Registros:</a:t>
            </a:r>
            <a:r>
              <a:rPr lang="es"/>
              <a:t> El modelo teórico de un computador que ejecuta instrucciones, conectando la teoría con el hardware.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Plan de Temas, Módulo 4</a:t>
            </a:r>
            <a:endParaRPr/>
          </a:p>
        </p:txBody>
      </p:sp>
      <p:sp>
        <p:nvSpPr>
          <p:cNvPr id="262" name="Google Shape;262;p32"/>
          <p:cNvSpPr txBox="1"/>
          <p:nvPr>
            <p:ph idx="1" type="body"/>
          </p:nvPr>
        </p:nvSpPr>
        <p:spPr>
          <a:xfrm>
            <a:off x="729325" y="1237075"/>
            <a:ext cx="3774300" cy="370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
              <a:t>Fase 4: Desafíos Modernos y Abstracción Metalingüística</a:t>
            </a:r>
            <a:endParaRPr b="1"/>
          </a:p>
          <a:p>
            <a:pPr indent="0" lvl="0" marL="0" rtl="0" algn="l">
              <a:spcBef>
                <a:spcPts val="1200"/>
              </a:spcBef>
              <a:spcAft>
                <a:spcPts val="0"/>
              </a:spcAft>
              <a:buNone/>
            </a:pPr>
            <a:r>
              <a:rPr lang="es"/>
              <a:t>Esta fase final es la culminación del curso, donde los estudiantes aplican todo lo aprendido para entender el diseño de los lenguajes.</a:t>
            </a:r>
            <a:endParaRPr/>
          </a:p>
          <a:p>
            <a:pPr indent="-311150" lvl="0" marL="457200" rtl="0" algn="l">
              <a:spcBef>
                <a:spcPts val="1200"/>
              </a:spcBef>
              <a:spcAft>
                <a:spcPts val="0"/>
              </a:spcAft>
              <a:buSzPts val="1300"/>
              <a:buChar char="●"/>
            </a:pPr>
            <a:r>
              <a:rPr b="1" lang="es"/>
              <a:t>Sistemas de Tipos:</a:t>
            </a:r>
            <a:r>
              <a:rPr lang="es"/>
              <a:t> Un estudio más profundo de cómo los lenguajes garantizan la corrección de los programas a través de sus sistemas de tipos.</a:t>
            </a:r>
            <a:endParaRPr/>
          </a:p>
          <a:p>
            <a:pPr indent="-311150" lvl="0" marL="457200" rtl="0" algn="l">
              <a:spcBef>
                <a:spcPts val="0"/>
              </a:spcBef>
              <a:spcAft>
                <a:spcPts val="0"/>
              </a:spcAft>
              <a:buSzPts val="1300"/>
              <a:buChar char="●"/>
            </a:pPr>
            <a:r>
              <a:rPr b="1" lang="es"/>
              <a:t>Concurrencia y Paralelismo: </a:t>
            </a:r>
            <a:r>
              <a:rPr lang="es"/>
              <a:t>Los modelos de programación para manejar tareas simultáneas, un concepto fundamental en la computación actual.</a:t>
            </a:r>
            <a:endParaRPr/>
          </a:p>
          <a:p>
            <a:pPr indent="-311150" lvl="0" marL="457200" rtl="0" algn="l">
              <a:spcBef>
                <a:spcPts val="0"/>
              </a:spcBef>
              <a:spcAft>
                <a:spcPts val="0"/>
              </a:spcAft>
              <a:buSzPts val="1300"/>
              <a:buChar char="●"/>
            </a:pPr>
            <a:r>
              <a:rPr b="1" lang="es"/>
              <a:t>Abstracción Metalingüística: </a:t>
            </a:r>
            <a:r>
              <a:rPr lang="es"/>
              <a:t>La fase final y más importante, donde se entiende que el mayor nivel de abstracción es la creación de un nuevo lenguaje y su intérprete.</a:t>
            </a:r>
            <a:endParaRPr/>
          </a:p>
        </p:txBody>
      </p:sp>
      <p:sp>
        <p:nvSpPr>
          <p:cNvPr id="263" name="Google Shape;263;p32"/>
          <p:cNvSpPr txBox="1"/>
          <p:nvPr>
            <p:ph idx="2" type="body"/>
          </p:nvPr>
        </p:nvSpPr>
        <p:spPr>
          <a:xfrm>
            <a:off x="5174900" y="100600"/>
            <a:ext cx="3774300" cy="4998000"/>
          </a:xfrm>
          <a:prstGeom prst="rect">
            <a:avLst/>
          </a:prstGeom>
        </p:spPr>
        <p:txBody>
          <a:bodyPr anchorCtr="0" anchor="t" bIns="91425" lIns="91425" spcFirstLastPara="1" rIns="91425" wrap="square" tIns="91425">
            <a:normAutofit fontScale="77500" lnSpcReduction="10000"/>
          </a:bodyPr>
          <a:lstStyle/>
          <a:p>
            <a:pPr indent="0" lvl="0" marL="0" rtl="0" algn="l">
              <a:spcBef>
                <a:spcPts val="1200"/>
              </a:spcBef>
              <a:spcAft>
                <a:spcPts val="0"/>
              </a:spcAft>
              <a:buNone/>
            </a:pPr>
            <a:r>
              <a:rPr b="1" lang="es" sz="1729"/>
              <a:t>Estas herramientas son para escribir, compilar y ejecutar código.</a:t>
            </a:r>
            <a:endParaRPr b="1" sz="1729"/>
          </a:p>
          <a:p>
            <a:pPr indent="-282734" lvl="0" marL="457200" rtl="0" algn="l">
              <a:spcBef>
                <a:spcPts val="1200"/>
              </a:spcBef>
              <a:spcAft>
                <a:spcPts val="0"/>
              </a:spcAft>
              <a:buClr>
                <a:srgbClr val="000000"/>
              </a:buClr>
              <a:buSzPct val="84615"/>
              <a:buFont typeface="Arial"/>
              <a:buChar char="●"/>
            </a:pPr>
            <a:r>
              <a:rPr b="1" i="1" lang="es"/>
              <a:t>MinGW / GCC: </a:t>
            </a:r>
            <a:r>
              <a:rPr lang="es"/>
              <a:t>Imprescindible para el desarrollo en C/C++. Es un compilador y enlazador que es compatible con sistemas más antiguos como Windows XP. </a:t>
            </a:r>
            <a:endParaRPr/>
          </a:p>
          <a:p>
            <a:pPr indent="-282734" lvl="0" marL="457200" rtl="0" algn="l">
              <a:spcBef>
                <a:spcPts val="0"/>
              </a:spcBef>
              <a:spcAft>
                <a:spcPts val="0"/>
              </a:spcAft>
              <a:buClr>
                <a:srgbClr val="000000"/>
              </a:buClr>
              <a:buSzPct val="84615"/>
              <a:buFont typeface="Arial"/>
              <a:buChar char="●"/>
            </a:pPr>
            <a:r>
              <a:rPr b="1" lang="es"/>
              <a:t>NASM</a:t>
            </a:r>
            <a:r>
              <a:rPr lang="es"/>
              <a:t>: Un ensamblador gratuito y multiplataforma. Es la herramienta que traduce el código ensamblador x86-64 a código de máquina.</a:t>
            </a:r>
            <a:endParaRPr/>
          </a:p>
          <a:p>
            <a:pPr indent="-282734" lvl="0" marL="457200" rtl="0" algn="l">
              <a:spcBef>
                <a:spcPts val="0"/>
              </a:spcBef>
              <a:spcAft>
                <a:spcPts val="0"/>
              </a:spcAft>
              <a:buClr>
                <a:srgbClr val="000000"/>
              </a:buClr>
              <a:buSzPct val="84615"/>
              <a:buFont typeface="Arial"/>
              <a:buChar char="●"/>
            </a:pPr>
            <a:r>
              <a:rPr b="1" lang="es"/>
              <a:t>Dev-C++:</a:t>
            </a:r>
            <a:r>
              <a:rPr lang="es"/>
              <a:t> Un entorno de desarrollo integrado (IDE) ligero y antiguo que es compatible con Windows XP, lo que lo hace útil para la actividad de la máquina AMD Athlon 64.</a:t>
            </a:r>
            <a:endParaRPr/>
          </a:p>
          <a:p>
            <a:pPr indent="0" lvl="0" marL="0" rtl="0" algn="l">
              <a:spcBef>
                <a:spcPts val="1200"/>
              </a:spcBef>
              <a:spcAft>
                <a:spcPts val="0"/>
              </a:spcAft>
              <a:buNone/>
            </a:pPr>
            <a:r>
              <a:rPr lang="es"/>
              <a:t>Estas herramientas te ayudarán a visualizar y entender los conceptos teóricos del curso.</a:t>
            </a:r>
            <a:endParaRPr/>
          </a:p>
          <a:p>
            <a:pPr indent="-282734" lvl="0" marL="457200" rtl="0" algn="l">
              <a:spcBef>
                <a:spcPts val="1200"/>
              </a:spcBef>
              <a:spcAft>
                <a:spcPts val="0"/>
              </a:spcAft>
              <a:buClr>
                <a:srgbClr val="000000"/>
              </a:buClr>
              <a:buSzPct val="84615"/>
              <a:buFont typeface="Arial"/>
              <a:buChar char="●"/>
            </a:pPr>
            <a:r>
              <a:rPr b="1" lang="es"/>
              <a:t>JFLAP</a:t>
            </a:r>
            <a:r>
              <a:rPr lang="es"/>
              <a:t>: Un software educativo para la teoría de lenguajes formales y autómatas. Permite construir y simular máquinas de Turing, autómatas finitos y gramáticas.</a:t>
            </a:r>
            <a:endParaRPr/>
          </a:p>
          <a:p>
            <a:pPr indent="-282734" lvl="0" marL="457200" rtl="0" algn="l">
              <a:spcBef>
                <a:spcPts val="0"/>
              </a:spcBef>
              <a:spcAft>
                <a:spcPts val="0"/>
              </a:spcAft>
              <a:buClr>
                <a:srgbClr val="000000"/>
              </a:buClr>
              <a:buSzPct val="84615"/>
              <a:buFont typeface="Arial"/>
              <a:buChar char="●"/>
            </a:pPr>
            <a:r>
              <a:rPr b="1" lang="es"/>
              <a:t>ANTLR</a:t>
            </a:r>
            <a:r>
              <a:rPr lang="es"/>
              <a:t>: Un potente generador de analizadores sintácticos. Permite definir una gramática y automáticamente genera el código del parser en varios lenguajes.</a:t>
            </a:r>
            <a:endParaRPr/>
          </a:p>
          <a:p>
            <a:pPr indent="-282734" lvl="0" marL="457200" rtl="0" algn="l">
              <a:spcBef>
                <a:spcPts val="0"/>
              </a:spcBef>
              <a:spcAft>
                <a:spcPts val="0"/>
              </a:spcAft>
              <a:buClr>
                <a:srgbClr val="000000"/>
              </a:buClr>
              <a:buSzPct val="84615"/>
              <a:buFont typeface="Arial"/>
              <a:buChar char="●"/>
            </a:pPr>
            <a:r>
              <a:rPr b="1" lang="es"/>
              <a:t>AST Explorer</a:t>
            </a:r>
            <a:r>
              <a:rPr lang="es"/>
              <a:t>: Una herramienta web que te permite pegar código en diferentes lenguajes y ver instantáneamente su Árbol de Sintaxis Abstracta (AST), lo que hace que el concepto del parser sea muy claro.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Evaluación</a:t>
            </a:r>
            <a:endParaRPr/>
          </a:p>
        </p:txBody>
      </p:sp>
      <p:sp>
        <p:nvSpPr>
          <p:cNvPr id="269" name="Google Shape;269;p33"/>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AutoNum type="arabicPeriod"/>
            </a:pPr>
            <a:r>
              <a:rPr lang="es"/>
              <a:t>Proyecto Práctico (40%) en equipos de a 4, una vez conformados se darán más detalles.</a:t>
            </a:r>
            <a:endParaRPr/>
          </a:p>
          <a:p>
            <a:pPr indent="-311150" lvl="0" marL="457200" rtl="0" algn="l">
              <a:lnSpc>
                <a:spcPct val="150000"/>
              </a:lnSpc>
              <a:spcBef>
                <a:spcPts val="0"/>
              </a:spcBef>
              <a:spcAft>
                <a:spcPts val="0"/>
              </a:spcAft>
              <a:buSzPts val="1300"/>
              <a:buAutoNum type="arabicPeriod"/>
            </a:pPr>
            <a:r>
              <a:rPr lang="es"/>
              <a:t>Presentación de un Tema por estudiante (10%) </a:t>
            </a:r>
            <a:endParaRPr/>
          </a:p>
          <a:p>
            <a:pPr indent="-311150" lvl="0" marL="457200" rtl="0" algn="l">
              <a:lnSpc>
                <a:spcPct val="150000"/>
              </a:lnSpc>
              <a:spcBef>
                <a:spcPts val="0"/>
              </a:spcBef>
              <a:spcAft>
                <a:spcPts val="0"/>
              </a:spcAft>
              <a:buSzPts val="1300"/>
              <a:buAutoNum type="arabicPeriod"/>
            </a:pPr>
            <a:r>
              <a:rPr lang="es"/>
              <a:t>Examen final presencial (25%) en papel sin uso de herramientas tecnológicas, implementación abstracta de un compilador con definición de metadatos. Ejemplo: Real estatura = 1.6 metros humano 2025/10/31 10:31;</a:t>
            </a:r>
            <a:endParaRPr/>
          </a:p>
          <a:p>
            <a:pPr indent="-311150" lvl="0" marL="457200" rtl="0" algn="l">
              <a:lnSpc>
                <a:spcPct val="150000"/>
              </a:lnSpc>
              <a:spcBef>
                <a:spcPts val="0"/>
              </a:spcBef>
              <a:spcAft>
                <a:spcPts val="0"/>
              </a:spcAft>
              <a:buSzPts val="1300"/>
              <a:buAutoNum type="arabicPeriod"/>
            </a:pPr>
            <a:r>
              <a:rPr lang="es"/>
              <a:t>Actividades de Seguimiento (25%) Se envían Los Fines de Semana, para entregar máximo al siguiente viernes a media noche.</a:t>
            </a:r>
            <a:endParaRPr/>
          </a:p>
          <a:p>
            <a:pPr indent="0" lvl="0" marL="457200" rtl="0" algn="l">
              <a:lnSpc>
                <a:spcPct val="150000"/>
              </a:lnSpc>
              <a:spcBef>
                <a:spcPts val="1200"/>
              </a:spcBef>
              <a:spcAft>
                <a:spcPts val="1200"/>
              </a:spcAft>
              <a:buNone/>
            </a:pPr>
            <a:r>
              <a:rPr b="1" lang="es">
                <a:solidFill>
                  <a:srgbClr val="FF0000"/>
                </a:solidFill>
              </a:rPr>
              <a:t>La asistencia cuenta, </a:t>
            </a:r>
            <a:r>
              <a:rPr lang="es"/>
              <a:t>y es causal de pérdida cuando la </a:t>
            </a:r>
            <a:r>
              <a:rPr lang="es"/>
              <a:t>inasistencia</a:t>
            </a:r>
            <a:r>
              <a:rPr lang="es"/>
              <a:t> es superior al 20%</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5" name="Google Shape;275;p34"/>
          <p:cNvSpPr txBox="1"/>
          <p:nvPr>
            <p:ph idx="1" type="body"/>
          </p:nvPr>
        </p:nvSpPr>
        <p:spPr>
          <a:xfrm>
            <a:off x="729450" y="1237075"/>
            <a:ext cx="7688700" cy="3747300"/>
          </a:xfrm>
          <a:prstGeom prst="rect">
            <a:avLst/>
          </a:prstGeom>
        </p:spPr>
        <p:txBody>
          <a:bodyPr anchorCtr="0" anchor="t" bIns="91425" lIns="91425" spcFirstLastPara="1" rIns="91425" wrap="square" tIns="91425">
            <a:normAutofit/>
          </a:bodyPr>
          <a:lstStyle/>
          <a:p>
            <a:pPr indent="0" lvl="0" marL="0" rtl="0" algn="l">
              <a:lnSpc>
                <a:spcPct val="125000"/>
              </a:lnSpc>
              <a:spcBef>
                <a:spcPts val="0"/>
              </a:spcBef>
              <a:spcAft>
                <a:spcPts val="0"/>
              </a:spcAft>
              <a:buNone/>
            </a:pPr>
            <a:r>
              <a:rPr b="1" lang="es" sz="1200">
                <a:solidFill>
                  <a:srgbClr val="0F1114"/>
                </a:solidFill>
                <a:highlight>
                  <a:srgbClr val="FFFFFF"/>
                </a:highlight>
                <a:latin typeface="Arial"/>
                <a:ea typeface="Arial"/>
                <a:cs typeface="Arial"/>
                <a:sym typeface="Arial"/>
              </a:rPr>
              <a:t>Informática: Programar con un propósito</a:t>
            </a:r>
            <a:endParaRPr b="1" sz="1200">
              <a:solidFill>
                <a:srgbClr val="0F1114"/>
              </a:solidFill>
              <a:highlight>
                <a:srgbClr val="FFFFFF"/>
              </a:highlight>
              <a:latin typeface="Arial"/>
              <a:ea typeface="Arial"/>
              <a:cs typeface="Arial"/>
              <a:sym typeface="Arial"/>
            </a:endParaRPr>
          </a:p>
          <a:p>
            <a:pPr indent="0" lvl="0" marL="0" rtl="0" algn="l">
              <a:lnSpc>
                <a:spcPct val="150000"/>
              </a:lnSpc>
              <a:spcBef>
                <a:spcPts val="0"/>
              </a:spcBef>
              <a:spcAft>
                <a:spcPts val="0"/>
              </a:spcAft>
              <a:buNone/>
            </a:pPr>
            <a:r>
              <a:rPr lang="es" sz="1200">
                <a:solidFill>
                  <a:srgbClr val="5B6780"/>
                </a:solidFill>
                <a:highlight>
                  <a:srgbClr val="FFFFFF"/>
                </a:highlight>
                <a:latin typeface="Arial"/>
                <a:ea typeface="Arial"/>
                <a:cs typeface="Arial"/>
                <a:sym typeface="Arial"/>
              </a:rPr>
              <a:t>Princeton University</a:t>
            </a:r>
            <a:endParaRPr sz="1200">
              <a:solidFill>
                <a:srgbClr val="5B6780"/>
              </a:solidFill>
              <a:highlight>
                <a:srgbClr val="FFFFFF"/>
              </a:highlight>
              <a:latin typeface="Arial"/>
              <a:ea typeface="Arial"/>
              <a:cs typeface="Arial"/>
              <a:sym typeface="Arial"/>
            </a:endParaRPr>
          </a:p>
          <a:p>
            <a:pPr indent="0" lvl="0" marL="0" rtl="0" algn="l">
              <a:spcBef>
                <a:spcPts val="0"/>
              </a:spcBef>
              <a:spcAft>
                <a:spcPts val="0"/>
              </a:spcAft>
              <a:buNone/>
            </a:pPr>
            <a:r>
              <a:rPr lang="es" u="sng">
                <a:solidFill>
                  <a:schemeClr val="hlink"/>
                </a:solidFill>
                <a:hlinkClick r:id="rId3"/>
              </a:rPr>
              <a:t>https://www.coursera.org/programs/coursera-para-la-universidad-nacional-de-colombia-ji3sj/learn/cs-programming-java?fromClip=sfc_page_course_link~VdN6m</a:t>
            </a:r>
            <a:endParaRPr/>
          </a:p>
          <a:p>
            <a:pPr indent="0" lvl="0" marL="0" rtl="0" algn="l">
              <a:spcBef>
                <a:spcPts val="1200"/>
              </a:spcBef>
              <a:spcAft>
                <a:spcPts val="0"/>
              </a:spcAft>
              <a:buNone/>
            </a:pPr>
            <a:r>
              <a:rPr lang="es"/>
              <a:t>Programa especializado: Explainable AI (XAI)</a:t>
            </a:r>
            <a:endParaRPr/>
          </a:p>
          <a:p>
            <a:pPr indent="0" lvl="0" marL="0" rtl="0" algn="l">
              <a:spcBef>
                <a:spcPts val="1200"/>
              </a:spcBef>
              <a:spcAft>
                <a:spcPts val="0"/>
              </a:spcAft>
              <a:buNone/>
            </a:pPr>
            <a:r>
              <a:rPr lang="es"/>
              <a:t>Build Ethical and Transparent AI Systems. Master skills in explainability techniques and ethical AI development to create trustworthy and transparent machine learning solutions.</a:t>
            </a:r>
            <a:endParaRPr/>
          </a:p>
          <a:p>
            <a:pPr indent="0" lvl="0" marL="0" rtl="0" algn="l">
              <a:spcBef>
                <a:spcPts val="1200"/>
              </a:spcBef>
              <a:spcAft>
                <a:spcPts val="0"/>
              </a:spcAft>
              <a:buNone/>
            </a:pPr>
            <a:r>
              <a:rPr lang="es" u="sng">
                <a:solidFill>
                  <a:schemeClr val="hlink"/>
                </a:solidFill>
                <a:hlinkClick r:id="rId4"/>
              </a:rPr>
              <a:t>https://www.coursera.org/programs/coursera-para-la-universidad-nacional-de-colombia-ji3sj/specializations/explainable-artificial-intelligence-xai?source=search</a:t>
            </a:r>
            <a:endParaRPr/>
          </a:p>
          <a:p>
            <a:pPr indent="0" lvl="0" marL="0" rtl="0" algn="l">
              <a:spcBef>
                <a:spcPts val="1200"/>
              </a:spcBef>
              <a:spcAft>
                <a:spcPts val="0"/>
              </a:spcAft>
              <a:buNone/>
            </a:pPr>
            <a:r>
              <a:rPr lang="es"/>
              <a:t>https://www.nesoacademy.org/cs/04-theory-of-computation</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776900" y="2921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Advertencia sobre el uso de Inteligencia Artificial (IA) en la Investigación</a:t>
            </a:r>
            <a:endParaRPr/>
          </a:p>
          <a:p>
            <a:pPr indent="0" lvl="0" marL="0" rtl="0" algn="l">
              <a:spcBef>
                <a:spcPts val="0"/>
              </a:spcBef>
              <a:spcAft>
                <a:spcPts val="0"/>
              </a:spcAft>
              <a:buNone/>
            </a:pPr>
            <a:r>
              <a:t/>
            </a:r>
            <a:endParaRPr/>
          </a:p>
        </p:txBody>
      </p:sp>
      <p:sp>
        <p:nvSpPr>
          <p:cNvPr id="281" name="Google Shape;281;p35"/>
          <p:cNvSpPr txBox="1"/>
          <p:nvPr>
            <p:ph idx="1" type="body"/>
          </p:nvPr>
        </p:nvSpPr>
        <p:spPr>
          <a:xfrm>
            <a:off x="729450" y="1237075"/>
            <a:ext cx="7688700" cy="310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El uso responsable de la Inteligencia Artificial es una habilidad fundamental en la era moderna. Para este Proyecto Teórico, las herramientas de IA como ChatGPT o Gemini son consideradas herramientas de asistencia, no un reemplazo para tu trabajo y pensamiento originales.</a:t>
            </a:r>
            <a:endParaRPr/>
          </a:p>
          <a:p>
            <a:pPr indent="0" lvl="0" marL="0" rtl="0" algn="l">
              <a:spcBef>
                <a:spcPts val="1200"/>
              </a:spcBef>
              <a:spcAft>
                <a:spcPts val="0"/>
              </a:spcAft>
              <a:buNone/>
            </a:pPr>
            <a:r>
              <a:rPr lang="es"/>
              <a:t>El objetivo de este proyecto es que tú, el estudiante, desarrolles tu capacidad de investigación, análisis y síntesis. Un uso irresponsable de la IA socavaría completamente este objetivo.</a:t>
            </a:r>
            <a:endParaRPr/>
          </a:p>
          <a:p>
            <a:pPr indent="0" lvl="0" marL="0" rtl="0" algn="l">
              <a:spcBef>
                <a:spcPts val="1200"/>
              </a:spcBef>
              <a:spcAft>
                <a:spcPts val="0"/>
              </a:spcAft>
              <a:buNone/>
            </a:pPr>
            <a:r>
              <a:rPr lang="es"/>
              <a:t>Usos Permitidos (Como Herramienta de Apoyo). Puedes utilizar herramientas de IA para los siguientes fines, siempre y cuando el resultado final sea verificado, analizado y redactado por ti:</a:t>
            </a:r>
            <a:endParaRPr/>
          </a:p>
          <a:p>
            <a:pPr indent="-304959" lvl="0" marL="457200" rtl="0" algn="l">
              <a:spcBef>
                <a:spcPts val="1200"/>
              </a:spcBef>
              <a:spcAft>
                <a:spcPts val="0"/>
              </a:spcAft>
              <a:buSzPct val="100000"/>
              <a:buChar char="●"/>
            </a:pPr>
            <a:r>
              <a:rPr lang="es"/>
              <a:t>Lluvia de ideas (Brainstorming): Para generar posibles enfoques para tu investigación.</a:t>
            </a:r>
            <a:endParaRPr/>
          </a:p>
          <a:p>
            <a:pPr indent="-304959" lvl="0" marL="457200" rtl="0" algn="l">
              <a:spcBef>
                <a:spcPts val="0"/>
              </a:spcBef>
              <a:spcAft>
                <a:spcPts val="0"/>
              </a:spcAft>
              <a:buSzPct val="100000"/>
              <a:buChar char="●"/>
            </a:pPr>
            <a:r>
              <a:rPr lang="es"/>
              <a:t>Clarificación de Conceptos: Para pedirle a la IA que te explique un tema complejo en términos más sencillos.</a:t>
            </a:r>
            <a:endParaRPr/>
          </a:p>
          <a:p>
            <a:pPr indent="-304959" lvl="0" marL="457200" rtl="0" algn="l">
              <a:spcBef>
                <a:spcPts val="0"/>
              </a:spcBef>
              <a:spcAft>
                <a:spcPts val="0"/>
              </a:spcAft>
              <a:buSzPct val="100000"/>
              <a:buChar char="●"/>
            </a:pPr>
            <a:r>
              <a:rPr lang="es"/>
              <a:t>Corrección de Estilo y Gramática: Para pulir y mejorar la redacción de tu informe, una vez que el contenido ha sido escrito por ti.</a:t>
            </a:r>
            <a:endParaRPr/>
          </a:p>
          <a:p>
            <a:pPr indent="-304959" lvl="0" marL="457200" rtl="0" algn="l">
              <a:spcBef>
                <a:spcPts val="0"/>
              </a:spcBef>
              <a:spcAft>
                <a:spcPts val="0"/>
              </a:spcAft>
              <a:buSzPct val="100000"/>
              <a:buChar char="●"/>
            </a:pPr>
            <a:r>
              <a:rPr lang="es"/>
              <a:t>Resúmenes: Para obtener un resumen rápido de un texto extenso, el cual luego deberás leer y analizar en profundidad.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Usos Prohibidos (Como Sustituto del Trabajo)</a:t>
            </a:r>
            <a:endParaRPr/>
          </a:p>
          <a:p>
            <a:pPr indent="0" lvl="0" marL="0" rtl="0" algn="l">
              <a:spcBef>
                <a:spcPts val="0"/>
              </a:spcBef>
              <a:spcAft>
                <a:spcPts val="0"/>
              </a:spcAft>
              <a:buNone/>
            </a:pPr>
            <a:r>
              <a:t/>
            </a:r>
            <a:endParaRPr/>
          </a:p>
        </p:txBody>
      </p:sp>
      <p:sp>
        <p:nvSpPr>
          <p:cNvPr id="287" name="Google Shape;287;p36"/>
          <p:cNvSpPr txBox="1"/>
          <p:nvPr>
            <p:ph idx="1" type="body"/>
          </p:nvPr>
        </p:nvSpPr>
        <p:spPr>
          <a:xfrm>
            <a:off x="729450" y="1237075"/>
            <a:ext cx="7688700" cy="3102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s"/>
              <a:t>Cualquiera de las siguientes acciones será considerada una violación de la integridad académica y puede tener consecuencias disciplinarias:</a:t>
            </a:r>
            <a:endParaRPr/>
          </a:p>
          <a:p>
            <a:pPr indent="-304959" lvl="0" marL="457200" rtl="0" algn="l">
              <a:spcBef>
                <a:spcPts val="1200"/>
              </a:spcBef>
              <a:spcAft>
                <a:spcPts val="0"/>
              </a:spcAft>
              <a:buSzPct val="100000"/>
              <a:buChar char="●"/>
            </a:pPr>
            <a:r>
              <a:rPr lang="es"/>
              <a:t>Generación de Contenido Original: No le pidas a la IA que escriba secciones, párrafos o el informe completo por ti.</a:t>
            </a:r>
            <a:endParaRPr/>
          </a:p>
          <a:p>
            <a:pPr indent="-304959" lvl="0" marL="457200" rtl="0" algn="l">
              <a:spcBef>
                <a:spcPts val="0"/>
              </a:spcBef>
              <a:spcAft>
                <a:spcPts val="0"/>
              </a:spcAft>
              <a:buSzPct val="100000"/>
              <a:buChar char="●"/>
            </a:pPr>
            <a:r>
              <a:rPr lang="es"/>
              <a:t>"Investigación Profunda" delegada: No le pidas a la IA que realice un análisis comparativo, que encuentre una conclusión o que genere una bibliografía por su cuenta. La IA no puede "investigar" por ti; solo puede sintetizar información existente en su modelo, lo cual no es un trabajo de investigación original.</a:t>
            </a:r>
            <a:endParaRPr/>
          </a:p>
          <a:p>
            <a:pPr indent="-304959" lvl="0" marL="457200" rtl="0" algn="l">
              <a:spcBef>
                <a:spcPts val="0"/>
              </a:spcBef>
              <a:spcAft>
                <a:spcPts val="0"/>
              </a:spcAft>
              <a:buSzPct val="100000"/>
              <a:buChar char="●"/>
            </a:pPr>
            <a:r>
              <a:rPr lang="es"/>
              <a:t>Presentar material sin verificación: No copies y pegues texto generado por la IA sin un análisis crítico y sin verificar la veracidad de la información. La IA puede inventar datos, fuentes y argumentos.</a:t>
            </a:r>
            <a:endParaRPr/>
          </a:p>
          <a:p>
            <a:pPr indent="-304959" lvl="0" marL="457200" rtl="0" algn="l">
              <a:spcBef>
                <a:spcPts val="0"/>
              </a:spcBef>
              <a:spcAft>
                <a:spcPts val="0"/>
              </a:spcAft>
              <a:buSzPct val="100000"/>
              <a:buChar char="●"/>
            </a:pPr>
            <a:r>
              <a:rPr lang="es"/>
              <a:t>Citar a la IA: Las herramientas de IA no son fuentes académicas. No las cites como si fueran una referencia bibliográfica.</a:t>
            </a:r>
            <a:endParaRPr/>
          </a:p>
          <a:p>
            <a:pPr indent="-304959" lvl="0" marL="457200" rtl="0" algn="l">
              <a:spcBef>
                <a:spcPts val="0"/>
              </a:spcBef>
              <a:spcAft>
                <a:spcPts val="0"/>
              </a:spcAft>
              <a:buSzPct val="100000"/>
              <a:buChar char="●"/>
            </a:pPr>
            <a:r>
              <a:rPr lang="es"/>
              <a:t>El propósito de este proyecto es que el conocimiento y las habilidades se construyan en ti. El uso de la IA es una herramienta para ayudarte en ese proceso, no para que lo haga por ti.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Sobre el Proyecto Práctico, Entrega 1</a:t>
            </a:r>
            <a:endParaRPr/>
          </a:p>
        </p:txBody>
      </p:sp>
      <p:sp>
        <p:nvSpPr>
          <p:cNvPr id="293" name="Google Shape;293;p37"/>
          <p:cNvSpPr txBox="1"/>
          <p:nvPr>
            <p:ph idx="1" type="body"/>
          </p:nvPr>
        </p:nvSpPr>
        <p:spPr>
          <a:xfrm>
            <a:off x="109175" y="1395575"/>
            <a:ext cx="6858000" cy="35961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s"/>
              <a:t>Construir un motor de juegos de ladrillos capaz de ejecutar múltiples juegos definidos por un lenguaje de propio, esta actividad es equipos de </a:t>
            </a:r>
            <a:r>
              <a:rPr b="1" lang="es"/>
              <a:t>MÁXIMO</a:t>
            </a:r>
            <a:r>
              <a:rPr b="1" lang="es"/>
              <a:t> 4</a:t>
            </a:r>
            <a:r>
              <a:rPr lang="es"/>
              <a:t>. </a:t>
            </a:r>
            <a:r>
              <a:rPr lang="es" u="sng">
                <a:solidFill>
                  <a:schemeClr val="hlink"/>
                </a:solidFill>
                <a:hlinkClick r:id="rId3"/>
              </a:rPr>
              <a:t>https://forms.gle/Yjrz2jx8ci8a9rxMA</a:t>
            </a:r>
            <a:r>
              <a:rPr lang="es"/>
              <a:t> </a:t>
            </a:r>
            <a:endParaRPr/>
          </a:p>
          <a:p>
            <a:pPr indent="0" lvl="0" marL="0" rtl="0" algn="l">
              <a:spcBef>
                <a:spcPts val="1200"/>
              </a:spcBef>
              <a:spcAft>
                <a:spcPts val="0"/>
              </a:spcAft>
              <a:buNone/>
            </a:pPr>
            <a:r>
              <a:rPr lang="es"/>
              <a:t>El proyecto debe ser lo suficientemente compacto para caber en un </a:t>
            </a:r>
            <a:r>
              <a:rPr b="1" lang="es"/>
              <a:t>disquete de 1.44 MB y ejecutarse en una máquina con Windows XP y un procesador AMD Athlon XP. Cada pareja recibirá un disquete y puede agendar turnos para ejecutar la implementación en el computador mencionado.</a:t>
            </a:r>
            <a:endParaRPr b="1"/>
          </a:p>
          <a:p>
            <a:pPr indent="0" lvl="0" marL="0" rtl="0" algn="l">
              <a:spcBef>
                <a:spcPts val="1200"/>
              </a:spcBef>
              <a:spcAft>
                <a:spcPts val="0"/>
              </a:spcAft>
              <a:buNone/>
            </a:pPr>
            <a:r>
              <a:rPr b="1" lang="es"/>
              <a:t>Entrega 1 (1</a:t>
            </a:r>
            <a:r>
              <a:rPr b="1" lang="es"/>
              <a:t>0% - 5 semana</a:t>
            </a:r>
            <a:r>
              <a:rPr b="1" lang="es"/>
              <a:t>). </a:t>
            </a:r>
            <a:r>
              <a:rPr lang="es"/>
              <a:t>El Analizador de Lenguaje y la Tabla de Símbolos</a:t>
            </a:r>
            <a:endParaRPr/>
          </a:p>
          <a:p>
            <a:pPr indent="0" lvl="0" marL="0" rtl="0" algn="l">
              <a:spcBef>
                <a:spcPts val="1200"/>
              </a:spcBef>
              <a:spcAft>
                <a:spcPts val="0"/>
              </a:spcAft>
              <a:buNone/>
            </a:pPr>
            <a:r>
              <a:rPr lang="es"/>
              <a:t>Se centra en el análisis y la abstracción del lenguaje. Los estudiantes definirán el lenguaje e implementarán la primera versión que lee el archivo de juego.</a:t>
            </a:r>
            <a:endParaRPr/>
          </a:p>
          <a:p>
            <a:pPr indent="-282734" lvl="0" marL="457200" rtl="0" algn="l">
              <a:spcBef>
                <a:spcPts val="1200"/>
              </a:spcBef>
              <a:spcAft>
                <a:spcPts val="0"/>
              </a:spcAft>
              <a:buClr>
                <a:srgbClr val="000000"/>
              </a:buClr>
              <a:buSzPct val="84615"/>
              <a:buFont typeface="Arial"/>
              <a:buChar char="●"/>
            </a:pPr>
            <a:r>
              <a:rPr b="1" lang="es"/>
              <a:t>Descripción</a:t>
            </a:r>
            <a:r>
              <a:rPr lang="es"/>
              <a:t>: El equipo implementará un programa que procesa un archivo de texto con las reglas del juego. La tecnología que puede usar está limitada por las restricciones de hardware.</a:t>
            </a:r>
            <a:endParaRPr/>
          </a:p>
          <a:p>
            <a:pPr indent="-282734" lvl="0" marL="457200" rtl="0" algn="l">
              <a:spcBef>
                <a:spcPts val="0"/>
              </a:spcBef>
              <a:spcAft>
                <a:spcPts val="0"/>
              </a:spcAft>
              <a:buClr>
                <a:srgbClr val="000000"/>
              </a:buClr>
              <a:buSzPct val="84615"/>
              <a:buFont typeface="Arial"/>
              <a:buChar char="●"/>
            </a:pPr>
            <a:r>
              <a:rPr b="1" lang="es"/>
              <a:t>Tareas Clave</a:t>
            </a:r>
            <a:r>
              <a:rPr lang="es"/>
              <a:t>:</a:t>
            </a:r>
            <a:endParaRPr/>
          </a:p>
          <a:p>
            <a:pPr indent="-282734" lvl="1" marL="914400" rtl="0" algn="l">
              <a:spcBef>
                <a:spcPts val="0"/>
              </a:spcBef>
              <a:spcAft>
                <a:spcPts val="0"/>
              </a:spcAft>
              <a:buClr>
                <a:srgbClr val="000000"/>
              </a:buClr>
              <a:buSzPct val="84615"/>
              <a:buFont typeface="Arial"/>
              <a:buChar char="○"/>
            </a:pPr>
            <a:r>
              <a:rPr lang="es" sz="1300"/>
              <a:t>Análisis Léxico: Leer el archivo de texto y convertir las palabras clave, números y operadores en tokens.</a:t>
            </a:r>
            <a:endParaRPr sz="1300"/>
          </a:p>
          <a:p>
            <a:pPr indent="-282734" lvl="1" marL="914400" rtl="0" algn="l">
              <a:spcBef>
                <a:spcPts val="0"/>
              </a:spcBef>
              <a:spcAft>
                <a:spcPts val="0"/>
              </a:spcAft>
              <a:buClr>
                <a:srgbClr val="000000"/>
              </a:buClr>
              <a:buSzPct val="84615"/>
              <a:buFont typeface="Arial"/>
              <a:buChar char="○"/>
            </a:pPr>
            <a:r>
              <a:rPr lang="es" sz="1300"/>
              <a:t>Análisis Sintáctico: Verificar la gramática del archivo y construir un Árbol de Sintaxis Abstracta (AST) o, de forma más simple, un diccionario anidado en Python.</a:t>
            </a:r>
            <a:endParaRPr sz="1300"/>
          </a:p>
          <a:p>
            <a:pPr indent="-282734" lvl="1" marL="914400" rtl="0" algn="l">
              <a:spcBef>
                <a:spcPts val="0"/>
              </a:spcBef>
              <a:spcAft>
                <a:spcPts val="0"/>
              </a:spcAft>
              <a:buClr>
                <a:srgbClr val="000000"/>
              </a:buClr>
              <a:buSzPct val="84615"/>
              <a:buFont typeface="Arial"/>
              <a:buChar char="○"/>
            </a:pPr>
            <a:r>
              <a:rPr lang="es" sz="1300"/>
              <a:t>Tabla de Símbolos: Durante el proceso, el analizador creará una tabla de símbolos para almacenar los datos del juego (como la velocidad, el color de los ladrillos, etc.).</a:t>
            </a:r>
            <a:endParaRPr sz="1300"/>
          </a:p>
          <a:p>
            <a:pPr indent="-282734" lvl="0" marL="457200" rtl="0" algn="l">
              <a:spcBef>
                <a:spcPts val="0"/>
              </a:spcBef>
              <a:spcAft>
                <a:spcPts val="0"/>
              </a:spcAft>
              <a:buClr>
                <a:srgbClr val="000000"/>
              </a:buClr>
              <a:buSzPct val="84615"/>
              <a:buFont typeface="Arial"/>
              <a:buChar char="●"/>
            </a:pPr>
            <a:r>
              <a:rPr b="1" lang="es"/>
              <a:t>Entregable</a:t>
            </a:r>
            <a:r>
              <a:rPr lang="es"/>
              <a:t>: Documentación técnica del lenguaje para definir juegos y un programa y código fuente que ejecute en el computador con las restricciones. Se deben definir al menos dos juegos tetris y snake. Si la sintaxis es incorrecta, debe mostrar un error claro.</a:t>
            </a:r>
            <a:endParaRPr b="1"/>
          </a:p>
        </p:txBody>
      </p:sp>
      <p:pic>
        <p:nvPicPr>
          <p:cNvPr id="294" name="Google Shape;294;p37"/>
          <p:cNvPicPr preferRelativeResize="0"/>
          <p:nvPr/>
        </p:nvPicPr>
        <p:blipFill>
          <a:blip r:embed="rId4">
            <a:alphaModFix/>
          </a:blip>
          <a:stretch>
            <a:fillRect/>
          </a:stretch>
        </p:blipFill>
        <p:spPr>
          <a:xfrm>
            <a:off x="6967175" y="0"/>
            <a:ext cx="2176826" cy="2176826"/>
          </a:xfrm>
          <a:prstGeom prst="rect">
            <a:avLst/>
          </a:prstGeom>
          <a:noFill/>
          <a:ln>
            <a:noFill/>
          </a:ln>
        </p:spPr>
      </p:pic>
      <p:pic>
        <p:nvPicPr>
          <p:cNvPr id="295" name="Google Shape;295;p37"/>
          <p:cNvPicPr preferRelativeResize="0"/>
          <p:nvPr/>
        </p:nvPicPr>
        <p:blipFill>
          <a:blip r:embed="rId5">
            <a:alphaModFix/>
          </a:blip>
          <a:stretch>
            <a:fillRect/>
          </a:stretch>
        </p:blipFill>
        <p:spPr>
          <a:xfrm>
            <a:off x="7429525" y="3431575"/>
            <a:ext cx="1801625" cy="1351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Sobre el Proyecto Práctico, Entrega 2</a:t>
            </a:r>
            <a:endParaRPr/>
          </a:p>
        </p:txBody>
      </p:sp>
      <p:sp>
        <p:nvSpPr>
          <p:cNvPr id="301" name="Google Shape;301;p38"/>
          <p:cNvSpPr txBox="1"/>
          <p:nvPr>
            <p:ph idx="1" type="body"/>
          </p:nvPr>
        </p:nvSpPr>
        <p:spPr>
          <a:xfrm>
            <a:off x="109175" y="1395575"/>
            <a:ext cx="6858000" cy="3596100"/>
          </a:xfrm>
          <a:prstGeom prst="rect">
            <a:avLst/>
          </a:prstGeom>
        </p:spPr>
        <p:txBody>
          <a:bodyPr anchorCtr="0" anchor="t" bIns="91425" lIns="91425" spcFirstLastPara="1" rIns="91425" wrap="square" tIns="91425">
            <a:normAutofit fontScale="92500" lnSpcReduction="10000"/>
          </a:bodyPr>
          <a:lstStyle/>
          <a:p>
            <a:pPr indent="0" lvl="0" marL="0" rtl="0" algn="l">
              <a:spcBef>
                <a:spcPts val="1200"/>
              </a:spcBef>
              <a:spcAft>
                <a:spcPts val="0"/>
              </a:spcAft>
              <a:buNone/>
            </a:pPr>
            <a:r>
              <a:rPr b="1" lang="es"/>
              <a:t>Entrega 2 (15% - 10 Semana): El Motor Gráfico y de Juego </a:t>
            </a:r>
            <a:endParaRPr b="1"/>
          </a:p>
          <a:p>
            <a:pPr indent="0" lvl="0" marL="0" rtl="0" algn="l">
              <a:spcBef>
                <a:spcPts val="1200"/>
              </a:spcBef>
              <a:spcAft>
                <a:spcPts val="0"/>
              </a:spcAft>
              <a:buNone/>
            </a:pPr>
            <a:r>
              <a:rPr lang="es"/>
              <a:t>En esta fase, el enfoque es el hardware y la implementación de bajo nivel. El equipo creará un motor eficiente que dé vida a los juegos.</a:t>
            </a:r>
            <a:endParaRPr/>
          </a:p>
          <a:p>
            <a:pPr indent="-293211" lvl="0" marL="457200" rtl="0" algn="l">
              <a:spcBef>
                <a:spcPts val="1200"/>
              </a:spcBef>
              <a:spcAft>
                <a:spcPts val="0"/>
              </a:spcAft>
              <a:buClr>
                <a:srgbClr val="000000"/>
              </a:buClr>
              <a:buSzPct val="84615"/>
              <a:buFont typeface="Arial"/>
              <a:buChar char="●"/>
            </a:pPr>
            <a:r>
              <a:rPr b="1" lang="es"/>
              <a:t>Descripción</a:t>
            </a:r>
            <a:r>
              <a:rPr lang="es"/>
              <a:t>: Un programa que contiene el bucle de ejecución principal y los componentes gráficos necesarios. Este motor será genérico y no sabrá nada sobre los juegos específicos que ejecutará.</a:t>
            </a:r>
            <a:endParaRPr/>
          </a:p>
          <a:p>
            <a:pPr indent="-293211" lvl="0" marL="457200" rtl="0" algn="l">
              <a:spcBef>
                <a:spcPts val="0"/>
              </a:spcBef>
              <a:spcAft>
                <a:spcPts val="0"/>
              </a:spcAft>
              <a:buClr>
                <a:srgbClr val="000000"/>
              </a:buClr>
              <a:buSzPct val="84615"/>
              <a:buFont typeface="Arial"/>
              <a:buChar char="●"/>
            </a:pPr>
            <a:r>
              <a:rPr b="1" lang="es"/>
              <a:t>Tareas Clave:</a:t>
            </a:r>
            <a:endParaRPr b="1"/>
          </a:p>
          <a:p>
            <a:pPr indent="-293211" lvl="1" marL="914400" rtl="0" algn="l">
              <a:spcBef>
                <a:spcPts val="0"/>
              </a:spcBef>
              <a:spcAft>
                <a:spcPts val="0"/>
              </a:spcAft>
              <a:buClr>
                <a:srgbClr val="000000"/>
              </a:buClr>
              <a:buSzPct val="84615"/>
              <a:buFont typeface="Arial"/>
              <a:buChar char="○"/>
            </a:pPr>
            <a:r>
              <a:rPr lang="es" sz="1300"/>
              <a:t>Configuración: Inicializar y crear una ventana de 640x480.</a:t>
            </a:r>
            <a:endParaRPr sz="1300"/>
          </a:p>
          <a:p>
            <a:pPr indent="-293211" lvl="1" marL="914400" rtl="0" algn="l">
              <a:spcBef>
                <a:spcPts val="0"/>
              </a:spcBef>
              <a:spcAft>
                <a:spcPts val="0"/>
              </a:spcAft>
              <a:buClr>
                <a:srgbClr val="000000"/>
              </a:buClr>
              <a:buSzPct val="84615"/>
              <a:buFont typeface="Arial"/>
              <a:buChar char="○"/>
            </a:pPr>
            <a:r>
              <a:rPr lang="es" sz="1300"/>
              <a:t>Bucle Principal: Implementar el bucle de juego que gestiona los eventos, las actualizaciones lógicas y el renderizado en cada frame.</a:t>
            </a:r>
            <a:endParaRPr sz="1300"/>
          </a:p>
          <a:p>
            <a:pPr indent="-293211" lvl="1" marL="914400" rtl="0" algn="l">
              <a:spcBef>
                <a:spcPts val="0"/>
              </a:spcBef>
              <a:spcAft>
                <a:spcPts val="0"/>
              </a:spcAft>
              <a:buClr>
                <a:srgbClr val="000000"/>
              </a:buClr>
              <a:buSzPct val="84615"/>
              <a:buFont typeface="Arial"/>
              <a:buChar char="○"/>
            </a:pPr>
            <a:r>
              <a:rPr lang="es" sz="1300"/>
              <a:t>Funciones Gráficas: Crear funciones para dibujar ladrillos, la puntuación y el texto. El motor debe ser capaz de dibujar un bloque en cualquier coordenada dada.</a:t>
            </a:r>
            <a:endParaRPr sz="1300"/>
          </a:p>
          <a:p>
            <a:pPr indent="-293211" lvl="1" marL="914400" rtl="0" algn="l">
              <a:spcBef>
                <a:spcPts val="0"/>
              </a:spcBef>
              <a:spcAft>
                <a:spcPts val="0"/>
              </a:spcAft>
              <a:buClr>
                <a:srgbClr val="000000"/>
              </a:buClr>
              <a:buSzPct val="84615"/>
              <a:buFont typeface="Arial"/>
              <a:buChar char="○"/>
            </a:pPr>
            <a:r>
              <a:rPr lang="es" sz="1300"/>
              <a:t>Control de Entradas: Un módulo para gestionar las entradas del teclado.</a:t>
            </a:r>
            <a:endParaRPr sz="1300"/>
          </a:p>
          <a:p>
            <a:pPr indent="-293211" lvl="0" marL="457200" rtl="0" algn="l">
              <a:spcBef>
                <a:spcPts val="0"/>
              </a:spcBef>
              <a:spcAft>
                <a:spcPts val="0"/>
              </a:spcAft>
              <a:buClr>
                <a:srgbClr val="000000"/>
              </a:buClr>
              <a:buSzPct val="84615"/>
              <a:buFont typeface="Arial"/>
              <a:buChar char="●"/>
            </a:pPr>
            <a:r>
              <a:rPr b="1" lang="es"/>
              <a:t>Entregable</a:t>
            </a:r>
            <a:r>
              <a:rPr lang="es"/>
              <a:t>: Documentación técnica, código fuente y programa que cumpla con las restricciones . Los estudiantes demostrarán que pueden mover el ladrillo con las teclas, probando el control de entrada.</a:t>
            </a:r>
            <a:endParaRPr/>
          </a:p>
        </p:txBody>
      </p:sp>
      <p:pic>
        <p:nvPicPr>
          <p:cNvPr id="302" name="Google Shape;302;p38"/>
          <p:cNvPicPr preferRelativeResize="0"/>
          <p:nvPr/>
        </p:nvPicPr>
        <p:blipFill>
          <a:blip r:embed="rId3">
            <a:alphaModFix/>
          </a:blip>
          <a:stretch>
            <a:fillRect/>
          </a:stretch>
        </p:blipFill>
        <p:spPr>
          <a:xfrm>
            <a:off x="6967175" y="0"/>
            <a:ext cx="2176826" cy="2176826"/>
          </a:xfrm>
          <a:prstGeom prst="rect">
            <a:avLst/>
          </a:prstGeom>
          <a:noFill/>
          <a:ln>
            <a:noFill/>
          </a:ln>
        </p:spPr>
      </p:pic>
      <p:pic>
        <p:nvPicPr>
          <p:cNvPr id="303" name="Google Shape;303;p38"/>
          <p:cNvPicPr preferRelativeResize="0"/>
          <p:nvPr/>
        </p:nvPicPr>
        <p:blipFill>
          <a:blip r:embed="rId4">
            <a:alphaModFix/>
          </a:blip>
          <a:stretch>
            <a:fillRect/>
          </a:stretch>
        </p:blipFill>
        <p:spPr>
          <a:xfrm>
            <a:off x="7429525" y="3431575"/>
            <a:ext cx="1801625" cy="1351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9"/>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Sobre el Proyecto Práctico, Entrega 3</a:t>
            </a:r>
            <a:endParaRPr/>
          </a:p>
        </p:txBody>
      </p:sp>
      <p:sp>
        <p:nvSpPr>
          <p:cNvPr id="309" name="Google Shape;309;p39"/>
          <p:cNvSpPr txBox="1"/>
          <p:nvPr>
            <p:ph idx="1" type="body"/>
          </p:nvPr>
        </p:nvSpPr>
        <p:spPr>
          <a:xfrm>
            <a:off x="109175" y="1395575"/>
            <a:ext cx="6858000" cy="3596100"/>
          </a:xfrm>
          <a:prstGeom prst="rect">
            <a:avLst/>
          </a:prstGeom>
        </p:spPr>
        <p:txBody>
          <a:bodyPr anchorCtr="0" anchor="t" bIns="91425" lIns="91425" spcFirstLastPara="1" rIns="91425" wrap="square" tIns="91425">
            <a:normAutofit fontScale="92500" lnSpcReduction="20000"/>
          </a:bodyPr>
          <a:lstStyle/>
          <a:p>
            <a:pPr indent="0" lvl="0" marL="0" marR="0" rtl="0" algn="l">
              <a:lnSpc>
                <a:spcPct val="115000"/>
              </a:lnSpc>
              <a:spcBef>
                <a:spcPts val="1200"/>
              </a:spcBef>
              <a:spcAft>
                <a:spcPts val="0"/>
              </a:spcAft>
              <a:buNone/>
            </a:pPr>
            <a:r>
              <a:rPr lang="es"/>
              <a:t>Entrega </a:t>
            </a:r>
            <a:r>
              <a:rPr lang="es"/>
              <a:t>3 (15% 13 Semana ): Integración y la Lógica del Juego</a:t>
            </a:r>
            <a:endParaRPr/>
          </a:p>
          <a:p>
            <a:pPr indent="0" lvl="0" marL="0" marR="0" rtl="0" algn="l">
              <a:lnSpc>
                <a:spcPct val="115000"/>
              </a:lnSpc>
              <a:spcBef>
                <a:spcPts val="1200"/>
              </a:spcBef>
              <a:spcAft>
                <a:spcPts val="0"/>
              </a:spcAft>
              <a:buNone/>
            </a:pPr>
            <a:r>
              <a:rPr lang="es"/>
              <a:t>Esta es la entrega de abstracción metalingüística, donde se unen los dos componentes.</a:t>
            </a:r>
            <a:endParaRPr/>
          </a:p>
          <a:p>
            <a:pPr indent="0" lvl="0" marL="0" marR="0" rtl="0" algn="l">
              <a:lnSpc>
                <a:spcPct val="115000"/>
              </a:lnSpc>
              <a:spcBef>
                <a:spcPts val="1200"/>
              </a:spcBef>
              <a:spcAft>
                <a:spcPts val="0"/>
              </a:spcAft>
              <a:buNone/>
            </a:pPr>
            <a:r>
              <a:rPr lang="es"/>
              <a:t>Descripción: Los estudiantes integrarán el analizador de la entrega 1 en el motor de la entrega 2. El motor usará la salida del analizador (el diccionario de datos) para ejecutar la lógica de los juegos. La lógica del juego no está codificada en el programa, sino que está definida en el archivo de código.</a:t>
            </a:r>
            <a:endParaRPr/>
          </a:p>
          <a:p>
            <a:pPr indent="0" lvl="0" marL="0" marR="0" rtl="0" algn="l">
              <a:lnSpc>
                <a:spcPct val="115000"/>
              </a:lnSpc>
              <a:spcBef>
                <a:spcPts val="1200"/>
              </a:spcBef>
              <a:spcAft>
                <a:spcPts val="0"/>
              </a:spcAft>
              <a:buNone/>
            </a:pPr>
            <a:r>
              <a:rPr lang="es"/>
              <a:t>Tareas Clave:</a:t>
            </a:r>
            <a:endParaRPr/>
          </a:p>
          <a:p>
            <a:pPr indent="-304959" lvl="0" marL="457200" marR="0" rtl="0" algn="l">
              <a:lnSpc>
                <a:spcPct val="115000"/>
              </a:lnSpc>
              <a:spcBef>
                <a:spcPts val="1200"/>
              </a:spcBef>
              <a:spcAft>
                <a:spcPts val="0"/>
              </a:spcAft>
              <a:buSzPct val="100000"/>
              <a:buChar char="●"/>
            </a:pPr>
            <a:r>
              <a:rPr b="1" lang="es" sz="1300"/>
              <a:t>Integración</a:t>
            </a:r>
            <a:r>
              <a:rPr lang="es" sz="1300"/>
              <a:t>: El motor de la </a:t>
            </a:r>
            <a:r>
              <a:rPr lang="es"/>
              <a:t>Enrtega </a:t>
            </a:r>
            <a:r>
              <a:rPr lang="es" sz="1300"/>
              <a:t>2 debe ser modificado para leer el archivo </a:t>
            </a:r>
            <a:r>
              <a:rPr lang="es"/>
              <a:t>que contiene las reglas de juego </a:t>
            </a:r>
            <a:r>
              <a:rPr lang="es" sz="1300"/>
              <a:t>en lugar de usar valores codificados.</a:t>
            </a:r>
            <a:endParaRPr sz="1300"/>
          </a:p>
          <a:p>
            <a:pPr indent="-304959" lvl="0" marL="457200" marR="0" rtl="0" algn="l">
              <a:lnSpc>
                <a:spcPct val="115000"/>
              </a:lnSpc>
              <a:spcBef>
                <a:spcPts val="0"/>
              </a:spcBef>
              <a:spcAft>
                <a:spcPts val="0"/>
              </a:spcAft>
              <a:buSzPct val="100000"/>
              <a:buChar char="●"/>
            </a:pPr>
            <a:r>
              <a:rPr b="1" lang="es" sz="1300"/>
              <a:t>Motor de Reglas: </a:t>
            </a:r>
            <a:r>
              <a:rPr lang="es" sz="1300"/>
              <a:t>Los estudiantes implementarán la lógica que lee el diccionario y lo traduce a reglas del juego (por ejemplo, si el archivo dice gravedad = 1, la pieza debe caer un bloque por segundo).</a:t>
            </a:r>
            <a:endParaRPr sz="1300"/>
          </a:p>
          <a:p>
            <a:pPr indent="-304959" lvl="0" marL="457200" marR="0" rtl="0" algn="l">
              <a:lnSpc>
                <a:spcPct val="115000"/>
              </a:lnSpc>
              <a:spcBef>
                <a:spcPts val="0"/>
              </a:spcBef>
              <a:spcAft>
                <a:spcPts val="0"/>
              </a:spcAft>
              <a:buSzPct val="100000"/>
              <a:buChar char="●"/>
            </a:pPr>
            <a:r>
              <a:rPr b="1" lang="es" sz="1300"/>
              <a:t>Creación de Contenido:</a:t>
            </a:r>
            <a:r>
              <a:rPr lang="es" sz="1300"/>
              <a:t> Cada equipo creará al menos dos juegos diferentes (tetris.</a:t>
            </a:r>
            <a:r>
              <a:rPr lang="es"/>
              <a:t>brik</a:t>
            </a:r>
            <a:r>
              <a:rPr lang="es" sz="1300"/>
              <a:t>, snake.</a:t>
            </a:r>
            <a:r>
              <a:rPr lang="es"/>
              <a:t>brik</a:t>
            </a:r>
            <a:r>
              <a:rPr lang="es" sz="1300"/>
              <a:t>) utilizando su lenguaje.</a:t>
            </a:r>
            <a:endParaRPr sz="1300"/>
          </a:p>
          <a:p>
            <a:pPr indent="-304959" lvl="0" marL="457200" marR="0" rtl="0" algn="l">
              <a:lnSpc>
                <a:spcPct val="115000"/>
              </a:lnSpc>
              <a:spcBef>
                <a:spcPts val="0"/>
              </a:spcBef>
              <a:spcAft>
                <a:spcPts val="0"/>
              </a:spcAft>
              <a:buSzPct val="100000"/>
              <a:buChar char="●"/>
            </a:pPr>
            <a:r>
              <a:rPr b="1" lang="es"/>
              <a:t>Entregable</a:t>
            </a:r>
            <a:r>
              <a:rPr lang="es"/>
              <a:t>: Documentación técnica, código fuente y programa ejecutable (el motor) que, al ser lanzado, permite seleccionar y jugar diferentes juegos. La prueba de su éxito es que los dos juegos de ejemplo se ejecuten correctamente sin necesidad de cambiar el código del motor.</a:t>
            </a:r>
            <a:endParaRPr/>
          </a:p>
        </p:txBody>
      </p:sp>
      <p:pic>
        <p:nvPicPr>
          <p:cNvPr id="310" name="Google Shape;310;p39"/>
          <p:cNvPicPr preferRelativeResize="0"/>
          <p:nvPr/>
        </p:nvPicPr>
        <p:blipFill>
          <a:blip r:embed="rId3">
            <a:alphaModFix/>
          </a:blip>
          <a:stretch>
            <a:fillRect/>
          </a:stretch>
        </p:blipFill>
        <p:spPr>
          <a:xfrm>
            <a:off x="6967175" y="0"/>
            <a:ext cx="2176826" cy="2176826"/>
          </a:xfrm>
          <a:prstGeom prst="rect">
            <a:avLst/>
          </a:prstGeom>
          <a:noFill/>
          <a:ln>
            <a:noFill/>
          </a:ln>
        </p:spPr>
      </p:pic>
      <p:pic>
        <p:nvPicPr>
          <p:cNvPr id="311" name="Google Shape;311;p39"/>
          <p:cNvPicPr preferRelativeResize="0"/>
          <p:nvPr/>
        </p:nvPicPr>
        <p:blipFill>
          <a:blip r:embed="rId4">
            <a:alphaModFix/>
          </a:blip>
          <a:stretch>
            <a:fillRect/>
          </a:stretch>
        </p:blipFill>
        <p:spPr>
          <a:xfrm>
            <a:off x="7429525" y="3431575"/>
            <a:ext cx="1801625" cy="1351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0"/>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¿Cuáles herramientas usar?</a:t>
            </a:r>
            <a:endParaRPr/>
          </a:p>
        </p:txBody>
      </p:sp>
      <p:sp>
        <p:nvSpPr>
          <p:cNvPr id="317" name="Google Shape;317;p40"/>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Tener en cuenta las limitaciones de hardware.</a:t>
            </a:r>
            <a:endParaRPr/>
          </a:p>
          <a:p>
            <a:pPr indent="0" lvl="0" marL="0" rtl="0" algn="l">
              <a:spcBef>
                <a:spcPts val="1200"/>
              </a:spcBef>
              <a:spcAft>
                <a:spcPts val="0"/>
              </a:spcAft>
              <a:buNone/>
            </a:pPr>
            <a:r>
              <a:rPr lang="es"/>
              <a:t>Puede usar Qbasic, C, C++, Python 2.7, visual basic 6.0 pero cuidado solo tienes 1.44MB.</a:t>
            </a:r>
            <a:endParaRPr/>
          </a:p>
          <a:p>
            <a:pPr indent="0" lvl="0" marL="0" rtl="0" algn="l">
              <a:spcBef>
                <a:spcPts val="1200"/>
              </a:spcBef>
              <a:spcAft>
                <a:spcPts val="1200"/>
              </a:spcAft>
              <a:buNone/>
            </a:pPr>
            <a:r>
              <a:rPr lang="es"/>
              <a:t>Asesórate con GPT, Gemini, deepseek o z.ai, ofrecen opciones interesantes…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1"/>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Presentaciones, Miércoles 11 de Febrero</a:t>
            </a:r>
            <a:endParaRPr/>
          </a:p>
        </p:txBody>
      </p:sp>
      <p:sp>
        <p:nvSpPr>
          <p:cNvPr id="323" name="Google Shape;323;p41"/>
          <p:cNvSpPr txBox="1"/>
          <p:nvPr>
            <p:ph idx="1" type="body"/>
          </p:nvPr>
        </p:nvSpPr>
        <p:spPr>
          <a:xfrm>
            <a:off x="729325" y="1237075"/>
            <a:ext cx="3774300" cy="3102900"/>
          </a:xfrm>
          <a:prstGeom prst="rect">
            <a:avLst/>
          </a:prstGeom>
        </p:spPr>
        <p:txBody>
          <a:bodyPr anchorCtr="0" anchor="t" bIns="91425" lIns="91425" spcFirstLastPara="1" rIns="91425" wrap="square" tIns="91425">
            <a:normAutofit fontScale="92500" lnSpcReduction="1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1. El Port de Resident Evil 2 (N64): Compresión y Gestión de Memoria</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Este tema se centra en cómo meter </a:t>
            </a:r>
            <a:r>
              <a:rPr b="1" lang="es" sz="1100">
                <a:solidFill>
                  <a:srgbClr val="000000"/>
                </a:solidFill>
                <a:latin typeface="Arial"/>
                <a:ea typeface="Arial"/>
                <a:cs typeface="Arial"/>
                <a:sym typeface="Arial"/>
              </a:rPr>
              <a:t>1.2 GB</a:t>
            </a:r>
            <a:r>
              <a:rPr lang="es" sz="1100">
                <a:solidFill>
                  <a:srgbClr val="000000"/>
                </a:solidFill>
                <a:latin typeface="Arial"/>
                <a:ea typeface="Arial"/>
                <a:cs typeface="Arial"/>
                <a:sym typeface="Arial"/>
              </a:rPr>
              <a:t> de datos (2 CDs de PlayStation) en un cartucho de </a:t>
            </a:r>
            <a:r>
              <a:rPr b="1" lang="es" sz="1100">
                <a:solidFill>
                  <a:srgbClr val="000000"/>
                </a:solidFill>
                <a:latin typeface="Arial"/>
                <a:ea typeface="Arial"/>
                <a:cs typeface="Arial"/>
                <a:sym typeface="Arial"/>
              </a:rPr>
              <a:t>64 MB</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Enfoque en Lenguajes:</a:t>
            </a:r>
            <a:r>
              <a:rPr lang="es" sz="1100">
                <a:solidFill>
                  <a:srgbClr val="000000"/>
                </a:solidFill>
                <a:latin typeface="Arial"/>
                <a:ea typeface="Arial"/>
                <a:cs typeface="Arial"/>
                <a:sym typeface="Arial"/>
              </a:rPr>
              <a:t> El uso de </a:t>
            </a:r>
            <a:r>
              <a:rPr b="1" lang="es" sz="1100">
                <a:solidFill>
                  <a:srgbClr val="000000"/>
                </a:solidFill>
                <a:latin typeface="Arial"/>
                <a:ea typeface="Arial"/>
                <a:cs typeface="Arial"/>
                <a:sym typeface="Arial"/>
              </a:rPr>
              <a:t>C</a:t>
            </a:r>
            <a:r>
              <a:rPr lang="es" sz="1100">
                <a:solidFill>
                  <a:srgbClr val="000000"/>
                </a:solidFill>
                <a:latin typeface="Arial"/>
                <a:ea typeface="Arial"/>
                <a:cs typeface="Arial"/>
                <a:sym typeface="Arial"/>
              </a:rPr>
              <a:t> y </a:t>
            </a:r>
            <a:r>
              <a:rPr b="1" lang="es" sz="1100">
                <a:solidFill>
                  <a:srgbClr val="000000"/>
                </a:solidFill>
                <a:latin typeface="Arial"/>
                <a:ea typeface="Arial"/>
                <a:cs typeface="Arial"/>
                <a:sym typeface="Arial"/>
              </a:rPr>
              <a:t>Ensamblador (MIPS)</a:t>
            </a:r>
            <a:r>
              <a:rPr lang="es" sz="1100">
                <a:solidFill>
                  <a:srgbClr val="000000"/>
                </a:solidFill>
                <a:latin typeface="Arial"/>
                <a:ea typeface="Arial"/>
                <a:cs typeface="Arial"/>
                <a:sym typeface="Arial"/>
              </a:rPr>
              <a:t> para control total del hardware.</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Punto de investigación:</a:t>
            </a:r>
            <a:r>
              <a:rPr lang="es" sz="1100">
                <a:solidFill>
                  <a:srgbClr val="000000"/>
                </a:solidFill>
                <a:latin typeface="Arial"/>
                <a:ea typeface="Arial"/>
                <a:cs typeface="Arial"/>
                <a:sym typeface="Arial"/>
              </a:rPr>
              <a:t> El algoritmo de compresión de video patentado por Angel Studios y la gestión de </a:t>
            </a:r>
            <a:r>
              <a:rPr i="1" lang="es" sz="1100">
                <a:solidFill>
                  <a:srgbClr val="000000"/>
                </a:solidFill>
                <a:latin typeface="Arial"/>
                <a:ea typeface="Arial"/>
                <a:cs typeface="Arial"/>
                <a:sym typeface="Arial"/>
              </a:rPr>
              <a:t>assets</a:t>
            </a:r>
            <a:r>
              <a:rPr lang="es" sz="1100">
                <a:solidFill>
                  <a:srgbClr val="000000"/>
                </a:solidFill>
                <a:latin typeface="Arial"/>
                <a:ea typeface="Arial"/>
                <a:cs typeface="Arial"/>
                <a:sym typeface="Arial"/>
              </a:rPr>
              <a:t> en tiempo real.</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Pregunta crítica para la IA:</a:t>
            </a:r>
            <a:r>
              <a:rPr lang="es" sz="1100">
                <a:solidFill>
                  <a:srgbClr val="000000"/>
                </a:solidFill>
                <a:latin typeface="Arial"/>
                <a:ea typeface="Arial"/>
                <a:cs typeface="Arial"/>
                <a:sym typeface="Arial"/>
              </a:rPr>
              <a:t> "¿Cómo manejaba el código la diferencia de arquitectura entre el procesador de PS1 (R3000) y el de N64 (VR4300) sin perder rendimiento?"</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Nicolás Meza Ortega</a:t>
            </a:r>
            <a:endParaRPr sz="1100">
              <a:solidFill>
                <a:srgbClr val="000000"/>
              </a:solidFill>
              <a:latin typeface="Arial"/>
              <a:ea typeface="Arial"/>
              <a:cs typeface="Arial"/>
              <a:sym typeface="Arial"/>
            </a:endParaRPr>
          </a:p>
        </p:txBody>
      </p:sp>
      <p:sp>
        <p:nvSpPr>
          <p:cNvPr id="324" name="Google Shape;324;p41"/>
          <p:cNvSpPr txBox="1"/>
          <p:nvPr>
            <p:ph idx="2" type="body"/>
          </p:nvPr>
        </p:nvSpPr>
        <p:spPr>
          <a:xfrm>
            <a:off x="4643600" y="1237075"/>
            <a:ext cx="3774300" cy="3242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2. Punteros y "Magic" en DOOM: El código de Carmack</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Estudiar el motor de DOOM es estudiar la eficiencia algorítmica aplicada a la gramática de un lenguaje (C).</a:t>
            </a:r>
            <a:endParaRPr sz="11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Enfoque en Lenguajes:</a:t>
            </a:r>
            <a:r>
              <a:rPr lang="es" sz="1100">
                <a:solidFill>
                  <a:srgbClr val="000000"/>
                </a:solidFill>
                <a:latin typeface="Arial"/>
                <a:ea typeface="Arial"/>
                <a:cs typeface="Arial"/>
                <a:sym typeface="Arial"/>
              </a:rPr>
              <a:t> Manipulación de bits, el uso de tablas de búsqueda (</a:t>
            </a:r>
            <a:r>
              <a:rPr i="1" lang="es" sz="1100">
                <a:solidFill>
                  <a:srgbClr val="000000"/>
                </a:solidFill>
                <a:latin typeface="Arial"/>
                <a:ea typeface="Arial"/>
                <a:cs typeface="Arial"/>
                <a:sym typeface="Arial"/>
              </a:rPr>
              <a:t>Look-up tables</a:t>
            </a:r>
            <a:r>
              <a:rPr lang="es" sz="1100">
                <a:solidFill>
                  <a:srgbClr val="000000"/>
                </a:solidFill>
                <a:latin typeface="Arial"/>
                <a:ea typeface="Arial"/>
                <a:cs typeface="Arial"/>
                <a:sym typeface="Arial"/>
              </a:rPr>
              <a:t>) y el famoso </a:t>
            </a:r>
            <a:r>
              <a:rPr b="1" lang="es" sz="1100">
                <a:solidFill>
                  <a:srgbClr val="000000"/>
                </a:solidFill>
                <a:latin typeface="Arial"/>
                <a:ea typeface="Arial"/>
                <a:cs typeface="Arial"/>
                <a:sym typeface="Arial"/>
              </a:rPr>
              <a:t>Inverse Square Root</a:t>
            </a:r>
            <a:r>
              <a:rPr lang="es" sz="1100">
                <a:solidFill>
                  <a:srgbClr val="000000"/>
                </a:solidFill>
                <a:latin typeface="Arial"/>
                <a:ea typeface="Arial"/>
                <a:cs typeface="Arial"/>
                <a:sym typeface="Arial"/>
              </a:rPr>
              <a:t> de Quake (aunque es posterior, es un gran ejemplo de optimización).</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Punto de investigación:</a:t>
            </a:r>
            <a:r>
              <a:rPr lang="es" sz="1100">
                <a:solidFill>
                  <a:srgbClr val="000000"/>
                </a:solidFill>
                <a:latin typeface="Arial"/>
                <a:ea typeface="Arial"/>
                <a:cs typeface="Arial"/>
                <a:sym typeface="Arial"/>
              </a:rPr>
              <a:t> El uso de </a:t>
            </a:r>
            <a:r>
              <a:rPr i="1" lang="es" sz="1100">
                <a:solidFill>
                  <a:srgbClr val="000000"/>
                </a:solidFill>
                <a:latin typeface="Arial"/>
                <a:ea typeface="Arial"/>
                <a:cs typeface="Arial"/>
                <a:sym typeface="Arial"/>
              </a:rPr>
              <a:t>Binary Space Partitioning</a:t>
            </a:r>
            <a:r>
              <a:rPr lang="es" sz="1100">
                <a:solidFill>
                  <a:srgbClr val="000000"/>
                </a:solidFill>
                <a:latin typeface="Arial"/>
                <a:ea typeface="Arial"/>
                <a:cs typeface="Arial"/>
                <a:sym typeface="Arial"/>
              </a:rPr>
              <a:t> (BSP) para renderizar entornos 3D en procesadores que no estaban diseñados para ello.</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Pregunta crítica para la IA:</a:t>
            </a:r>
            <a:r>
              <a:rPr lang="es" sz="1100">
                <a:solidFill>
                  <a:srgbClr val="000000"/>
                </a:solidFill>
                <a:latin typeface="Arial"/>
                <a:ea typeface="Arial"/>
                <a:cs typeface="Arial"/>
                <a:sym typeface="Arial"/>
              </a:rPr>
              <a:t> "¿Por qué el uso de punteros en C fue fundamental para la velocidad de DOOM frente a otros lenguajes de la época?"</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Pedro Pablo Duque</a:t>
            </a:r>
            <a:endParaRPr sz="1100">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Presentaciones, Miércoles 11 de Febrero</a:t>
            </a:r>
            <a:endParaRPr/>
          </a:p>
        </p:txBody>
      </p:sp>
      <p:sp>
        <p:nvSpPr>
          <p:cNvPr id="330" name="Google Shape;330;p42"/>
          <p:cNvSpPr txBox="1"/>
          <p:nvPr>
            <p:ph idx="1" type="body"/>
          </p:nvPr>
        </p:nvSpPr>
        <p:spPr>
          <a:xfrm>
            <a:off x="729325" y="1237075"/>
            <a:ext cx="3774300" cy="3545400"/>
          </a:xfrm>
          <a:prstGeom prst="rect">
            <a:avLst/>
          </a:prstGeom>
        </p:spPr>
        <p:txBody>
          <a:bodyPr anchorCtr="0" anchor="t" bIns="91425" lIns="91425" spcFirstLastPara="1" rIns="91425" wrap="square" tIns="91425">
            <a:normAutofit fontScale="85000" lnSpcReduction="1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3. Errores de Tipado y Concurrencia: El desastre del Ariane 5</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Un ejemplo clásico sobre la importancia de la seguridad en los lenguajes de programación.</a:t>
            </a:r>
            <a:endParaRPr sz="1100">
              <a:solidFill>
                <a:srgbClr val="000000"/>
              </a:solidFill>
              <a:latin typeface="Arial"/>
              <a:ea typeface="Arial"/>
              <a:cs typeface="Arial"/>
              <a:sym typeface="Arial"/>
            </a:endParaRPr>
          </a:p>
          <a:p>
            <a:pPr indent="-287973"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Enfoque en Lenguajes:</a:t>
            </a:r>
            <a:r>
              <a:rPr lang="es" sz="1100">
                <a:solidFill>
                  <a:srgbClr val="000000"/>
                </a:solidFill>
                <a:latin typeface="Arial"/>
                <a:ea typeface="Arial"/>
                <a:cs typeface="Arial"/>
                <a:sym typeface="Arial"/>
              </a:rPr>
              <a:t> </a:t>
            </a:r>
            <a:r>
              <a:rPr b="1" lang="es" sz="1100">
                <a:solidFill>
                  <a:srgbClr val="000000"/>
                </a:solidFill>
                <a:latin typeface="Arial"/>
                <a:ea typeface="Arial"/>
                <a:cs typeface="Arial"/>
                <a:sym typeface="Arial"/>
              </a:rPr>
              <a:t>Ada</a:t>
            </a:r>
            <a:r>
              <a:rPr lang="es" sz="1100">
                <a:solidFill>
                  <a:srgbClr val="000000"/>
                </a:solidFill>
                <a:latin typeface="Arial"/>
                <a:ea typeface="Arial"/>
                <a:cs typeface="Arial"/>
                <a:sym typeface="Arial"/>
              </a:rPr>
              <a:t>. El accidente fue causado por un error de conversión de datos (un entero de 64 bits a uno de 16 bits que causó un </a:t>
            </a:r>
            <a:r>
              <a:rPr i="1" lang="es" sz="1100">
                <a:solidFill>
                  <a:srgbClr val="000000"/>
                </a:solidFill>
                <a:latin typeface="Arial"/>
                <a:ea typeface="Arial"/>
                <a:cs typeface="Arial"/>
                <a:sym typeface="Arial"/>
              </a:rPr>
              <a:t>overflow</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Punto de investigación:</a:t>
            </a:r>
            <a:r>
              <a:rPr lang="es" sz="1100">
                <a:solidFill>
                  <a:srgbClr val="000000"/>
                </a:solidFill>
                <a:latin typeface="Arial"/>
                <a:ea typeface="Arial"/>
                <a:cs typeface="Arial"/>
                <a:sym typeface="Arial"/>
              </a:rPr>
              <a:t> La gestión de excepciones y el tipado fuerte vs. débil.</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Pregunta crítica para la IA:</a:t>
            </a:r>
            <a:r>
              <a:rPr lang="es" sz="1100">
                <a:solidFill>
                  <a:srgbClr val="000000"/>
                </a:solidFill>
                <a:latin typeface="Arial"/>
                <a:ea typeface="Arial"/>
                <a:cs typeface="Arial"/>
                <a:sym typeface="Arial"/>
              </a:rPr>
              <a:t> "¿Podría un lenguaje moderno con mayor seguridad de tipos (como Rust) haber evitado este error mediante comprobaciones en tiempo de compilación?"</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Yeison Liscano</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sp>
        <p:nvSpPr>
          <p:cNvPr id="331" name="Google Shape;331;p42"/>
          <p:cNvSpPr txBox="1"/>
          <p:nvPr>
            <p:ph idx="2" type="body"/>
          </p:nvPr>
        </p:nvSpPr>
        <p:spPr>
          <a:xfrm>
            <a:off x="4643600" y="1237075"/>
            <a:ext cx="3774300" cy="3545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4. Portabilidad Extrema: El Bytecode de Java y la JVM</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Investigar cómo Java logró el "Write Once, Run Anywhere" en los años 90.</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Enfoque en Lenguajes:</a:t>
            </a:r>
            <a:r>
              <a:rPr lang="es" sz="1100">
                <a:solidFill>
                  <a:srgbClr val="000000"/>
                </a:solidFill>
                <a:latin typeface="Arial"/>
                <a:ea typeface="Arial"/>
                <a:cs typeface="Arial"/>
                <a:sym typeface="Arial"/>
              </a:rPr>
              <a:t> Máquinas virtuales, interpretación vs. compilación JIT (Just-In-Time).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Punto de investigación:</a:t>
            </a:r>
            <a:r>
              <a:rPr lang="es" sz="1100">
                <a:solidFill>
                  <a:srgbClr val="000000"/>
                </a:solidFill>
                <a:latin typeface="Arial"/>
                <a:ea typeface="Arial"/>
                <a:cs typeface="Arial"/>
                <a:sym typeface="Arial"/>
              </a:rPr>
              <a:t> Comparar el rendimiento de la JVM original frente a implementaciones modernas.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Pregunta crítica para la IA:</a:t>
            </a:r>
            <a:r>
              <a:rPr lang="es" sz="1100">
                <a:solidFill>
                  <a:srgbClr val="000000"/>
                </a:solidFill>
                <a:latin typeface="Arial"/>
                <a:ea typeface="Arial"/>
                <a:cs typeface="Arial"/>
                <a:sym typeface="Arial"/>
              </a:rPr>
              <a:t> "¿Cuál es el costo real en términos de latencia de la capa de abstracción de la JVM al interactuar con el hardware?"</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Emanuel Zuluaga</a:t>
            </a:r>
            <a:endParaRPr sz="110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Presentaciones, Miércoles 11 de Febrero</a:t>
            </a:r>
            <a:endParaRPr/>
          </a:p>
        </p:txBody>
      </p:sp>
      <p:sp>
        <p:nvSpPr>
          <p:cNvPr id="337" name="Google Shape;337;p43"/>
          <p:cNvSpPr txBox="1"/>
          <p:nvPr>
            <p:ph idx="1" type="body"/>
          </p:nvPr>
        </p:nvSpPr>
        <p:spPr>
          <a:xfrm>
            <a:off x="729325" y="1237075"/>
            <a:ext cx="3774300" cy="310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5. El Resurgimiento de Rust: Seguridad de Memoria sin Recolector de Basura</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Analizar por qué sistemas críticos (como el kernel de Linux) están adoptando Rust.</a:t>
            </a:r>
            <a:endParaRPr sz="11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Enfoque en Lenguajes:</a:t>
            </a:r>
            <a:r>
              <a:rPr lang="es" sz="1100">
                <a:solidFill>
                  <a:srgbClr val="000000"/>
                </a:solidFill>
                <a:latin typeface="Arial"/>
                <a:ea typeface="Arial"/>
                <a:cs typeface="Arial"/>
                <a:sym typeface="Arial"/>
              </a:rPr>
              <a:t> El modelo de </a:t>
            </a:r>
            <a:r>
              <a:rPr b="1" lang="es" sz="1100">
                <a:solidFill>
                  <a:srgbClr val="000000"/>
                </a:solidFill>
                <a:latin typeface="Arial"/>
                <a:ea typeface="Arial"/>
                <a:cs typeface="Arial"/>
                <a:sym typeface="Arial"/>
              </a:rPr>
              <a:t>Ownership</a:t>
            </a:r>
            <a:r>
              <a:rPr lang="es" sz="1100">
                <a:solidFill>
                  <a:srgbClr val="000000"/>
                </a:solidFill>
                <a:latin typeface="Arial"/>
                <a:ea typeface="Arial"/>
                <a:cs typeface="Arial"/>
                <a:sym typeface="Arial"/>
              </a:rPr>
              <a:t> y </a:t>
            </a:r>
            <a:r>
              <a:rPr b="1" lang="es" sz="1100">
                <a:solidFill>
                  <a:srgbClr val="000000"/>
                </a:solidFill>
                <a:latin typeface="Arial"/>
                <a:ea typeface="Arial"/>
                <a:cs typeface="Arial"/>
                <a:sym typeface="Arial"/>
              </a:rPr>
              <a:t>Borrowing</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Punto de investigación:</a:t>
            </a:r>
            <a:r>
              <a:rPr lang="es" sz="1100">
                <a:solidFill>
                  <a:srgbClr val="000000"/>
                </a:solidFill>
                <a:latin typeface="Arial"/>
                <a:ea typeface="Arial"/>
                <a:cs typeface="Arial"/>
                <a:sym typeface="Arial"/>
              </a:rPr>
              <a:t> ¿Cómo elimina Rust las "Data Races" y los errores de segmentación sin usar un </a:t>
            </a:r>
            <a:r>
              <a:rPr i="1" lang="es" sz="1100">
                <a:solidFill>
                  <a:srgbClr val="000000"/>
                </a:solidFill>
                <a:latin typeface="Arial"/>
                <a:ea typeface="Arial"/>
                <a:cs typeface="Arial"/>
                <a:sym typeface="Arial"/>
              </a:rPr>
              <a:t>Garbage Collector</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Pregunta crítica para la IA:</a:t>
            </a:r>
            <a:r>
              <a:rPr lang="es" sz="1100">
                <a:solidFill>
                  <a:srgbClr val="000000"/>
                </a:solidFill>
                <a:latin typeface="Arial"/>
                <a:ea typeface="Arial"/>
                <a:cs typeface="Arial"/>
                <a:sym typeface="Arial"/>
              </a:rPr>
              <a:t> "Explica con un ejemplo de código por qué el modelo de memoria de Rust es superior al sistema de conteo de referencias de Swift o C++."</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Luis Stiven Zea </a:t>
            </a:r>
            <a:endParaRPr sz="1100">
              <a:solidFill>
                <a:srgbClr val="000000"/>
              </a:solidFill>
              <a:latin typeface="Arial"/>
              <a:ea typeface="Arial"/>
              <a:cs typeface="Arial"/>
              <a:sym typeface="Arial"/>
            </a:endParaRPr>
          </a:p>
        </p:txBody>
      </p:sp>
      <p:sp>
        <p:nvSpPr>
          <p:cNvPr id="338" name="Google Shape;338;p43"/>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6. JavaScript y el motor V8: De lenguaje de "scripting" a alto rendimiento</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Cómo un lenguaje diseñado en 10 días pasó a dominar el mundo gracias a la optimización en tiempo de ejecución.</a:t>
            </a:r>
            <a:endParaRPr sz="11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Enfoque:</a:t>
            </a:r>
            <a:r>
              <a:rPr lang="es" sz="1100">
                <a:solidFill>
                  <a:srgbClr val="000000"/>
                </a:solidFill>
                <a:latin typeface="Arial"/>
                <a:ea typeface="Arial"/>
                <a:cs typeface="Arial"/>
                <a:sym typeface="Arial"/>
              </a:rPr>
              <a:t> Compilación </a:t>
            </a:r>
            <a:r>
              <a:rPr i="1" lang="es" sz="1100">
                <a:solidFill>
                  <a:srgbClr val="000000"/>
                </a:solidFill>
                <a:latin typeface="Arial"/>
                <a:ea typeface="Arial"/>
                <a:cs typeface="Arial"/>
                <a:sym typeface="Arial"/>
              </a:rPr>
              <a:t>Just-In-Time</a:t>
            </a:r>
            <a:r>
              <a:rPr lang="es" sz="1100">
                <a:solidFill>
                  <a:srgbClr val="000000"/>
                </a:solidFill>
                <a:latin typeface="Arial"/>
                <a:ea typeface="Arial"/>
                <a:cs typeface="Arial"/>
                <a:sym typeface="Arial"/>
              </a:rPr>
              <a:t> (JIT), </a:t>
            </a:r>
            <a:r>
              <a:rPr i="1" lang="es" sz="1100">
                <a:solidFill>
                  <a:srgbClr val="000000"/>
                </a:solidFill>
                <a:latin typeface="Arial"/>
                <a:ea typeface="Arial"/>
                <a:cs typeface="Arial"/>
                <a:sym typeface="Arial"/>
              </a:rPr>
              <a:t>Hidden Classes</a:t>
            </a:r>
            <a:r>
              <a:rPr lang="es" sz="1100">
                <a:solidFill>
                  <a:srgbClr val="000000"/>
                </a:solidFill>
                <a:latin typeface="Arial"/>
                <a:ea typeface="Arial"/>
                <a:cs typeface="Arial"/>
                <a:sym typeface="Arial"/>
              </a:rPr>
              <a:t> y </a:t>
            </a:r>
            <a:r>
              <a:rPr i="1" lang="es" sz="1100">
                <a:solidFill>
                  <a:srgbClr val="000000"/>
                </a:solidFill>
                <a:latin typeface="Arial"/>
                <a:ea typeface="Arial"/>
                <a:cs typeface="Arial"/>
                <a:sym typeface="Arial"/>
              </a:rPr>
              <a:t>Inline Caching</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Investigación con IA:</a:t>
            </a:r>
            <a:r>
              <a:rPr lang="es" sz="1100">
                <a:solidFill>
                  <a:srgbClr val="000000"/>
                </a:solidFill>
                <a:latin typeface="Arial"/>
                <a:ea typeface="Arial"/>
                <a:cs typeface="Arial"/>
                <a:sym typeface="Arial"/>
              </a:rPr>
              <a:t> ¿Cómo transforma el motor V8 el código dinámico de JS en código de máquina eficiente?</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Reto de validación:</a:t>
            </a:r>
            <a:r>
              <a:rPr lang="es" sz="1100">
                <a:solidFill>
                  <a:srgbClr val="000000"/>
                </a:solidFill>
                <a:latin typeface="Arial"/>
                <a:ea typeface="Arial"/>
                <a:cs typeface="Arial"/>
                <a:sym typeface="Arial"/>
              </a:rPr>
              <a:t> Pedir a la IA que explique la diferencia entre la interpretación de código y la compilación JIT, y verificarlo con la documentación de V8.</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Esteban Darío Ruiz Paredes</a:t>
            </a:r>
            <a:endParaRPr sz="1100">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Presentaciones, Viernes 13 de Febrero</a:t>
            </a:r>
            <a:endParaRPr/>
          </a:p>
        </p:txBody>
      </p:sp>
      <p:sp>
        <p:nvSpPr>
          <p:cNvPr id="344" name="Google Shape;344;p44"/>
          <p:cNvSpPr txBox="1"/>
          <p:nvPr>
            <p:ph idx="1" type="body"/>
          </p:nvPr>
        </p:nvSpPr>
        <p:spPr>
          <a:xfrm>
            <a:off x="729325" y="1237075"/>
            <a:ext cx="3774300" cy="31029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1. Erlang y el modelo de Actores: Sistemas que nunca mueren</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Diseñado por Ericsson para conmutadores telefónicos, es el padre de la alta disponibilidad.</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Enfoque:</a:t>
            </a:r>
            <a:r>
              <a:rPr lang="es" sz="1100">
                <a:solidFill>
                  <a:srgbClr val="000000"/>
                </a:solidFill>
                <a:latin typeface="Arial"/>
                <a:ea typeface="Arial"/>
                <a:cs typeface="Arial"/>
                <a:sym typeface="Arial"/>
              </a:rPr>
              <a:t> Concurrencia masiva, tolerancia a fallos y el paradigma de "Let it crash".</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Investigación con IA:</a:t>
            </a:r>
            <a:r>
              <a:rPr lang="es" sz="1100">
                <a:solidFill>
                  <a:srgbClr val="000000"/>
                </a:solidFill>
                <a:latin typeface="Arial"/>
                <a:ea typeface="Arial"/>
                <a:cs typeface="Arial"/>
                <a:sym typeface="Arial"/>
              </a:rPr>
              <a:t> El funcionamiento del modelo de actores frente al modelo de hilos (</a:t>
            </a:r>
            <a:r>
              <a:rPr i="1" lang="es" sz="1100">
                <a:solidFill>
                  <a:srgbClr val="000000"/>
                </a:solidFill>
                <a:latin typeface="Arial"/>
                <a:ea typeface="Arial"/>
                <a:cs typeface="Arial"/>
                <a:sym typeface="Arial"/>
              </a:rPr>
              <a:t>threads</a:t>
            </a:r>
            <a:r>
              <a:rPr lang="es" sz="1100">
                <a:solidFill>
                  <a:srgbClr val="000000"/>
                </a:solidFill>
                <a:latin typeface="Arial"/>
                <a:ea typeface="Arial"/>
                <a:cs typeface="Arial"/>
                <a:sym typeface="Arial"/>
              </a:rPr>
              <a:t>) tradicionales.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Reto de validación:</a:t>
            </a:r>
            <a:r>
              <a:rPr lang="es" sz="1100">
                <a:solidFill>
                  <a:srgbClr val="000000"/>
                </a:solidFill>
                <a:latin typeface="Arial"/>
                <a:ea typeface="Arial"/>
                <a:cs typeface="Arial"/>
                <a:sym typeface="Arial"/>
              </a:rPr>
              <a:t> Investigar cómo WhatsApp logró soportar millones de conexiones simultáneas usando una máquina virtual (BEAM) basada en este lenguaje.</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Esteban Zapata</a:t>
            </a:r>
            <a:endParaRPr sz="1100">
              <a:solidFill>
                <a:srgbClr val="000000"/>
              </a:solidFill>
              <a:latin typeface="Arial"/>
              <a:ea typeface="Arial"/>
              <a:cs typeface="Arial"/>
              <a:sym typeface="Arial"/>
            </a:endParaRPr>
          </a:p>
        </p:txBody>
      </p:sp>
      <p:sp>
        <p:nvSpPr>
          <p:cNvPr id="345" name="Google Shape;345;p44"/>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2. El lenguaje Lisp y la "Inception" del código</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Lisp trata al código como datos (</a:t>
            </a:r>
            <a:r>
              <a:rPr i="1" lang="es" sz="1100">
                <a:solidFill>
                  <a:srgbClr val="000000"/>
                </a:solidFill>
                <a:latin typeface="Arial"/>
                <a:ea typeface="Arial"/>
                <a:cs typeface="Arial"/>
                <a:sym typeface="Arial"/>
              </a:rPr>
              <a:t>Homoiconicidad</a:t>
            </a:r>
            <a:r>
              <a:rPr lang="es" sz="1100">
                <a:solidFill>
                  <a:srgbClr val="000000"/>
                </a:solidFill>
                <a:latin typeface="Arial"/>
                <a:ea typeface="Arial"/>
                <a:cs typeface="Arial"/>
                <a:sym typeface="Arial"/>
              </a:rPr>
              <a:t>), permitiendo que los programas se escriban a sí mismos.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Enfoque:</a:t>
            </a:r>
            <a:r>
              <a:rPr lang="es" sz="1100">
                <a:solidFill>
                  <a:srgbClr val="000000"/>
                </a:solidFill>
                <a:latin typeface="Arial"/>
                <a:ea typeface="Arial"/>
                <a:cs typeface="Arial"/>
                <a:sym typeface="Arial"/>
              </a:rPr>
              <a:t> Metaprogramación, macros y cálculo lambda.</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Investigación con IA:</a:t>
            </a:r>
            <a:r>
              <a:rPr lang="es" sz="1100">
                <a:solidFill>
                  <a:srgbClr val="000000"/>
                </a:solidFill>
                <a:latin typeface="Arial"/>
                <a:ea typeface="Arial"/>
                <a:cs typeface="Arial"/>
                <a:sym typeface="Arial"/>
              </a:rPr>
              <a:t> ¿Qué significa que un lenguaje sea homoicónico y por qué esto facilita la creación de lenguajes de dominio específico (DSLs)?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Reto de validación:</a:t>
            </a:r>
            <a:r>
              <a:rPr lang="es" sz="1100">
                <a:solidFill>
                  <a:srgbClr val="000000"/>
                </a:solidFill>
                <a:latin typeface="Arial"/>
                <a:ea typeface="Arial"/>
                <a:cs typeface="Arial"/>
                <a:sym typeface="Arial"/>
              </a:rPr>
              <a:t> Generar una macro simple en Lisp que cree una nueva estructura sintáctica y explicar su expansión.</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Daniel Restrepo Diaz</a:t>
            </a:r>
            <a:endParaRPr sz="110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5"/>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Presentaciones, Viernes 13 de Febrero</a:t>
            </a:r>
            <a:endParaRPr/>
          </a:p>
        </p:txBody>
      </p:sp>
      <p:sp>
        <p:nvSpPr>
          <p:cNvPr id="351" name="Google Shape;351;p45"/>
          <p:cNvSpPr txBox="1"/>
          <p:nvPr>
            <p:ph idx="1" type="body"/>
          </p:nvPr>
        </p:nvSpPr>
        <p:spPr>
          <a:xfrm>
            <a:off x="729325" y="1237075"/>
            <a:ext cx="3774300" cy="35781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s" sz="1700">
                <a:solidFill>
                  <a:srgbClr val="000000"/>
                </a:solidFill>
                <a:latin typeface="Arial"/>
                <a:ea typeface="Arial"/>
                <a:cs typeface="Arial"/>
                <a:sym typeface="Arial"/>
              </a:rPr>
              <a:t>3.  C++ y el coste cero de la abstracción</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Cómo Bjarne Stroustrup diseñó un lenguaje que permite niveles altos de abstracción sin perder el rendimiento del lenguaje ensamblador.</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Enfoque:</a:t>
            </a:r>
            <a:r>
              <a:rPr lang="es" sz="1100">
                <a:solidFill>
                  <a:srgbClr val="000000"/>
                </a:solidFill>
                <a:latin typeface="Arial"/>
                <a:ea typeface="Arial"/>
                <a:cs typeface="Arial"/>
                <a:sym typeface="Arial"/>
              </a:rPr>
              <a:t> Plantillas (</a:t>
            </a:r>
            <a:r>
              <a:rPr i="1" lang="es" sz="1100">
                <a:solidFill>
                  <a:srgbClr val="000000"/>
                </a:solidFill>
                <a:latin typeface="Arial"/>
                <a:ea typeface="Arial"/>
                <a:cs typeface="Arial"/>
                <a:sym typeface="Arial"/>
              </a:rPr>
              <a:t>Templates</a:t>
            </a:r>
            <a:r>
              <a:rPr lang="es" sz="1100">
                <a:solidFill>
                  <a:srgbClr val="000000"/>
                </a:solidFill>
                <a:latin typeface="Arial"/>
                <a:ea typeface="Arial"/>
                <a:cs typeface="Arial"/>
                <a:sym typeface="Arial"/>
              </a:rPr>
              <a:t>), RAII (</a:t>
            </a:r>
            <a:r>
              <a:rPr i="1" lang="es" sz="1100">
                <a:solidFill>
                  <a:srgbClr val="000000"/>
                </a:solidFill>
                <a:latin typeface="Arial"/>
                <a:ea typeface="Arial"/>
                <a:cs typeface="Arial"/>
                <a:sym typeface="Arial"/>
              </a:rPr>
              <a:t>Resource Acquisition Is Initialization</a:t>
            </a:r>
            <a:r>
              <a:rPr lang="es" sz="1100">
                <a:solidFill>
                  <a:srgbClr val="000000"/>
                </a:solidFill>
                <a:latin typeface="Arial"/>
                <a:ea typeface="Arial"/>
                <a:cs typeface="Arial"/>
                <a:sym typeface="Arial"/>
              </a:rPr>
              <a:t>) y programación genérica.</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Investigación con IA:</a:t>
            </a:r>
            <a:r>
              <a:rPr lang="es" sz="1100">
                <a:solidFill>
                  <a:srgbClr val="000000"/>
                </a:solidFill>
                <a:latin typeface="Arial"/>
                <a:ea typeface="Arial"/>
                <a:cs typeface="Arial"/>
                <a:sym typeface="Arial"/>
              </a:rPr>
              <a:t> El proceso de "monomorfización" que ocurre durante la compilación de plantillas en C++.</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Reto de validación:</a:t>
            </a:r>
            <a:r>
              <a:rPr lang="es" sz="1100">
                <a:solidFill>
                  <a:srgbClr val="000000"/>
                </a:solidFill>
                <a:latin typeface="Arial"/>
                <a:ea typeface="Arial"/>
                <a:cs typeface="Arial"/>
                <a:sym typeface="Arial"/>
              </a:rPr>
              <a:t> Comparar el rendimiento de un contenedor genérico en C++ frente a uno en un lenguaje con </a:t>
            </a:r>
            <a:r>
              <a:rPr i="1" lang="es" sz="1100">
                <a:solidFill>
                  <a:srgbClr val="000000"/>
                </a:solidFill>
                <a:latin typeface="Arial"/>
                <a:ea typeface="Arial"/>
                <a:cs typeface="Arial"/>
                <a:sym typeface="Arial"/>
              </a:rPr>
              <a:t>Garbage Collector</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Juan Ignacio Echavarria</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sp>
        <p:nvSpPr>
          <p:cNvPr id="352" name="Google Shape;352;p45"/>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4. SQL: El poder de los lenguajes declarativos</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A diferencia de C o Python, en SQL dices </a:t>
            </a:r>
            <a:r>
              <a:rPr i="1" lang="es" sz="1100">
                <a:solidFill>
                  <a:srgbClr val="000000"/>
                </a:solidFill>
                <a:latin typeface="Arial"/>
                <a:ea typeface="Arial"/>
                <a:cs typeface="Arial"/>
                <a:sym typeface="Arial"/>
              </a:rPr>
              <a:t>qué</a:t>
            </a:r>
            <a:r>
              <a:rPr lang="es" sz="1100">
                <a:solidFill>
                  <a:srgbClr val="000000"/>
                </a:solidFill>
                <a:latin typeface="Arial"/>
                <a:ea typeface="Arial"/>
                <a:cs typeface="Arial"/>
                <a:sym typeface="Arial"/>
              </a:rPr>
              <a:t> quieres, no </a:t>
            </a:r>
            <a:r>
              <a:rPr i="1" lang="es" sz="1100">
                <a:solidFill>
                  <a:srgbClr val="000000"/>
                </a:solidFill>
                <a:latin typeface="Arial"/>
                <a:ea typeface="Arial"/>
                <a:cs typeface="Arial"/>
                <a:sym typeface="Arial"/>
              </a:rPr>
              <a:t>cómo</a:t>
            </a:r>
            <a:r>
              <a:rPr lang="es" sz="1100">
                <a:solidFill>
                  <a:srgbClr val="000000"/>
                </a:solidFill>
                <a:latin typeface="Arial"/>
                <a:ea typeface="Arial"/>
                <a:cs typeface="Arial"/>
                <a:sym typeface="Arial"/>
              </a:rPr>
              <a:t> obtenerlo.</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Enfoque:</a:t>
            </a:r>
            <a:r>
              <a:rPr lang="es" sz="1100">
                <a:solidFill>
                  <a:srgbClr val="000000"/>
                </a:solidFill>
                <a:latin typeface="Arial"/>
                <a:ea typeface="Arial"/>
                <a:cs typeface="Arial"/>
                <a:sym typeface="Arial"/>
              </a:rPr>
              <a:t> El optimizador de consultas como un compilador de lógica relacional.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Investigación con IA:</a:t>
            </a:r>
            <a:r>
              <a:rPr lang="es" sz="1100">
                <a:solidFill>
                  <a:srgbClr val="000000"/>
                </a:solidFill>
                <a:latin typeface="Arial"/>
                <a:ea typeface="Arial"/>
                <a:cs typeface="Arial"/>
                <a:sym typeface="Arial"/>
              </a:rPr>
              <a:t> ¿Cómo traduce un motor de base de datos una sentencia declarativa en un plan de ejecución imperativo?</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Reto de validación:</a:t>
            </a:r>
            <a:r>
              <a:rPr lang="es" sz="1100">
                <a:solidFill>
                  <a:srgbClr val="000000"/>
                </a:solidFill>
                <a:latin typeface="Arial"/>
                <a:ea typeface="Arial"/>
                <a:cs typeface="Arial"/>
                <a:sym typeface="Arial"/>
              </a:rPr>
              <a:t> Usar la IA para generar planes de ejecución de una consulta compleja y analizar por qué elige ciertos índices.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Eduard Valbuena Oritz</a:t>
            </a:r>
            <a:endParaRPr sz="110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6"/>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Presentaciones, Viernes 13 de Febrero</a:t>
            </a:r>
            <a:endParaRPr/>
          </a:p>
        </p:txBody>
      </p:sp>
      <p:sp>
        <p:nvSpPr>
          <p:cNvPr id="358" name="Google Shape;358;p46"/>
          <p:cNvSpPr txBox="1"/>
          <p:nvPr>
            <p:ph idx="1" type="body"/>
          </p:nvPr>
        </p:nvSpPr>
        <p:spPr>
          <a:xfrm>
            <a:off x="729325" y="1237075"/>
            <a:ext cx="3774300" cy="3102900"/>
          </a:xfrm>
          <a:prstGeom prst="rect">
            <a:avLst/>
          </a:prstGeom>
        </p:spPr>
        <p:txBody>
          <a:bodyPr anchorCtr="0" anchor="t" bIns="91425" lIns="91425" spcFirstLastPara="1" rIns="91425" wrap="square" tIns="91425">
            <a:normAutofit fontScale="92500" lnSpcReduction="1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5. Lenguaje Ensamblador y el "RollerCoaster Tycoon" original</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Casi el 99% de este juego fue escrito directamente en ensamblador x86 por una sola persona (Chris Sawyer).</a:t>
            </a:r>
            <a:endParaRPr sz="1100">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Enfoque:</a:t>
            </a:r>
            <a:r>
              <a:rPr lang="es" sz="1100">
                <a:solidFill>
                  <a:srgbClr val="000000"/>
                </a:solidFill>
                <a:latin typeface="Arial"/>
                <a:ea typeface="Arial"/>
                <a:cs typeface="Arial"/>
                <a:sym typeface="Arial"/>
              </a:rPr>
              <a:t> Programación a bajo nivel, gestión manual de registros y saltos condicionales.</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Investigación con IA:</a:t>
            </a:r>
            <a:r>
              <a:rPr lang="es" sz="1100">
                <a:solidFill>
                  <a:srgbClr val="000000"/>
                </a:solidFill>
                <a:latin typeface="Arial"/>
                <a:ea typeface="Arial"/>
                <a:cs typeface="Arial"/>
                <a:sym typeface="Arial"/>
              </a:rPr>
              <a:t> Las ventajas de rendimiento (y los riesgos de mantenibilidad) de escribir un software comercial entero en ensamblador.</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Reto de validación:</a:t>
            </a:r>
            <a:r>
              <a:rPr lang="es" sz="1100">
                <a:solidFill>
                  <a:srgbClr val="000000"/>
                </a:solidFill>
                <a:latin typeface="Arial"/>
                <a:ea typeface="Arial"/>
                <a:cs typeface="Arial"/>
                <a:sym typeface="Arial"/>
              </a:rPr>
              <a:t> Comparar un fragmento de lógica de colisiones en C++ vs. su equivalente optimizado en ensamblador generado por un compilador.</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Daniel Ramirez</a:t>
            </a:r>
            <a:endParaRPr sz="1100">
              <a:solidFill>
                <a:srgbClr val="000000"/>
              </a:solidFill>
              <a:latin typeface="Arial"/>
              <a:ea typeface="Arial"/>
              <a:cs typeface="Arial"/>
              <a:sym typeface="Arial"/>
            </a:endParaRPr>
          </a:p>
        </p:txBody>
      </p:sp>
      <p:sp>
        <p:nvSpPr>
          <p:cNvPr id="359" name="Google Shape;359;p46"/>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None/>
            </a:pPr>
            <a:r>
              <a:rPr b="1" lang="es" sz="1700">
                <a:solidFill>
                  <a:srgbClr val="000000"/>
                </a:solidFill>
                <a:latin typeface="Arial"/>
                <a:ea typeface="Arial"/>
                <a:cs typeface="Arial"/>
                <a:sym typeface="Arial"/>
              </a:rPr>
              <a:t>6. Haskell y la Pureza Funcional</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Un lenguaje donde las funciones no tienen efectos secundarios, lo que cambia radicalmente la forma de razonar sobre el código.</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Enfoque:</a:t>
            </a:r>
            <a:r>
              <a:rPr lang="es" sz="1100">
                <a:solidFill>
                  <a:srgbClr val="000000"/>
                </a:solidFill>
                <a:latin typeface="Arial"/>
                <a:ea typeface="Arial"/>
                <a:cs typeface="Arial"/>
                <a:sym typeface="Arial"/>
              </a:rPr>
              <a:t> Evaluación perezosa (</a:t>
            </a:r>
            <a:r>
              <a:rPr i="1" lang="es" sz="1100">
                <a:solidFill>
                  <a:srgbClr val="000000"/>
                </a:solidFill>
                <a:latin typeface="Arial"/>
                <a:ea typeface="Arial"/>
                <a:cs typeface="Arial"/>
                <a:sym typeface="Arial"/>
              </a:rPr>
              <a:t>Lazy evaluation</a:t>
            </a:r>
            <a:r>
              <a:rPr lang="es" sz="1100">
                <a:solidFill>
                  <a:srgbClr val="000000"/>
                </a:solidFill>
                <a:latin typeface="Arial"/>
                <a:ea typeface="Arial"/>
                <a:cs typeface="Arial"/>
                <a:sym typeface="Arial"/>
              </a:rPr>
              <a:t>), transparencia referencial y mónadas.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Investigación con IA:</a:t>
            </a:r>
            <a:r>
              <a:rPr lang="es" sz="1100">
                <a:solidFill>
                  <a:srgbClr val="000000"/>
                </a:solidFill>
                <a:latin typeface="Arial"/>
                <a:ea typeface="Arial"/>
                <a:cs typeface="Arial"/>
                <a:sym typeface="Arial"/>
              </a:rPr>
              <a:t> ¿Cómo maneja Haskell la entrada/salida (I/O) si es un lenguaje puramente funcional?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Reto de validación:</a:t>
            </a:r>
            <a:r>
              <a:rPr lang="es" sz="1100">
                <a:solidFill>
                  <a:srgbClr val="000000"/>
                </a:solidFill>
                <a:latin typeface="Arial"/>
                <a:ea typeface="Arial"/>
                <a:cs typeface="Arial"/>
                <a:sym typeface="Arial"/>
              </a:rPr>
              <a:t> Explicar el concepto de "Lazy Evaluation" con un ejemplo donde se procese una lista infinita de números.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sz="1100">
                <a:solidFill>
                  <a:srgbClr val="000000"/>
                </a:solidFill>
                <a:latin typeface="Arial"/>
                <a:ea typeface="Arial"/>
                <a:cs typeface="Arial"/>
                <a:sym typeface="Arial"/>
              </a:rPr>
              <a:t>Felipe Trujillo</a:t>
            </a:r>
            <a:endParaRPr sz="1100">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7"/>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 Sugerida de la Presentación (15 Minutos)</a:t>
            </a:r>
            <a:endParaRPr/>
          </a:p>
        </p:txBody>
      </p:sp>
      <p:sp>
        <p:nvSpPr>
          <p:cNvPr id="365" name="Google Shape;365;p47"/>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100">
                <a:solidFill>
                  <a:srgbClr val="000000"/>
                </a:solidFill>
                <a:latin typeface="Arial"/>
                <a:ea typeface="Arial"/>
                <a:cs typeface="Arial"/>
                <a:sym typeface="Arial"/>
              </a:rPr>
              <a:t>Diapositiva 1: Portada e Introducción (1 min)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s" sz="1100">
                <a:solidFill>
                  <a:srgbClr val="000000"/>
                </a:solidFill>
                <a:latin typeface="Arial"/>
                <a:ea typeface="Arial"/>
                <a:cs typeface="Arial"/>
                <a:sym typeface="Arial"/>
              </a:rPr>
              <a:t>Título del tema, nombres y el "Problema de Ingeniería" (ej. ¿Cómo meter 1GB en 64MB?).</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Diapositiva 2: Contexto Tecnológico (2 min)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s" sz="1100">
                <a:solidFill>
                  <a:srgbClr val="000000"/>
                </a:solidFill>
                <a:latin typeface="Arial"/>
                <a:ea typeface="Arial"/>
                <a:cs typeface="Arial"/>
                <a:sym typeface="Arial"/>
              </a:rPr>
              <a:t>Lenguaje de programación utilizado y arquitectura de hardware de la época.</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Diapositiva 3: El Desafío Técnico (2 min)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s" sz="1100">
                <a:solidFill>
                  <a:srgbClr val="000000"/>
                </a:solidFill>
                <a:latin typeface="Arial"/>
                <a:ea typeface="Arial"/>
                <a:cs typeface="Arial"/>
                <a:sym typeface="Arial"/>
              </a:rPr>
              <a:t>Limitaciones de memoria, velocidad de procesamiento o seguridad de tipos.</a:t>
            </a:r>
            <a:endParaRPr/>
          </a:p>
        </p:txBody>
      </p:sp>
      <p:sp>
        <p:nvSpPr>
          <p:cNvPr id="366" name="Google Shape;366;p47"/>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 sz="1100">
                <a:solidFill>
                  <a:srgbClr val="000000"/>
                </a:solidFill>
                <a:latin typeface="Arial"/>
                <a:ea typeface="Arial"/>
                <a:cs typeface="Arial"/>
                <a:sym typeface="Arial"/>
              </a:rPr>
              <a:t>Diapositiva 4-6: Análisis del Lenguaje/Paradigma (6 min)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s" sz="1100">
                <a:solidFill>
                  <a:srgbClr val="000000"/>
                </a:solidFill>
                <a:latin typeface="Arial"/>
                <a:ea typeface="Arial"/>
                <a:cs typeface="Arial"/>
                <a:sym typeface="Arial"/>
              </a:rPr>
              <a:t>Explicación de la característica clave (ej. Punteros en C, Mónadas en Haskell, Ownership en Rust).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Snippet de código:</a:t>
            </a:r>
            <a:r>
              <a:rPr lang="es" sz="1100">
                <a:solidFill>
                  <a:srgbClr val="000000"/>
                </a:solidFill>
                <a:latin typeface="Arial"/>
                <a:ea typeface="Arial"/>
                <a:cs typeface="Arial"/>
                <a:sym typeface="Arial"/>
              </a:rPr>
              <a:t> Un ejemplo breve que ilustre el concepto.</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Diapositiva 7: Validación de IA vs. Realidad (2 min)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s" sz="1100">
                <a:solidFill>
                  <a:srgbClr val="000000"/>
                </a:solidFill>
                <a:latin typeface="Arial"/>
                <a:ea typeface="Arial"/>
                <a:cs typeface="Arial"/>
                <a:sym typeface="Arial"/>
              </a:rPr>
              <a:t>¿Qué dato erróneo o "alucinación" entregó la IA durante la investigación y cómo lo corrigieron usando fuentes técnicas?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Diapositiva 8: Conclusiones y Lecciones (2 min)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s" sz="1100">
                <a:solidFill>
                  <a:srgbClr val="000000"/>
                </a:solidFill>
                <a:latin typeface="Arial"/>
                <a:ea typeface="Arial"/>
                <a:cs typeface="Arial"/>
                <a:sym typeface="Arial"/>
              </a:rPr>
              <a:t>Impacto de este caso en la teoría de lenguajes actual.</a:t>
            </a:r>
            <a:endParaRPr/>
          </a:p>
        </p:txBody>
      </p:sp>
      <p:sp>
        <p:nvSpPr>
          <p:cNvPr id="367" name="Google Shape;367;p47"/>
          <p:cNvSpPr txBox="1"/>
          <p:nvPr/>
        </p:nvSpPr>
        <p:spPr>
          <a:xfrm>
            <a:off x="136050" y="4495500"/>
            <a:ext cx="88719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1100"/>
              </a:spcAft>
              <a:buNone/>
            </a:pPr>
            <a:r>
              <a:rPr lang="es"/>
              <a:t>El objetivo no es que la IA te haga la presentación, sino que actúe como un motor de búsqueda avanzada y un simulador de conceptos complejos que el estudiante debe validar.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8"/>
          <p:cNvSpPr txBox="1"/>
          <p:nvPr>
            <p:ph type="title"/>
          </p:nvPr>
        </p:nvSpPr>
        <p:spPr>
          <a:xfrm>
            <a:off x="830400" y="656050"/>
            <a:ext cx="76884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lang="es" sz="1700">
                <a:solidFill>
                  <a:srgbClr val="000000"/>
                </a:solidFill>
                <a:latin typeface="Arial"/>
                <a:ea typeface="Arial"/>
                <a:cs typeface="Arial"/>
                <a:sym typeface="Arial"/>
              </a:rPr>
              <a:t>Prompts Base Recomendados para la presentación</a:t>
            </a:r>
            <a:endParaRPr/>
          </a:p>
        </p:txBody>
      </p:sp>
      <p:sp>
        <p:nvSpPr>
          <p:cNvPr id="373" name="Google Shape;373;p48"/>
          <p:cNvSpPr txBox="1"/>
          <p:nvPr>
            <p:ph idx="1" type="body"/>
          </p:nvPr>
        </p:nvSpPr>
        <p:spPr>
          <a:xfrm>
            <a:off x="729325" y="1237075"/>
            <a:ext cx="3774300" cy="31029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s">
                <a:solidFill>
                  <a:srgbClr val="000000"/>
                </a:solidFill>
                <a:latin typeface="Arial"/>
                <a:ea typeface="Arial"/>
                <a:cs typeface="Arial"/>
                <a:sym typeface="Arial"/>
              </a:rPr>
              <a:t>A. Para entender conceptos profundos:</a:t>
            </a:r>
            <a:endParaRPr b="1">
              <a:solidFill>
                <a:srgbClr val="000000"/>
              </a:solidFill>
              <a:latin typeface="Arial"/>
              <a:ea typeface="Arial"/>
              <a:cs typeface="Arial"/>
              <a:sym typeface="Arial"/>
            </a:endParaRPr>
          </a:p>
          <a:p>
            <a:pPr indent="0" lvl="0" marL="381000" marR="381000" rtl="0" algn="l">
              <a:spcBef>
                <a:spcPts val="1200"/>
              </a:spcBef>
              <a:spcAft>
                <a:spcPts val="0"/>
              </a:spcAft>
              <a:buNone/>
            </a:pPr>
            <a:r>
              <a:rPr lang="es" sz="1100">
                <a:solidFill>
                  <a:srgbClr val="000000"/>
                </a:solidFill>
                <a:latin typeface="Arial"/>
                <a:ea typeface="Arial"/>
                <a:cs typeface="Arial"/>
                <a:sym typeface="Arial"/>
              </a:rPr>
              <a:t>"Actúa como un experto en arquitectura de software y teoría de compiladores. Explica detalladamente cómo el [Lenguaje X] gestiona [Concepto Y] en el caso de [Tema Elegido]. Usa analogías técnicas pero termina con una explicación a nivel de registros o gestión de memoria."</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s">
                <a:solidFill>
                  <a:srgbClr val="000000"/>
                </a:solidFill>
                <a:latin typeface="Arial"/>
                <a:ea typeface="Arial"/>
                <a:cs typeface="Arial"/>
                <a:sym typeface="Arial"/>
              </a:rPr>
              <a:t>B. Para generar y analizar código:</a:t>
            </a:r>
            <a:endParaRPr b="1">
              <a:solidFill>
                <a:srgbClr val="000000"/>
              </a:solidFill>
              <a:latin typeface="Arial"/>
              <a:ea typeface="Arial"/>
              <a:cs typeface="Arial"/>
              <a:sym typeface="Arial"/>
            </a:endParaRPr>
          </a:p>
          <a:p>
            <a:pPr indent="0" lvl="0" marL="381000" marR="381000" rtl="0" algn="l">
              <a:spcBef>
                <a:spcPts val="1200"/>
              </a:spcBef>
              <a:spcAft>
                <a:spcPts val="1200"/>
              </a:spcAft>
              <a:buNone/>
            </a:pPr>
            <a:r>
              <a:rPr lang="es" sz="1100">
                <a:solidFill>
                  <a:srgbClr val="000000"/>
                </a:solidFill>
                <a:latin typeface="Arial"/>
                <a:ea typeface="Arial"/>
                <a:cs typeface="Arial"/>
                <a:sym typeface="Arial"/>
              </a:rPr>
              <a:t>"Genera un ejemplo de código en [Lenguaje] que demuestre el error de [Caso X] o la optimización de [Caso Y]. Explica línea por línea qué sucede en el stack y en el heap durante la ejecución."</a:t>
            </a:r>
            <a:endParaRPr b="1" sz="1700">
              <a:solidFill>
                <a:srgbClr val="000000"/>
              </a:solidFill>
              <a:latin typeface="Arial"/>
              <a:ea typeface="Arial"/>
              <a:cs typeface="Arial"/>
              <a:sym typeface="Arial"/>
            </a:endParaRPr>
          </a:p>
        </p:txBody>
      </p:sp>
      <p:sp>
        <p:nvSpPr>
          <p:cNvPr id="374" name="Google Shape;374;p48"/>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s">
                <a:solidFill>
                  <a:srgbClr val="000000"/>
                </a:solidFill>
                <a:latin typeface="Arial"/>
                <a:ea typeface="Arial"/>
                <a:cs typeface="Arial"/>
                <a:sym typeface="Arial"/>
              </a:rPr>
              <a:t>C. Para la validación crítica (Detección de alucinaciones):</a:t>
            </a:r>
            <a:endParaRPr b="1">
              <a:solidFill>
                <a:srgbClr val="000000"/>
              </a:solidFill>
              <a:latin typeface="Arial"/>
              <a:ea typeface="Arial"/>
              <a:cs typeface="Arial"/>
              <a:sym typeface="Arial"/>
            </a:endParaRPr>
          </a:p>
          <a:p>
            <a:pPr indent="0" lvl="0" marL="381000" marR="381000" rtl="0" algn="l">
              <a:spcBef>
                <a:spcPts val="1200"/>
              </a:spcBef>
              <a:spcAft>
                <a:spcPts val="0"/>
              </a:spcAft>
              <a:buNone/>
            </a:pPr>
            <a:r>
              <a:rPr lang="es" sz="1100">
                <a:solidFill>
                  <a:srgbClr val="000000"/>
                </a:solidFill>
                <a:latin typeface="Arial"/>
                <a:ea typeface="Arial"/>
                <a:cs typeface="Arial"/>
                <a:sym typeface="Arial"/>
              </a:rPr>
              <a:t>"Dada la explicación anterior sobre [Tema], cítame las fuentes técnicas oficiales o manuales de referencia (ej. manuales de Intel, estándares ISO de C++, documentación de la JVM) que confirmen que este comportamiento es real y no una simplificación."</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s"/>
              <a:t>Se recomienda correr estos prompts en al menos 3 IAs y luego contrastar los resultados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9"/>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Rúbrica de Evaluación por pares de la presentación</a:t>
            </a:r>
            <a:endParaRPr/>
          </a:p>
        </p:txBody>
      </p:sp>
      <p:sp>
        <p:nvSpPr>
          <p:cNvPr id="380" name="Google Shape;380;p49"/>
          <p:cNvSpPr txBox="1"/>
          <p:nvPr>
            <p:ph idx="1" type="body"/>
          </p:nvPr>
        </p:nvSpPr>
        <p:spPr>
          <a:xfrm>
            <a:off x="729325" y="1237075"/>
            <a:ext cx="3774300" cy="310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None/>
            </a:pPr>
            <a:r>
              <a:rPr b="1" lang="es">
                <a:solidFill>
                  <a:srgbClr val="000000"/>
                </a:solidFill>
                <a:latin typeface="Arial"/>
                <a:ea typeface="Arial"/>
                <a:cs typeface="Arial"/>
                <a:sym typeface="Arial"/>
              </a:rPr>
              <a:t>1. Dominio Conceptual del Lenguaje (30%)</a:t>
            </a:r>
            <a:endParaRPr b="1">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Criterio:</a:t>
            </a:r>
            <a:r>
              <a:rPr lang="es" sz="1100">
                <a:solidFill>
                  <a:srgbClr val="000000"/>
                </a:solidFill>
                <a:latin typeface="Arial"/>
                <a:ea typeface="Arial"/>
                <a:cs typeface="Arial"/>
                <a:sym typeface="Arial"/>
              </a:rPr>
              <a:t> ¿El compañero explicó claramente cómo el lenguaje o paradigma seleccionado resolvió el problema técnico?</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Qué observar:</a:t>
            </a:r>
            <a:r>
              <a:rPr lang="es" sz="1100">
                <a:solidFill>
                  <a:srgbClr val="000000"/>
                </a:solidFill>
                <a:latin typeface="Arial"/>
                <a:ea typeface="Arial"/>
                <a:cs typeface="Arial"/>
                <a:sym typeface="Arial"/>
              </a:rPr>
              <a:t> Uso correcto de términos (punteros, tipado, concurrencia, gestión de memoria, etc.).</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s">
                <a:solidFill>
                  <a:srgbClr val="000000"/>
                </a:solidFill>
                <a:latin typeface="Arial"/>
                <a:ea typeface="Arial"/>
                <a:cs typeface="Arial"/>
                <a:sym typeface="Arial"/>
              </a:rPr>
              <a:t>2. Rigor en la Validación Técnica (30%)</a:t>
            </a:r>
            <a:endParaRPr b="1">
              <a:solidFill>
                <a:srgbClr val="000000"/>
              </a:solidFill>
              <a:latin typeface="Arial"/>
              <a:ea typeface="Arial"/>
              <a:cs typeface="Arial"/>
              <a:sym typeface="Arial"/>
            </a:endParaRPr>
          </a:p>
          <a:p>
            <a:pPr indent="-293211"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Criterio:</a:t>
            </a:r>
            <a:r>
              <a:rPr lang="es" sz="1100">
                <a:solidFill>
                  <a:srgbClr val="000000"/>
                </a:solidFill>
                <a:latin typeface="Arial"/>
                <a:ea typeface="Arial"/>
                <a:cs typeface="Arial"/>
                <a:sym typeface="Arial"/>
              </a:rPr>
              <a:t> ¿Demostraron haber contrastado la información de la IA con fuentes primarias o documentación oficial?</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Qué observar:</a:t>
            </a:r>
            <a:r>
              <a:rPr lang="es" sz="1100">
                <a:solidFill>
                  <a:srgbClr val="000000"/>
                </a:solidFill>
                <a:latin typeface="Arial"/>
                <a:ea typeface="Arial"/>
                <a:cs typeface="Arial"/>
                <a:sym typeface="Arial"/>
              </a:rPr>
              <a:t> Mención explícita de manuales, repositorios o errores detectados en las respuestas de la IA.</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381" name="Google Shape;381;p49"/>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fontScale="77500" lnSpcReduction="20000"/>
          </a:bodyPr>
          <a:lstStyle/>
          <a:p>
            <a:pPr indent="0" lvl="0" marL="0" rtl="0" algn="l">
              <a:spcBef>
                <a:spcPts val="1400"/>
              </a:spcBef>
              <a:spcAft>
                <a:spcPts val="0"/>
              </a:spcAft>
              <a:buNone/>
            </a:pPr>
            <a:r>
              <a:rPr b="1" lang="es">
                <a:solidFill>
                  <a:srgbClr val="000000"/>
                </a:solidFill>
                <a:latin typeface="Arial"/>
                <a:ea typeface="Arial"/>
                <a:cs typeface="Arial"/>
                <a:sym typeface="Arial"/>
              </a:rPr>
              <a:t>3. Calidad del Análisis de Código (20%)</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Criterio:</a:t>
            </a:r>
            <a:r>
              <a:rPr lang="es" sz="1100">
                <a:solidFill>
                  <a:srgbClr val="000000"/>
                </a:solidFill>
                <a:latin typeface="Arial"/>
                <a:ea typeface="Arial"/>
                <a:cs typeface="Arial"/>
                <a:sym typeface="Arial"/>
              </a:rPr>
              <a:t> ¿El fragmento de código mostrado fue explicado a profundidad y es relevante para el tema?</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Qué observar:</a:t>
            </a:r>
            <a:r>
              <a:rPr lang="es" sz="1100">
                <a:solidFill>
                  <a:srgbClr val="000000"/>
                </a:solidFill>
                <a:latin typeface="Arial"/>
                <a:ea typeface="Arial"/>
                <a:cs typeface="Arial"/>
                <a:sym typeface="Arial"/>
              </a:rPr>
              <a:t> Capacidad de explicar qué ocurre "bajo el capó" (ej. en la memoria o el procesador).</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s">
                <a:solidFill>
                  <a:srgbClr val="000000"/>
                </a:solidFill>
                <a:latin typeface="Arial"/>
                <a:ea typeface="Arial"/>
                <a:cs typeface="Arial"/>
                <a:sym typeface="Arial"/>
              </a:rPr>
              <a:t>4. Capacidad de Síntesis y Tiempo (10%)</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Criterio:</a:t>
            </a:r>
            <a:r>
              <a:rPr lang="es" sz="1100">
                <a:solidFill>
                  <a:srgbClr val="000000"/>
                </a:solidFill>
                <a:latin typeface="Arial"/>
                <a:ea typeface="Arial"/>
                <a:cs typeface="Arial"/>
                <a:sym typeface="Arial"/>
              </a:rPr>
              <a:t> ¿La presentación fue fluida, respetó los 15 minutos y usó apoyos visuales claros?</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Qué observar:</a:t>
            </a:r>
            <a:r>
              <a:rPr lang="es" sz="1100">
                <a:solidFill>
                  <a:srgbClr val="000000"/>
                </a:solidFill>
                <a:latin typeface="Arial"/>
                <a:ea typeface="Arial"/>
                <a:cs typeface="Arial"/>
                <a:sym typeface="Arial"/>
              </a:rPr>
              <a:t> Diapositivas no saturadas de texto y buen manejo del tiempo.</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s">
                <a:solidFill>
                  <a:srgbClr val="000000"/>
                </a:solidFill>
                <a:latin typeface="Arial"/>
                <a:ea typeface="Arial"/>
                <a:cs typeface="Arial"/>
                <a:sym typeface="Arial"/>
              </a:rPr>
              <a:t>5. Respuesta a Preguntas / Defensa (10%)</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Criterio:</a:t>
            </a:r>
            <a:r>
              <a:rPr lang="es" sz="1100">
                <a:solidFill>
                  <a:srgbClr val="000000"/>
                </a:solidFill>
                <a:latin typeface="Arial"/>
                <a:ea typeface="Arial"/>
                <a:cs typeface="Arial"/>
                <a:sym typeface="Arial"/>
              </a:rPr>
              <a:t> ¿Los expositores demostraron seguridad y conocimiento al responder dudas del público o del profesor?</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0"/>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Bibliografía</a:t>
            </a:r>
            <a:endParaRPr/>
          </a:p>
        </p:txBody>
      </p:sp>
      <p:sp>
        <p:nvSpPr>
          <p:cNvPr id="387" name="Google Shape;387;p50"/>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https://web.mit.edu/6.001/6.037/sicp.pdf</a:t>
            </a:r>
            <a:endParaRPr/>
          </a:p>
        </p:txBody>
      </p:sp>
      <p:pic>
        <p:nvPicPr>
          <p:cNvPr id="388" name="Google Shape;388;p50"/>
          <p:cNvPicPr preferRelativeResize="0"/>
          <p:nvPr/>
        </p:nvPicPr>
        <p:blipFill rotWithShape="1">
          <a:blip r:embed="rId3">
            <a:alphaModFix/>
          </a:blip>
          <a:srcRect b="0" l="0" r="0" t="0"/>
          <a:stretch/>
        </p:blipFill>
        <p:spPr>
          <a:xfrm rot="519875">
            <a:off x="7137368" y="574257"/>
            <a:ext cx="1709792" cy="258178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descr="Imagen que contiene texto&#10;&#10;Descripción generada con confianza muy alta" id="389" name="Google Shape;389;p50"/>
          <p:cNvPicPr preferRelativeResize="0"/>
          <p:nvPr/>
        </p:nvPicPr>
        <p:blipFill rotWithShape="1">
          <a:blip r:embed="rId4">
            <a:alphaModFix/>
          </a:blip>
          <a:srcRect b="0" l="0" r="0" t="0"/>
          <a:stretch/>
        </p:blipFill>
        <p:spPr>
          <a:xfrm rot="780048">
            <a:off x="4380220" y="267236"/>
            <a:ext cx="1849584" cy="283110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descr="Imagen que contiene texto&#10;&#10;Descripción generada con confianza alta" id="390" name="Google Shape;390;p50"/>
          <p:cNvPicPr preferRelativeResize="0"/>
          <p:nvPr/>
        </p:nvPicPr>
        <p:blipFill rotWithShape="1">
          <a:blip r:embed="rId5">
            <a:alphaModFix/>
          </a:blip>
          <a:srcRect b="0" l="0" r="0" t="0"/>
          <a:stretch/>
        </p:blipFill>
        <p:spPr>
          <a:xfrm rot="-703434">
            <a:off x="5561988" y="2680425"/>
            <a:ext cx="1865575" cy="2297503"/>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391" name="Google Shape;391;p50"/>
          <p:cNvPicPr preferRelativeResize="0"/>
          <p:nvPr/>
        </p:nvPicPr>
        <p:blipFill>
          <a:blip r:embed="rId6">
            <a:alphaModFix/>
          </a:blip>
          <a:stretch>
            <a:fillRect/>
          </a:stretch>
        </p:blipFill>
        <p:spPr>
          <a:xfrm rot="436653">
            <a:off x="917325" y="1769525"/>
            <a:ext cx="2146476" cy="3102900"/>
          </a:xfrm>
          <a:prstGeom prst="rect">
            <a:avLst/>
          </a:prstGeom>
          <a:solidFill>
            <a:srgbClr val="ECECEC"/>
          </a:solidFill>
          <a:ln cap="sq" cmpd="sng" w="88900">
            <a:solidFill>
              <a:srgbClr val="FFFFFF"/>
            </a:solidFill>
            <a:prstDash val="solid"/>
            <a:miter lim="8000"/>
            <a:headEnd len="sm" w="sm" type="none"/>
            <a:tailEnd len="sm" w="sm" type="none"/>
          </a:ln>
          <a:effectLst>
            <a:outerShdw blurRad="55000" rotWithShape="0" algn="tl" dir="5400000" dist="18000">
              <a:srgbClr val="000000">
                <a:alpha val="40000"/>
              </a:srgbClr>
            </a:outerShdw>
          </a:effectLst>
        </p:spPr>
      </p:pic>
      <p:pic>
        <p:nvPicPr>
          <p:cNvPr id="392" name="Google Shape;392;p50"/>
          <p:cNvPicPr preferRelativeResize="0"/>
          <p:nvPr/>
        </p:nvPicPr>
        <p:blipFill>
          <a:blip r:embed="rId7">
            <a:alphaModFix/>
          </a:blip>
          <a:stretch>
            <a:fillRect/>
          </a:stretch>
        </p:blipFill>
        <p:spPr>
          <a:xfrm rot="-882709">
            <a:off x="3331392" y="2862148"/>
            <a:ext cx="1680716" cy="219121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51"/>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Conversión de -60 a Binario</a:t>
            </a:r>
            <a:endParaRPr/>
          </a:p>
        </p:txBody>
      </p:sp>
      <p:sp>
        <p:nvSpPr>
          <p:cNvPr id="398" name="Google Shape;398;p51"/>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Para convertir el número 60 a binario, se realizan divisiones sucesivas por 2.</a:t>
            </a:r>
            <a:endParaRPr/>
          </a:p>
          <a:p>
            <a:pPr indent="-298450" lvl="0" marL="457200" rtl="0" algn="l">
              <a:spcBef>
                <a:spcPts val="1200"/>
              </a:spcBef>
              <a:spcAft>
                <a:spcPts val="0"/>
              </a:spcAft>
              <a:buClr>
                <a:srgbClr val="000000"/>
              </a:buClr>
              <a:buSzPts val="1100"/>
              <a:buFont typeface="Arial"/>
              <a:buChar char="●"/>
            </a:pPr>
            <a:r>
              <a:rPr lang="es"/>
              <a:t>60÷2=30, residuo 0</a:t>
            </a:r>
            <a:endParaRPr/>
          </a:p>
          <a:p>
            <a:pPr indent="-298450" lvl="0" marL="457200" rtl="0" algn="l">
              <a:spcBef>
                <a:spcPts val="0"/>
              </a:spcBef>
              <a:spcAft>
                <a:spcPts val="0"/>
              </a:spcAft>
              <a:buClr>
                <a:srgbClr val="000000"/>
              </a:buClr>
              <a:buSzPts val="1100"/>
              <a:buFont typeface="Arial"/>
              <a:buChar char="●"/>
            </a:pPr>
            <a:r>
              <a:rPr lang="es"/>
              <a:t>30÷2=15, residuo 0</a:t>
            </a:r>
            <a:endParaRPr/>
          </a:p>
          <a:p>
            <a:pPr indent="-298450" lvl="0" marL="457200" rtl="0" algn="l">
              <a:spcBef>
                <a:spcPts val="0"/>
              </a:spcBef>
              <a:spcAft>
                <a:spcPts val="0"/>
              </a:spcAft>
              <a:buClr>
                <a:srgbClr val="000000"/>
              </a:buClr>
              <a:buSzPts val="1100"/>
              <a:buFont typeface="Arial"/>
              <a:buChar char="●"/>
            </a:pPr>
            <a:r>
              <a:rPr lang="es"/>
              <a:t>15÷2=7, residuo 1</a:t>
            </a:r>
            <a:endParaRPr/>
          </a:p>
          <a:p>
            <a:pPr indent="-298450" lvl="0" marL="457200" rtl="0" algn="l">
              <a:spcBef>
                <a:spcPts val="0"/>
              </a:spcBef>
              <a:spcAft>
                <a:spcPts val="0"/>
              </a:spcAft>
              <a:buClr>
                <a:srgbClr val="000000"/>
              </a:buClr>
              <a:buSzPts val="1100"/>
              <a:buFont typeface="Arial"/>
              <a:buChar char="●"/>
            </a:pPr>
            <a:r>
              <a:rPr lang="es"/>
              <a:t>7÷2=3, residuo 1</a:t>
            </a:r>
            <a:endParaRPr/>
          </a:p>
          <a:p>
            <a:pPr indent="-298450" lvl="0" marL="457200" rtl="0" algn="l">
              <a:spcBef>
                <a:spcPts val="0"/>
              </a:spcBef>
              <a:spcAft>
                <a:spcPts val="0"/>
              </a:spcAft>
              <a:buClr>
                <a:srgbClr val="000000"/>
              </a:buClr>
              <a:buSzPts val="1100"/>
              <a:buFont typeface="Arial"/>
              <a:buChar char="●"/>
            </a:pPr>
            <a:r>
              <a:rPr lang="es"/>
              <a:t>3÷2=1, residuo 1</a:t>
            </a:r>
            <a:endParaRPr/>
          </a:p>
          <a:p>
            <a:pPr indent="-298450" lvl="0" marL="457200" rtl="0" algn="l">
              <a:spcBef>
                <a:spcPts val="0"/>
              </a:spcBef>
              <a:spcAft>
                <a:spcPts val="0"/>
              </a:spcAft>
              <a:buClr>
                <a:srgbClr val="000000"/>
              </a:buClr>
              <a:buSzPts val="1100"/>
              <a:buFont typeface="Arial"/>
              <a:buChar char="●"/>
            </a:pPr>
            <a:r>
              <a:rPr lang="es"/>
              <a:t>1÷2=0, residuo 1</a:t>
            </a:r>
            <a:endParaRPr/>
          </a:p>
          <a:p>
            <a:pPr indent="0" lvl="0" marL="0" rtl="0" algn="l">
              <a:spcBef>
                <a:spcPts val="1200"/>
              </a:spcBef>
              <a:spcAft>
                <a:spcPts val="0"/>
              </a:spcAft>
              <a:buNone/>
            </a:pPr>
            <a:r>
              <a:rPr lang="es"/>
              <a:t>Al leer los residuos de abajo hacia arriba, se obtiene el número binario de 60: 111100</a:t>
            </a:r>
            <a:r>
              <a:rPr baseline="-25000" lang="es"/>
              <a:t>2​</a:t>
            </a:r>
            <a:r>
              <a:rPr lang="es"/>
              <a:t>.</a:t>
            </a:r>
            <a:endParaRPr/>
          </a:p>
          <a:p>
            <a:pPr indent="0" lvl="0" marL="0" rtl="0" algn="l">
              <a:spcBef>
                <a:spcPts val="1200"/>
              </a:spcBef>
              <a:spcAft>
                <a:spcPts val="0"/>
              </a:spcAft>
              <a:buNone/>
            </a:pPr>
            <a:r>
              <a:rPr lang="es"/>
              <a:t>Peeerooo, ¿qué sucede con el signo menos?</a:t>
            </a:r>
            <a:endParaRPr/>
          </a:p>
          <a:p>
            <a:pPr indent="0" lvl="0" marL="0" rtl="0" algn="l">
              <a:spcBef>
                <a:spcPts val="120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p52"/>
          <p:cNvSpPr txBox="1"/>
          <p:nvPr>
            <p:ph type="title"/>
          </p:nvPr>
        </p:nvSpPr>
        <p:spPr>
          <a:xfrm>
            <a:off x="830400" y="410475"/>
            <a:ext cx="7688700" cy="78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Representación del Signo Negativo </a:t>
            </a:r>
            <a:endParaRPr/>
          </a:p>
          <a:p>
            <a:pPr indent="0" lvl="0" marL="0" rtl="0" algn="l">
              <a:spcBef>
                <a:spcPts val="0"/>
              </a:spcBef>
              <a:spcAft>
                <a:spcPts val="0"/>
              </a:spcAft>
              <a:buNone/>
            </a:pPr>
            <a:r>
              <a:rPr lang="es"/>
              <a:t>(Complemento a Dos)</a:t>
            </a:r>
            <a:endParaRPr/>
          </a:p>
        </p:txBody>
      </p:sp>
      <p:sp>
        <p:nvSpPr>
          <p:cNvPr id="404" name="Google Shape;404;p52"/>
          <p:cNvSpPr txBox="1"/>
          <p:nvPr>
            <p:ph idx="1" type="body"/>
          </p:nvPr>
        </p:nvSpPr>
        <p:spPr>
          <a:xfrm>
            <a:off x="729450" y="1237075"/>
            <a:ext cx="7688700" cy="3696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El signo negativo se representa usando el complemento a dos. Este método es preferido en la computación porque simplifica las operaciones de suma y resta. El proceso es el siguiente:</a:t>
            </a:r>
            <a:endParaRPr/>
          </a:p>
          <a:p>
            <a:pPr indent="-298450" lvl="0" marL="457200" rtl="0" algn="l">
              <a:spcBef>
                <a:spcPts val="1200"/>
              </a:spcBef>
              <a:spcAft>
                <a:spcPts val="0"/>
              </a:spcAft>
              <a:buClr>
                <a:srgbClr val="000000"/>
              </a:buClr>
              <a:buSzPts val="1100"/>
              <a:buFont typeface="Arial"/>
              <a:buAutoNum type="arabicPeriod"/>
            </a:pPr>
            <a:r>
              <a:rPr b="1" lang="es"/>
              <a:t>Añadir un bit de signo:</a:t>
            </a:r>
            <a:r>
              <a:rPr lang="es"/>
              <a:t> Primero, se debe trabajar con un número de bits fijo, generalmente 8, 16, 32 o 64. Para este ejemplo, usaremos 8 bits. El número </a:t>
            </a:r>
            <a:r>
              <a:rPr lang="es">
                <a:solidFill>
                  <a:srgbClr val="188038"/>
                </a:solidFill>
              </a:rPr>
              <a:t>111100</a:t>
            </a:r>
            <a:r>
              <a:rPr baseline="-25000" lang="es"/>
              <a:t>2</a:t>
            </a:r>
            <a:r>
              <a:rPr lang="es"/>
              <a:t>​ se convierte en </a:t>
            </a:r>
            <a:r>
              <a:rPr lang="es">
                <a:solidFill>
                  <a:srgbClr val="FF0000"/>
                </a:solidFill>
              </a:rPr>
              <a:t>00</a:t>
            </a:r>
            <a:r>
              <a:rPr lang="es">
                <a:solidFill>
                  <a:srgbClr val="188038"/>
                </a:solidFill>
              </a:rPr>
              <a:t>111100</a:t>
            </a:r>
            <a:r>
              <a:rPr baseline="-25000" lang="es"/>
              <a:t>2</a:t>
            </a:r>
            <a:r>
              <a:rPr lang="es"/>
              <a:t>​. El bit más a la izquierda (el bit de signo) es </a:t>
            </a:r>
            <a:r>
              <a:rPr lang="es">
                <a:solidFill>
                  <a:srgbClr val="FF0000"/>
                </a:solidFill>
              </a:rPr>
              <a:t>0</a:t>
            </a:r>
            <a:r>
              <a:rPr lang="es"/>
              <a:t>, lo que indica que el número es positivo.</a:t>
            </a:r>
            <a:endParaRPr/>
          </a:p>
          <a:p>
            <a:pPr indent="-298450" lvl="0" marL="457200" rtl="0" algn="l">
              <a:spcBef>
                <a:spcPts val="0"/>
              </a:spcBef>
              <a:spcAft>
                <a:spcPts val="0"/>
              </a:spcAft>
              <a:buClr>
                <a:srgbClr val="000000"/>
              </a:buClr>
              <a:buSzPts val="1100"/>
              <a:buFont typeface="Arial"/>
              <a:buAutoNum type="arabicPeriod"/>
            </a:pPr>
            <a:r>
              <a:rPr b="1" lang="es"/>
              <a:t>Invertir los bits: </a:t>
            </a:r>
            <a:r>
              <a:rPr lang="es"/>
              <a:t>Se cambian todos los 0 por 1 y todos los 1 por 0. Esto se conoce como el </a:t>
            </a:r>
            <a:r>
              <a:rPr b="1" i="1" lang="es"/>
              <a:t>complemento a uno</a:t>
            </a:r>
            <a:r>
              <a:rPr lang="es"/>
              <a:t>.</a:t>
            </a:r>
            <a:endParaRPr/>
          </a:p>
          <a:p>
            <a:pPr indent="-298450" lvl="1" marL="914400" rtl="0" algn="l">
              <a:spcBef>
                <a:spcPts val="0"/>
              </a:spcBef>
              <a:spcAft>
                <a:spcPts val="0"/>
              </a:spcAft>
              <a:buClr>
                <a:srgbClr val="000000"/>
              </a:buClr>
              <a:buSzPts val="1100"/>
              <a:buFont typeface="Arial"/>
              <a:buChar char="○"/>
            </a:pPr>
            <a:r>
              <a:rPr lang="es" sz="1300">
                <a:solidFill>
                  <a:srgbClr val="FF0000"/>
                </a:solidFill>
              </a:rPr>
              <a:t>00</a:t>
            </a:r>
            <a:r>
              <a:rPr lang="es" sz="1300">
                <a:solidFill>
                  <a:srgbClr val="188038"/>
                </a:solidFill>
              </a:rPr>
              <a:t>111100</a:t>
            </a:r>
            <a:r>
              <a:rPr baseline="-25000" lang="es" sz="1300"/>
              <a:t>2</a:t>
            </a:r>
            <a:r>
              <a:rPr lang="es" sz="1300"/>
              <a:t>​ se convierte en </a:t>
            </a:r>
            <a:r>
              <a:rPr lang="es" sz="1300">
                <a:solidFill>
                  <a:srgbClr val="FF0000"/>
                </a:solidFill>
              </a:rPr>
              <a:t>11</a:t>
            </a:r>
            <a:r>
              <a:rPr lang="es" sz="1300">
                <a:solidFill>
                  <a:srgbClr val="188038"/>
                </a:solidFill>
              </a:rPr>
              <a:t>000011</a:t>
            </a:r>
            <a:r>
              <a:rPr baseline="-25000" lang="es" sz="1300"/>
              <a:t>2​</a:t>
            </a:r>
            <a:r>
              <a:rPr lang="es" sz="1300"/>
              <a:t>.</a:t>
            </a:r>
            <a:endParaRPr sz="1300"/>
          </a:p>
          <a:p>
            <a:pPr indent="-298450" lvl="0" marL="457200" rtl="0" algn="l">
              <a:spcBef>
                <a:spcPts val="0"/>
              </a:spcBef>
              <a:spcAft>
                <a:spcPts val="0"/>
              </a:spcAft>
              <a:buClr>
                <a:srgbClr val="000000"/>
              </a:buClr>
              <a:buSzPts val="1100"/>
              <a:buFont typeface="Arial"/>
              <a:buAutoNum type="arabicPeriod"/>
            </a:pPr>
            <a:r>
              <a:rPr b="1" lang="es"/>
              <a:t>Sumar uno: </a:t>
            </a:r>
            <a:r>
              <a:rPr lang="es"/>
              <a:t>Finalmente, se suma 1 al resultado del paso anterior.</a:t>
            </a:r>
            <a:endParaRPr/>
          </a:p>
          <a:p>
            <a:pPr indent="-298450" lvl="1" marL="914400" rtl="0" algn="l">
              <a:spcBef>
                <a:spcPts val="0"/>
              </a:spcBef>
              <a:spcAft>
                <a:spcPts val="0"/>
              </a:spcAft>
              <a:buClr>
                <a:srgbClr val="000000"/>
              </a:buClr>
              <a:buSzPts val="1100"/>
              <a:buFont typeface="Arial"/>
              <a:buChar char="○"/>
            </a:pPr>
            <a:r>
              <a:rPr lang="es" sz="1300"/>
              <a:t>11000011</a:t>
            </a:r>
            <a:r>
              <a:rPr baseline="-25000" lang="es" sz="1300"/>
              <a:t>2​</a:t>
            </a:r>
            <a:r>
              <a:rPr lang="es" sz="1300"/>
              <a:t>+1</a:t>
            </a:r>
            <a:r>
              <a:rPr baseline="-25000" lang="es" sz="1300"/>
              <a:t>2</a:t>
            </a:r>
            <a:r>
              <a:rPr lang="es" sz="1300"/>
              <a:t>​=11000100</a:t>
            </a:r>
            <a:r>
              <a:rPr baseline="-25000" lang="es" sz="1300"/>
              <a:t>2</a:t>
            </a:r>
            <a:r>
              <a:rPr lang="es" sz="1300"/>
              <a:t>​.</a:t>
            </a:r>
            <a:endParaRPr sz="1300"/>
          </a:p>
          <a:p>
            <a:pPr indent="0" lvl="0" marL="0" rtl="0" algn="l">
              <a:spcBef>
                <a:spcPts val="1200"/>
              </a:spcBef>
              <a:spcAft>
                <a:spcPts val="0"/>
              </a:spcAft>
              <a:buNone/>
            </a:pPr>
            <a:r>
              <a:rPr lang="es"/>
              <a:t>Por lo tanto, la representación binaria de -60 en complemento a dos de 8 bits es 11000100</a:t>
            </a:r>
            <a:r>
              <a:rPr baseline="-25000" lang="es"/>
              <a:t>2</a:t>
            </a:r>
            <a:r>
              <a:rPr lang="es"/>
              <a:t>​.</a:t>
            </a:r>
            <a:endParaRPr/>
          </a:p>
          <a:p>
            <a:pPr indent="0" lvl="0" marL="0" rtl="0" algn="l">
              <a:spcBef>
                <a:spcPts val="1200"/>
              </a:spcBef>
              <a:spcAft>
                <a:spcPts val="1200"/>
              </a:spcAft>
              <a:buNone/>
            </a:pPr>
            <a:r>
              <a:rPr lang="es"/>
              <a:t>En este sistema, el bit más significativo (el de la izquierda) se utiliza para el signo: 0 para los números positivos y 1 para los números negativos. El resto de los bits representan el valor del número.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8" name="Shape 408"/>
        <p:cNvGrpSpPr/>
        <p:nvPr/>
      </p:nvGrpSpPr>
      <p:grpSpPr>
        <a:xfrm>
          <a:off x="0" y="0"/>
          <a:ext cx="0" cy="0"/>
          <a:chOff x="0" y="0"/>
          <a:chExt cx="0" cy="0"/>
        </a:xfrm>
      </p:grpSpPr>
      <p:sp>
        <p:nvSpPr>
          <p:cNvPr id="409" name="Google Shape;409;p53"/>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Proceso de Conversión para obtener -60</a:t>
            </a:r>
            <a:endParaRPr/>
          </a:p>
        </p:txBody>
      </p:sp>
      <p:sp>
        <p:nvSpPr>
          <p:cNvPr id="410" name="Google Shape;410;p53"/>
          <p:cNvSpPr txBox="1"/>
          <p:nvPr>
            <p:ph idx="1" type="body"/>
          </p:nvPr>
        </p:nvSpPr>
        <p:spPr>
          <a:xfrm>
            <a:off x="729450" y="1237075"/>
            <a:ext cx="7688700" cy="38394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1200"/>
              </a:spcBef>
              <a:spcAft>
                <a:spcPts val="0"/>
              </a:spcAft>
              <a:buNone/>
            </a:pPr>
            <a:r>
              <a:rPr lang="es"/>
              <a:t>Para convertir un número binario en complemento a dos a su valor decimal, debes seguir estos pasos:</a:t>
            </a:r>
            <a:endParaRPr/>
          </a:p>
          <a:p>
            <a:pPr indent="0" lvl="0" marL="0" rtl="0" algn="l">
              <a:lnSpc>
                <a:spcPct val="150000"/>
              </a:lnSpc>
              <a:spcBef>
                <a:spcPts val="1200"/>
              </a:spcBef>
              <a:spcAft>
                <a:spcPts val="0"/>
              </a:spcAft>
              <a:buNone/>
            </a:pPr>
            <a:r>
              <a:rPr lang="es"/>
              <a:t>L</a:t>
            </a:r>
            <a:r>
              <a:rPr lang="es"/>
              <a:t>a representación binaria de -60 en complemento a dos de 8 bits es 11000100</a:t>
            </a:r>
            <a:r>
              <a:rPr baseline="-25000" lang="es"/>
              <a:t>2</a:t>
            </a:r>
            <a:r>
              <a:rPr lang="es"/>
              <a:t>​.</a:t>
            </a:r>
            <a:endParaRPr/>
          </a:p>
          <a:p>
            <a:pPr indent="-287973" lvl="0" marL="457200" rtl="0" algn="l">
              <a:lnSpc>
                <a:spcPct val="150000"/>
              </a:lnSpc>
              <a:spcBef>
                <a:spcPts val="1200"/>
              </a:spcBef>
              <a:spcAft>
                <a:spcPts val="0"/>
              </a:spcAft>
              <a:buClr>
                <a:srgbClr val="000000"/>
              </a:buClr>
              <a:buSzPct val="84615"/>
              <a:buFont typeface="Arial"/>
              <a:buAutoNum type="arabicPeriod"/>
            </a:pPr>
            <a:r>
              <a:rPr b="1" lang="es"/>
              <a:t>Identificar el bit de signo: </a:t>
            </a:r>
            <a:r>
              <a:rPr lang="es"/>
              <a:t>El primer bit (el más a la izquierda) es 1, lo que indica que el número es negativo. Por lo tanto, el resultado será un número negativo.</a:t>
            </a:r>
            <a:endParaRPr/>
          </a:p>
          <a:p>
            <a:pPr indent="-287973" lvl="0" marL="457200" rtl="0" algn="l">
              <a:lnSpc>
                <a:spcPct val="150000"/>
              </a:lnSpc>
              <a:spcBef>
                <a:spcPts val="0"/>
              </a:spcBef>
              <a:spcAft>
                <a:spcPts val="0"/>
              </a:spcAft>
              <a:buClr>
                <a:srgbClr val="000000"/>
              </a:buClr>
              <a:buSzPct val="84615"/>
              <a:buFont typeface="Arial"/>
              <a:buAutoNum type="arabicPeriod"/>
            </a:pPr>
            <a:r>
              <a:rPr b="1" lang="es"/>
              <a:t>Invertir y sumar 1:</a:t>
            </a:r>
            <a:r>
              <a:rPr lang="es"/>
              <a:t> El método más sencillo para la conversión es aplicar el proceso de complemento a dos a la inversa.</a:t>
            </a:r>
            <a:endParaRPr/>
          </a:p>
          <a:p>
            <a:pPr indent="-287973" lvl="1" marL="914400" rtl="0" algn="l">
              <a:lnSpc>
                <a:spcPct val="150000"/>
              </a:lnSpc>
              <a:spcBef>
                <a:spcPts val="0"/>
              </a:spcBef>
              <a:spcAft>
                <a:spcPts val="0"/>
              </a:spcAft>
              <a:buClr>
                <a:srgbClr val="000000"/>
              </a:buClr>
              <a:buSzPct val="84615"/>
              <a:buFont typeface="Arial"/>
              <a:buChar char="○"/>
            </a:pPr>
            <a:r>
              <a:rPr b="1" lang="es" sz="1300"/>
              <a:t>Restar 1:</a:t>
            </a:r>
            <a:r>
              <a:rPr lang="es" sz="1300"/>
              <a:t> 11000100</a:t>
            </a:r>
            <a:r>
              <a:rPr baseline="-25000" lang="es" sz="1300"/>
              <a:t>2​</a:t>
            </a:r>
            <a:r>
              <a:rPr lang="es" sz="1300"/>
              <a:t>−1</a:t>
            </a:r>
            <a:r>
              <a:rPr baseline="-25000" lang="es" sz="1300"/>
              <a:t>2</a:t>
            </a:r>
            <a:r>
              <a:rPr lang="es" sz="1300"/>
              <a:t>​=11000011</a:t>
            </a:r>
            <a:r>
              <a:rPr baseline="-25000" lang="es" sz="1300"/>
              <a:t>2​</a:t>
            </a:r>
            <a:r>
              <a:rPr lang="es" sz="1300"/>
              <a:t>.</a:t>
            </a:r>
            <a:endParaRPr sz="1300"/>
          </a:p>
          <a:p>
            <a:pPr indent="-287973" lvl="1" marL="914400" rtl="0" algn="l">
              <a:lnSpc>
                <a:spcPct val="150000"/>
              </a:lnSpc>
              <a:spcBef>
                <a:spcPts val="0"/>
              </a:spcBef>
              <a:spcAft>
                <a:spcPts val="0"/>
              </a:spcAft>
              <a:buClr>
                <a:srgbClr val="000000"/>
              </a:buClr>
              <a:buSzPct val="84615"/>
              <a:buFont typeface="Arial"/>
              <a:buChar char="○"/>
            </a:pPr>
            <a:r>
              <a:rPr b="1" lang="es" sz="1300"/>
              <a:t>Invertir los bits:</a:t>
            </a:r>
            <a:r>
              <a:rPr lang="es" sz="1300"/>
              <a:t> 11000011</a:t>
            </a:r>
            <a:r>
              <a:rPr baseline="-25000" lang="es" sz="1300"/>
              <a:t>2​</a:t>
            </a:r>
            <a:r>
              <a:rPr lang="es" sz="1300"/>
              <a:t> se convierte en 00111100</a:t>
            </a:r>
            <a:r>
              <a:rPr baseline="-25000" lang="es" sz="1300"/>
              <a:t>2</a:t>
            </a:r>
            <a:r>
              <a:rPr lang="es" sz="1300"/>
              <a:t>​.</a:t>
            </a:r>
            <a:endParaRPr sz="1300"/>
          </a:p>
          <a:p>
            <a:pPr indent="-287973" lvl="0" marL="457200" rtl="0" algn="l">
              <a:lnSpc>
                <a:spcPct val="150000"/>
              </a:lnSpc>
              <a:spcBef>
                <a:spcPts val="0"/>
              </a:spcBef>
              <a:spcAft>
                <a:spcPts val="0"/>
              </a:spcAft>
              <a:buClr>
                <a:srgbClr val="000000"/>
              </a:buClr>
              <a:buSzPct val="84615"/>
              <a:buFont typeface="Arial"/>
              <a:buAutoNum type="arabicPeriod"/>
            </a:pPr>
            <a:r>
              <a:rPr b="1" lang="es"/>
              <a:t>Convertir a decimal: </a:t>
            </a:r>
            <a:r>
              <a:rPr lang="es"/>
              <a:t>Ahora, convierte el número positivo resultante (00111100</a:t>
            </a:r>
            <a:r>
              <a:rPr baseline="-25000" lang="es"/>
              <a:t>2</a:t>
            </a:r>
            <a:r>
              <a:rPr lang="es"/>
              <a:t>​) a decimal. Se hace multiplicando cada bit por la potencia de 2 que le corresponde.</a:t>
            </a:r>
            <a:endParaRPr/>
          </a:p>
          <a:p>
            <a:pPr indent="-287973" lvl="1" marL="914400" rtl="0" algn="l">
              <a:lnSpc>
                <a:spcPct val="150000"/>
              </a:lnSpc>
              <a:spcBef>
                <a:spcPts val="0"/>
              </a:spcBef>
              <a:spcAft>
                <a:spcPts val="0"/>
              </a:spcAft>
              <a:buClr>
                <a:srgbClr val="000000"/>
              </a:buClr>
              <a:buSzPct val="84615"/>
              <a:buFont typeface="Arial"/>
              <a:buChar char="○"/>
            </a:pPr>
            <a:r>
              <a:rPr lang="es" sz="1300"/>
              <a:t>(0×2</a:t>
            </a:r>
            <a:r>
              <a:rPr baseline="30000" lang="es" sz="1300"/>
              <a:t>7</a:t>
            </a:r>
            <a:r>
              <a:rPr lang="es" sz="1300"/>
              <a:t>)+(0×2</a:t>
            </a:r>
            <a:r>
              <a:rPr baseline="30000" lang="es" sz="1300"/>
              <a:t>6</a:t>
            </a:r>
            <a:r>
              <a:rPr lang="es" sz="1300"/>
              <a:t>)+(1×2</a:t>
            </a:r>
            <a:r>
              <a:rPr baseline="30000" lang="es" sz="1300"/>
              <a:t>5</a:t>
            </a:r>
            <a:r>
              <a:rPr lang="es" sz="1300"/>
              <a:t>)+(1×2</a:t>
            </a:r>
            <a:r>
              <a:rPr baseline="30000" lang="es" sz="1300"/>
              <a:t>4</a:t>
            </a:r>
            <a:r>
              <a:rPr lang="es" sz="1300"/>
              <a:t>)+(1×2</a:t>
            </a:r>
            <a:r>
              <a:rPr baseline="30000" lang="es" sz="1300"/>
              <a:t>3</a:t>
            </a:r>
            <a:r>
              <a:rPr lang="es" sz="1300"/>
              <a:t>)+(1×2</a:t>
            </a:r>
            <a:r>
              <a:rPr baseline="30000" lang="es" sz="1300"/>
              <a:t>2</a:t>
            </a:r>
            <a:r>
              <a:rPr lang="es" sz="1300"/>
              <a:t>)+(0×2</a:t>
            </a:r>
            <a:r>
              <a:rPr baseline="30000" lang="es" sz="1300"/>
              <a:t>1)</a:t>
            </a:r>
            <a:r>
              <a:rPr lang="es" sz="1300"/>
              <a:t>+(0×2</a:t>
            </a:r>
            <a:r>
              <a:rPr baseline="30000" lang="es" sz="1300"/>
              <a:t>0</a:t>
            </a:r>
            <a:r>
              <a:rPr lang="es" sz="1300"/>
              <a:t>)</a:t>
            </a:r>
            <a:endParaRPr sz="1300"/>
          </a:p>
          <a:p>
            <a:pPr indent="-287973" lvl="1" marL="914400" rtl="0" algn="l">
              <a:lnSpc>
                <a:spcPct val="150000"/>
              </a:lnSpc>
              <a:spcBef>
                <a:spcPts val="0"/>
              </a:spcBef>
              <a:spcAft>
                <a:spcPts val="0"/>
              </a:spcAft>
              <a:buClr>
                <a:srgbClr val="000000"/>
              </a:buClr>
              <a:buSzPct val="84615"/>
              <a:buFont typeface="Arial"/>
              <a:buChar char="○"/>
            </a:pPr>
            <a:r>
              <a:rPr lang="es" sz="1300"/>
              <a:t>(0)+(0)+(32)+(16)+(8)+(4)+(0)+(0)=60</a:t>
            </a:r>
            <a:endParaRPr sz="1300"/>
          </a:p>
          <a:p>
            <a:pPr indent="-287973" lvl="0" marL="457200" rtl="0" algn="l">
              <a:lnSpc>
                <a:spcPct val="150000"/>
              </a:lnSpc>
              <a:spcBef>
                <a:spcPts val="0"/>
              </a:spcBef>
              <a:spcAft>
                <a:spcPts val="0"/>
              </a:spcAft>
              <a:buClr>
                <a:srgbClr val="000000"/>
              </a:buClr>
              <a:buSzPct val="100000"/>
              <a:buFont typeface="Arial"/>
              <a:buAutoNum type="arabicPeriod"/>
            </a:pPr>
            <a:r>
              <a:rPr b="1" lang="es"/>
              <a:t>Aplicar el signo: </a:t>
            </a:r>
            <a:r>
              <a:rPr lang="es"/>
              <a:t>Como el bit de signo original era 1, el resultado es -60.</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