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Lst>
  <p:sldSz cy="5143500" cx="9144000"/>
  <p:notesSz cx="6858000" cy="9144000"/>
  <p:embeddedFontLst>
    <p:embeddedFont>
      <p:font typeface="Raleway"/>
      <p:regular r:id="rId75"/>
      <p:bold r:id="rId76"/>
      <p:italic r:id="rId77"/>
      <p:boldItalic r:id="rId78"/>
    </p:embeddedFont>
    <p:embeddedFont>
      <p:font typeface="Lato"/>
      <p:regular r:id="rId79"/>
      <p:bold r:id="rId80"/>
      <p:italic r:id="rId81"/>
      <p:boldItalic r:id="rId82"/>
    </p:embeddedFont>
    <p:embeddedFont>
      <p:font typeface="Corbel"/>
      <p:regular r:id="rId83"/>
      <p:bold r:id="rId84"/>
      <p:italic r:id="rId85"/>
      <p:boldItalic r:id="rId8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93C4C41-8EF1-4E32-AC6D-5B815111848D}">
  <a:tblStyle styleId="{A93C4C41-8EF1-4E32-AC6D-5B815111848D}"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4" Type="http://schemas.openxmlformats.org/officeDocument/2006/relationships/font" Target="fonts/Corbel-bold.fntdata"/><Relationship Id="rId83" Type="http://schemas.openxmlformats.org/officeDocument/2006/relationships/font" Target="fonts/Corbel-regular.fntdata"/><Relationship Id="rId42" Type="http://schemas.openxmlformats.org/officeDocument/2006/relationships/slide" Target="slides/slide36.xml"/><Relationship Id="rId86" Type="http://schemas.openxmlformats.org/officeDocument/2006/relationships/font" Target="fonts/Corbel-boldItalic.fntdata"/><Relationship Id="rId41" Type="http://schemas.openxmlformats.org/officeDocument/2006/relationships/slide" Target="slides/slide35.xml"/><Relationship Id="rId85" Type="http://schemas.openxmlformats.org/officeDocument/2006/relationships/font" Target="fonts/Corbel-italic.fntdata"/><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80" Type="http://schemas.openxmlformats.org/officeDocument/2006/relationships/font" Target="fonts/Lato-bold.fntdata"/><Relationship Id="rId82" Type="http://schemas.openxmlformats.org/officeDocument/2006/relationships/font" Target="fonts/Lato-boldItalic.fntdata"/><Relationship Id="rId81" Type="http://schemas.openxmlformats.org/officeDocument/2006/relationships/font" Target="fonts/Lato-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font" Target="fonts/Raleway-regular.fntdata"/><Relationship Id="rId30" Type="http://schemas.openxmlformats.org/officeDocument/2006/relationships/slide" Target="slides/slide24.xml"/><Relationship Id="rId74" Type="http://schemas.openxmlformats.org/officeDocument/2006/relationships/slide" Target="slides/slide68.xml"/><Relationship Id="rId33" Type="http://schemas.openxmlformats.org/officeDocument/2006/relationships/slide" Target="slides/slide27.xml"/><Relationship Id="rId77" Type="http://schemas.openxmlformats.org/officeDocument/2006/relationships/font" Target="fonts/Raleway-italic.fntdata"/><Relationship Id="rId32" Type="http://schemas.openxmlformats.org/officeDocument/2006/relationships/slide" Target="slides/slide26.xml"/><Relationship Id="rId76" Type="http://schemas.openxmlformats.org/officeDocument/2006/relationships/font" Target="fonts/Raleway-bold.fntdata"/><Relationship Id="rId35" Type="http://schemas.openxmlformats.org/officeDocument/2006/relationships/slide" Target="slides/slide29.xml"/><Relationship Id="rId79" Type="http://schemas.openxmlformats.org/officeDocument/2006/relationships/font" Target="fonts/Lato-regular.fntdata"/><Relationship Id="rId34" Type="http://schemas.openxmlformats.org/officeDocument/2006/relationships/slide" Target="slides/slide28.xml"/><Relationship Id="rId78" Type="http://schemas.openxmlformats.org/officeDocument/2006/relationships/font" Target="fonts/Raleway-boldItalic.fntdata"/><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7a74099c92_0_6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7a74099c92_0_6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653f243764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653f243764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653599d858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653599d858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653f243764_0_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653f243764_0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7bf292c43c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7bf292c43c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7bf292c43c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7bf292c43c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653f243764_0_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653f243764_0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653f243764_0_2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653f243764_0_2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653599d858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653599d858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653599d858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653599d858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653f243764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653f243764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653599d858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653599d858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7bf292c43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7bf292c43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653599d858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653599d858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7bf292c43c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7bf292c43c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7bf292c43c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7bf292c43c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7bf292c43c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7bf292c43c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7bf292c43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7bf292c43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7bf292c43c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7bf292c43c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7bf292c43c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7bf292c43c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653f243764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653f243764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653f243764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653f243764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653f243764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653f243764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653f243764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3653f243764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7bf292c43c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37bf292c43c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7bf292c43c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7bf292c43c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7bf292c43c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37bf292c43c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65696fe05e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365696fe05e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7bf292c43c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37bf292c43c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653f243764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3653f243764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653f243764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3653f24376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653f243764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3653f243764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653f243764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3653f243764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653f243764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3653f243764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653f243764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3653f243764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653f243764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3653f243764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653f243764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3653f243764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653f243764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3653f243764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3653f243764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3653f243764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653f243764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3653f243764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365696fe05e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365696fe05e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3657eee727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3657eee727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37d658c0a47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5" name="Google Shape;405;g37d658c0a47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37d658c0a47_2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g37d658c0a47_2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37d658c0a47_2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37d658c0a47_2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37d658c0a47_2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37d658c0a47_2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37d658c0a47_2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37d658c0a47_2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37d658c0a47_2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0" name="Google Shape;440;g37d658c0a47_2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37d658c0a47_2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7" name="Google Shape;447;g37d658c0a47_2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365696fe05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5" name="Google Shape;455;g365696fe05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365696fe05e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365696fe05e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365696fe05e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8" name="Google Shape;468;g365696fe05e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365696fe05e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5" name="Google Shape;475;g365696fe05e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365696fe05e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2" name="Google Shape;482;g365696fe05e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365696fe05e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365696fe05e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365696fe05e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0" name="Google Shape;500;g365696fe05e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365696fe05e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365696fe05e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365696fe05e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g365696fe05e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65696fe05e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6" name="Google Shape;526;g365696fe05e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37d658c0a47_2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3" name="Google Shape;533;g37d658c0a47_2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365696fe05e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3" name="Google Shape;543;g365696fe05e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3653f243764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0" name="Google Shape;550;g3653f243764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3653599d85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6" name="Google Shape;556;g3653599d85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3653599d858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7" name="Google Shape;567;g3653599d858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3653599d858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6" name="Google Shape;576;g3653599d858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g3652147f3e8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5" name="Google Shape;585;g3652147f3e8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3652147f3e8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1" name="Google Shape;591;g3652147f3e8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3652147f3e8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7" name="Google Shape;597;g3652147f3e8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grpSp>
        <p:nvGrpSpPr>
          <p:cNvPr id="24" name="Google Shape;24;p4"/>
          <p:cNvGrpSpPr/>
          <p:nvPr/>
        </p:nvGrpSpPr>
        <p:grpSpPr>
          <a:xfrm>
            <a:off x="830392" y="1191256"/>
            <a:ext cx="745763" cy="45826"/>
            <a:chOff x="4580561" y="2589004"/>
            <a:chExt cx="1064464" cy="25200"/>
          </a:xfrm>
        </p:grpSpPr>
        <p:sp>
          <p:nvSpPr>
            <p:cNvPr id="25" name="Google Shape;25;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 name="Google Shape;27;p4"/>
          <p:cNvSpPr txBox="1"/>
          <p:nvPr>
            <p:ph type="title"/>
          </p:nvPr>
        </p:nvSpPr>
        <p:spPr>
          <a:xfrm>
            <a:off x="830400" y="6560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8" name="Google Shape;28;p4"/>
          <p:cNvSpPr txBox="1"/>
          <p:nvPr>
            <p:ph idx="1" type="body"/>
          </p:nvPr>
        </p:nvSpPr>
        <p:spPr>
          <a:xfrm>
            <a:off x="729450" y="1237075"/>
            <a:ext cx="7688700" cy="3102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9" name="Google Shape;29;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grpSp>
        <p:nvGrpSpPr>
          <p:cNvPr id="31" name="Google Shape;31;p5"/>
          <p:cNvGrpSpPr/>
          <p:nvPr/>
        </p:nvGrpSpPr>
        <p:grpSpPr>
          <a:xfrm>
            <a:off x="830392" y="1191256"/>
            <a:ext cx="745763" cy="45826"/>
            <a:chOff x="4580561" y="2589004"/>
            <a:chExt cx="1064464" cy="25200"/>
          </a:xfrm>
        </p:grpSpPr>
        <p:sp>
          <p:nvSpPr>
            <p:cNvPr id="32" name="Google Shape;32;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5"/>
          <p:cNvSpPr txBox="1"/>
          <p:nvPr>
            <p:ph type="title"/>
          </p:nvPr>
        </p:nvSpPr>
        <p:spPr>
          <a:xfrm>
            <a:off x="830400" y="6560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5" name="Google Shape;35;p5"/>
          <p:cNvSpPr txBox="1"/>
          <p:nvPr>
            <p:ph idx="1" type="body"/>
          </p:nvPr>
        </p:nvSpPr>
        <p:spPr>
          <a:xfrm>
            <a:off x="729325" y="1237075"/>
            <a:ext cx="3774300" cy="3102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dk2"/>
              </a:buClr>
              <a:buSzPts val="1300"/>
              <a:buChar char="●"/>
              <a:defRPr>
                <a:solidFill>
                  <a:schemeClr val="dk2"/>
                </a:solidFill>
              </a:defRPr>
            </a:lvl1pPr>
            <a:lvl2pPr indent="-298450" lvl="1" marL="914400">
              <a:spcBef>
                <a:spcPts val="0"/>
              </a:spcBef>
              <a:spcAft>
                <a:spcPts val="0"/>
              </a:spcAft>
              <a:buClr>
                <a:schemeClr val="dk2"/>
              </a:buClr>
              <a:buSzPts val="1100"/>
              <a:buChar char="○"/>
              <a:defRPr>
                <a:solidFill>
                  <a:schemeClr val="dk2"/>
                </a:solidFill>
              </a:defRPr>
            </a:lvl2pPr>
            <a:lvl3pPr indent="-298450" lvl="2" marL="1371600">
              <a:spcBef>
                <a:spcPts val="0"/>
              </a:spcBef>
              <a:spcAft>
                <a:spcPts val="0"/>
              </a:spcAft>
              <a:buClr>
                <a:schemeClr val="dk2"/>
              </a:buClr>
              <a:buSzPts val="1100"/>
              <a:buChar char="■"/>
              <a:defRPr>
                <a:solidFill>
                  <a:schemeClr val="dk2"/>
                </a:solidFill>
              </a:defRPr>
            </a:lvl3pPr>
            <a:lvl4pPr indent="-298450" lvl="3" marL="1828800">
              <a:spcBef>
                <a:spcPts val="0"/>
              </a:spcBef>
              <a:spcAft>
                <a:spcPts val="0"/>
              </a:spcAft>
              <a:buClr>
                <a:schemeClr val="dk2"/>
              </a:buClr>
              <a:buSzPts val="1100"/>
              <a:buChar char="●"/>
              <a:defRPr>
                <a:solidFill>
                  <a:schemeClr val="dk2"/>
                </a:solidFill>
              </a:defRPr>
            </a:lvl4pPr>
            <a:lvl5pPr indent="-298450" lvl="4" marL="2286000">
              <a:spcBef>
                <a:spcPts val="0"/>
              </a:spcBef>
              <a:spcAft>
                <a:spcPts val="0"/>
              </a:spcAft>
              <a:buClr>
                <a:schemeClr val="dk2"/>
              </a:buClr>
              <a:buSzPts val="1100"/>
              <a:buChar char="○"/>
              <a:defRPr>
                <a:solidFill>
                  <a:schemeClr val="dk2"/>
                </a:solidFill>
              </a:defRPr>
            </a:lvl5pPr>
            <a:lvl6pPr indent="-298450" lvl="5" marL="2743200">
              <a:spcBef>
                <a:spcPts val="0"/>
              </a:spcBef>
              <a:spcAft>
                <a:spcPts val="0"/>
              </a:spcAft>
              <a:buClr>
                <a:schemeClr val="dk2"/>
              </a:buClr>
              <a:buSzPts val="1100"/>
              <a:buChar char="■"/>
              <a:defRPr>
                <a:solidFill>
                  <a:schemeClr val="dk2"/>
                </a:solidFill>
              </a:defRPr>
            </a:lvl6pPr>
            <a:lvl7pPr indent="-298450" lvl="6" marL="3200400">
              <a:spcBef>
                <a:spcPts val="0"/>
              </a:spcBef>
              <a:spcAft>
                <a:spcPts val="0"/>
              </a:spcAft>
              <a:buClr>
                <a:schemeClr val="dk2"/>
              </a:buClr>
              <a:buSzPts val="1100"/>
              <a:buChar char="●"/>
              <a:defRPr>
                <a:solidFill>
                  <a:schemeClr val="dk2"/>
                </a:solidFill>
              </a:defRPr>
            </a:lvl7pPr>
            <a:lvl8pPr indent="-298450" lvl="7" marL="3657600">
              <a:spcBef>
                <a:spcPts val="0"/>
              </a:spcBef>
              <a:spcAft>
                <a:spcPts val="0"/>
              </a:spcAft>
              <a:buClr>
                <a:schemeClr val="dk2"/>
              </a:buClr>
              <a:buSzPts val="1100"/>
              <a:buChar char="○"/>
              <a:defRPr>
                <a:solidFill>
                  <a:schemeClr val="dk2"/>
                </a:solidFill>
              </a:defRPr>
            </a:lvl8pPr>
            <a:lvl9pPr indent="-298450" lvl="8" marL="4114800">
              <a:spcBef>
                <a:spcPts val="0"/>
              </a:spcBef>
              <a:spcAft>
                <a:spcPts val="0"/>
              </a:spcAft>
              <a:buClr>
                <a:schemeClr val="dk2"/>
              </a:buClr>
              <a:buSzPts val="1100"/>
              <a:buChar char="■"/>
              <a:defRPr>
                <a:solidFill>
                  <a:schemeClr val="dk2"/>
                </a:solidFill>
              </a:defRPr>
            </a:lvl9pPr>
          </a:lstStyle>
          <a:p/>
        </p:txBody>
      </p:sp>
      <p:sp>
        <p:nvSpPr>
          <p:cNvPr id="36" name="Google Shape;36;p5"/>
          <p:cNvSpPr txBox="1"/>
          <p:nvPr>
            <p:ph idx="2" type="body"/>
          </p:nvPr>
        </p:nvSpPr>
        <p:spPr>
          <a:xfrm>
            <a:off x="4643600" y="1237075"/>
            <a:ext cx="3774300" cy="3102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dk2"/>
              </a:buClr>
              <a:buSzPts val="1300"/>
              <a:buChar char="●"/>
              <a:defRPr>
                <a:solidFill>
                  <a:schemeClr val="dk2"/>
                </a:solidFill>
              </a:defRPr>
            </a:lvl1pPr>
            <a:lvl2pPr indent="-298450" lvl="1" marL="914400">
              <a:spcBef>
                <a:spcPts val="0"/>
              </a:spcBef>
              <a:spcAft>
                <a:spcPts val="0"/>
              </a:spcAft>
              <a:buClr>
                <a:schemeClr val="dk2"/>
              </a:buClr>
              <a:buSzPts val="1100"/>
              <a:buChar char="○"/>
              <a:defRPr>
                <a:solidFill>
                  <a:schemeClr val="dk2"/>
                </a:solidFill>
              </a:defRPr>
            </a:lvl2pPr>
            <a:lvl3pPr indent="-298450" lvl="2" marL="1371600">
              <a:spcBef>
                <a:spcPts val="0"/>
              </a:spcBef>
              <a:spcAft>
                <a:spcPts val="0"/>
              </a:spcAft>
              <a:buClr>
                <a:schemeClr val="dk2"/>
              </a:buClr>
              <a:buSzPts val="1100"/>
              <a:buChar char="■"/>
              <a:defRPr>
                <a:solidFill>
                  <a:schemeClr val="dk2"/>
                </a:solidFill>
              </a:defRPr>
            </a:lvl3pPr>
            <a:lvl4pPr indent="-298450" lvl="3" marL="1828800">
              <a:spcBef>
                <a:spcPts val="0"/>
              </a:spcBef>
              <a:spcAft>
                <a:spcPts val="0"/>
              </a:spcAft>
              <a:buClr>
                <a:schemeClr val="dk2"/>
              </a:buClr>
              <a:buSzPts val="1100"/>
              <a:buChar char="●"/>
              <a:defRPr>
                <a:solidFill>
                  <a:schemeClr val="dk2"/>
                </a:solidFill>
              </a:defRPr>
            </a:lvl4pPr>
            <a:lvl5pPr indent="-298450" lvl="4" marL="2286000">
              <a:spcBef>
                <a:spcPts val="0"/>
              </a:spcBef>
              <a:spcAft>
                <a:spcPts val="0"/>
              </a:spcAft>
              <a:buClr>
                <a:schemeClr val="dk2"/>
              </a:buClr>
              <a:buSzPts val="1100"/>
              <a:buChar char="○"/>
              <a:defRPr>
                <a:solidFill>
                  <a:schemeClr val="dk2"/>
                </a:solidFill>
              </a:defRPr>
            </a:lvl5pPr>
            <a:lvl6pPr indent="-298450" lvl="5" marL="2743200">
              <a:spcBef>
                <a:spcPts val="0"/>
              </a:spcBef>
              <a:spcAft>
                <a:spcPts val="0"/>
              </a:spcAft>
              <a:buClr>
                <a:schemeClr val="dk2"/>
              </a:buClr>
              <a:buSzPts val="1100"/>
              <a:buChar char="■"/>
              <a:defRPr>
                <a:solidFill>
                  <a:schemeClr val="dk2"/>
                </a:solidFill>
              </a:defRPr>
            </a:lvl6pPr>
            <a:lvl7pPr indent="-298450" lvl="6" marL="3200400">
              <a:spcBef>
                <a:spcPts val="0"/>
              </a:spcBef>
              <a:spcAft>
                <a:spcPts val="0"/>
              </a:spcAft>
              <a:buClr>
                <a:schemeClr val="dk2"/>
              </a:buClr>
              <a:buSzPts val="1100"/>
              <a:buChar char="●"/>
              <a:defRPr>
                <a:solidFill>
                  <a:schemeClr val="dk2"/>
                </a:solidFill>
              </a:defRPr>
            </a:lvl7pPr>
            <a:lvl8pPr indent="-298450" lvl="7" marL="3657600">
              <a:spcBef>
                <a:spcPts val="0"/>
              </a:spcBef>
              <a:spcAft>
                <a:spcPts val="0"/>
              </a:spcAft>
              <a:buClr>
                <a:schemeClr val="dk2"/>
              </a:buClr>
              <a:buSzPts val="1100"/>
              <a:buChar char="○"/>
              <a:defRPr>
                <a:solidFill>
                  <a:schemeClr val="dk2"/>
                </a:solidFill>
              </a:defRPr>
            </a:lvl8pPr>
            <a:lvl9pPr indent="-298450" lvl="8" marL="4114800">
              <a:spcBef>
                <a:spcPts val="0"/>
              </a:spcBef>
              <a:spcAft>
                <a:spcPts val="0"/>
              </a:spcAft>
              <a:buClr>
                <a:schemeClr val="dk2"/>
              </a:buClr>
              <a:buSzPts val="1100"/>
              <a:buChar char="■"/>
              <a:defRPr>
                <a:solidFill>
                  <a:schemeClr val="dk2"/>
                </a:solidFill>
              </a:defRPr>
            </a:lvl9pPr>
          </a:lstStyle>
          <a:p/>
        </p:txBody>
      </p:sp>
      <p:sp>
        <p:nvSpPr>
          <p:cNvPr id="37" name="Google Shape;37;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8" name="Shape 38"/>
        <p:cNvGrpSpPr/>
        <p:nvPr/>
      </p:nvGrpSpPr>
      <p:grpSpPr>
        <a:xfrm>
          <a:off x="0" y="0"/>
          <a:ext cx="0" cy="0"/>
          <a:chOff x="0" y="0"/>
          <a:chExt cx="0" cy="0"/>
        </a:xfrm>
      </p:grpSpPr>
      <p:sp>
        <p:nvSpPr>
          <p:cNvPr id="39" name="Google Shape;39;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 name="Google Shape;40;p6"/>
          <p:cNvGrpSpPr/>
          <p:nvPr/>
        </p:nvGrpSpPr>
        <p:grpSpPr>
          <a:xfrm>
            <a:off x="830392" y="1191256"/>
            <a:ext cx="745763" cy="45826"/>
            <a:chOff x="4580561" y="2589004"/>
            <a:chExt cx="1064464" cy="25200"/>
          </a:xfrm>
        </p:grpSpPr>
        <p:sp>
          <p:nvSpPr>
            <p:cNvPr id="41" name="Google Shape;41;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3" name="Google Shape;43;p6"/>
          <p:cNvSpPr txBox="1"/>
          <p:nvPr>
            <p:ph type="title"/>
          </p:nvPr>
        </p:nvSpPr>
        <p:spPr>
          <a:xfrm>
            <a:off x="830400" y="6560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4" name="Google Shape;44;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5" name="Shape 45"/>
        <p:cNvGrpSpPr/>
        <p:nvPr/>
      </p:nvGrpSpPr>
      <p:grpSpPr>
        <a:xfrm>
          <a:off x="0" y="0"/>
          <a:ext cx="0" cy="0"/>
          <a:chOff x="0" y="0"/>
          <a:chExt cx="0" cy="0"/>
        </a:xfrm>
      </p:grpSpPr>
      <p:sp>
        <p:nvSpPr>
          <p:cNvPr id="46" name="Google Shape;46;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 name="Google Shape;47;p7"/>
          <p:cNvGrpSpPr/>
          <p:nvPr/>
        </p:nvGrpSpPr>
        <p:grpSpPr>
          <a:xfrm>
            <a:off x="830392" y="1191256"/>
            <a:ext cx="745763" cy="45826"/>
            <a:chOff x="4580561" y="2589004"/>
            <a:chExt cx="1064464" cy="25200"/>
          </a:xfrm>
        </p:grpSpPr>
        <p:sp>
          <p:nvSpPr>
            <p:cNvPr id="48" name="Google Shape;48;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0" name="Google Shape;50;p7"/>
          <p:cNvSpPr txBox="1"/>
          <p:nvPr>
            <p:ph type="title"/>
          </p:nvPr>
        </p:nvSpPr>
        <p:spPr>
          <a:xfrm>
            <a:off x="830400" y="703450"/>
            <a:ext cx="7827600" cy="4878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1" name="Google Shape;51;p7"/>
          <p:cNvSpPr txBox="1"/>
          <p:nvPr>
            <p:ph idx="1" type="body"/>
          </p:nvPr>
        </p:nvSpPr>
        <p:spPr>
          <a:xfrm>
            <a:off x="721225" y="1237075"/>
            <a:ext cx="3300900" cy="3142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2" name="Google Shape;52;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3" name="Shape 53"/>
        <p:cNvGrpSpPr/>
        <p:nvPr/>
      </p:nvGrpSpPr>
      <p:grpSpPr>
        <a:xfrm>
          <a:off x="0" y="0"/>
          <a:ext cx="0" cy="0"/>
          <a:chOff x="0" y="0"/>
          <a:chExt cx="0" cy="0"/>
        </a:xfrm>
      </p:grpSpPr>
      <p:grpSp>
        <p:nvGrpSpPr>
          <p:cNvPr id="54" name="Google Shape;54;p8"/>
          <p:cNvGrpSpPr/>
          <p:nvPr/>
        </p:nvGrpSpPr>
        <p:grpSpPr>
          <a:xfrm>
            <a:off x="830392" y="4169130"/>
            <a:ext cx="745763" cy="45826"/>
            <a:chOff x="4580561" y="2589004"/>
            <a:chExt cx="1064464" cy="25200"/>
          </a:xfrm>
        </p:grpSpPr>
        <p:sp>
          <p:nvSpPr>
            <p:cNvPr id="55" name="Google Shape;55;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 name="Google Shape;57;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58" name="Google Shape;58;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9" name="Shape 59"/>
        <p:cNvGrpSpPr/>
        <p:nvPr/>
      </p:nvGrpSpPr>
      <p:grpSpPr>
        <a:xfrm>
          <a:off x="0" y="0"/>
          <a:ext cx="0" cy="0"/>
          <a:chOff x="0" y="0"/>
          <a:chExt cx="0" cy="0"/>
        </a:xfrm>
      </p:grpSpPr>
      <p:sp>
        <p:nvSpPr>
          <p:cNvPr id="60" name="Google Shape;60;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1" name="Google Shape;61;p9"/>
          <p:cNvGrpSpPr/>
          <p:nvPr/>
        </p:nvGrpSpPr>
        <p:grpSpPr>
          <a:xfrm>
            <a:off x="830392" y="1191256"/>
            <a:ext cx="745763" cy="45826"/>
            <a:chOff x="4580561" y="2589004"/>
            <a:chExt cx="1064464" cy="25200"/>
          </a:xfrm>
        </p:grpSpPr>
        <p:sp>
          <p:nvSpPr>
            <p:cNvPr id="62" name="Google Shape;62;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4" name="Google Shape;64;p9"/>
          <p:cNvSpPr txBox="1"/>
          <p:nvPr>
            <p:ph type="title"/>
          </p:nvPr>
        </p:nvSpPr>
        <p:spPr>
          <a:xfrm>
            <a:off x="830400" y="286450"/>
            <a:ext cx="4077600" cy="9048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5" name="Google Shape;65;p9"/>
          <p:cNvSpPr txBox="1"/>
          <p:nvPr>
            <p:ph idx="1" type="subTitle"/>
          </p:nvPr>
        </p:nvSpPr>
        <p:spPr>
          <a:xfrm>
            <a:off x="830400" y="1399200"/>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6" name="Google Shape;66;p9"/>
          <p:cNvSpPr txBox="1"/>
          <p:nvPr>
            <p:ph idx="2" type="body"/>
          </p:nvPr>
        </p:nvSpPr>
        <p:spPr>
          <a:xfrm>
            <a:off x="5174225" y="389350"/>
            <a:ext cx="3374400" cy="4360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7" name="Google Shape;67;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8" name="Shape 68"/>
        <p:cNvGrpSpPr/>
        <p:nvPr/>
      </p:nvGrpSpPr>
      <p:grpSpPr>
        <a:xfrm>
          <a:off x="0" y="0"/>
          <a:ext cx="0" cy="0"/>
          <a:chOff x="0" y="0"/>
          <a:chExt cx="0" cy="0"/>
        </a:xfrm>
      </p:grpSpPr>
      <p:sp>
        <p:nvSpPr>
          <p:cNvPr id="69" name="Google Shape;69;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0" name="Google Shape;70;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1" name="Shape 71"/>
        <p:cNvGrpSpPr/>
        <p:nvPr/>
      </p:nvGrpSpPr>
      <p:grpSpPr>
        <a:xfrm>
          <a:off x="0" y="0"/>
          <a:ext cx="0" cy="0"/>
          <a:chOff x="0" y="0"/>
          <a:chExt cx="0" cy="0"/>
        </a:xfrm>
      </p:grpSpPr>
      <p:grpSp>
        <p:nvGrpSpPr>
          <p:cNvPr id="72" name="Google Shape;72;p11"/>
          <p:cNvGrpSpPr/>
          <p:nvPr/>
        </p:nvGrpSpPr>
        <p:grpSpPr>
          <a:xfrm>
            <a:off x="830392" y="4169130"/>
            <a:ext cx="745763" cy="45826"/>
            <a:chOff x="4580561" y="2589004"/>
            <a:chExt cx="1064464" cy="25200"/>
          </a:xfrm>
        </p:grpSpPr>
        <p:sp>
          <p:nvSpPr>
            <p:cNvPr id="73" name="Google Shape;73;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5" name="Google Shape;75;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6" name="Google Shape;76;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7" name="Google Shape;77;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8" name="Shape 78"/>
        <p:cNvGrpSpPr/>
        <p:nvPr/>
      </p:nvGrpSpPr>
      <p:grpSpPr>
        <a:xfrm>
          <a:off x="0" y="0"/>
          <a:ext cx="0" cy="0"/>
          <a:chOff x="0" y="0"/>
          <a:chExt cx="0" cy="0"/>
        </a:xfrm>
      </p:grpSpPr>
      <p:sp>
        <p:nvSpPr>
          <p:cNvPr id="79" name="Google Shape;79;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Lato"/>
              <a:buChar char="●"/>
              <a:defRPr sz="1300">
                <a:solidFill>
                  <a:schemeClr val="dk2"/>
                </a:solidFill>
                <a:latin typeface="Lato"/>
                <a:ea typeface="Lato"/>
                <a:cs typeface="Lato"/>
                <a:sym typeface="Lato"/>
              </a:defRPr>
            </a:lvl1pPr>
            <a:lvl2pPr indent="-298450" lvl="1" marL="914400">
              <a:lnSpc>
                <a:spcPct val="115000"/>
              </a:lnSpc>
              <a:spcBef>
                <a:spcPts val="0"/>
              </a:spcBef>
              <a:spcAft>
                <a:spcPts val="0"/>
              </a:spcAft>
              <a:buClr>
                <a:schemeClr val="dk2"/>
              </a:buClr>
              <a:buSzPts val="1100"/>
              <a:buFont typeface="Lato"/>
              <a:buChar char="○"/>
              <a:defRPr sz="1100">
                <a:solidFill>
                  <a:schemeClr val="dk2"/>
                </a:solidFill>
                <a:latin typeface="Lato"/>
                <a:ea typeface="Lato"/>
                <a:cs typeface="Lato"/>
                <a:sym typeface="Lato"/>
              </a:defRPr>
            </a:lvl2pPr>
            <a:lvl3pPr indent="-298450" lvl="2" marL="1371600">
              <a:lnSpc>
                <a:spcPct val="115000"/>
              </a:lnSpc>
              <a:spcBef>
                <a:spcPts val="0"/>
              </a:spcBef>
              <a:spcAft>
                <a:spcPts val="0"/>
              </a:spcAft>
              <a:buClr>
                <a:schemeClr val="dk2"/>
              </a:buClr>
              <a:buSzPts val="1100"/>
              <a:buFont typeface="Lato"/>
              <a:buChar char="■"/>
              <a:defRPr sz="1100">
                <a:solidFill>
                  <a:schemeClr val="dk2"/>
                </a:solidFill>
                <a:latin typeface="Lato"/>
                <a:ea typeface="Lato"/>
                <a:cs typeface="Lato"/>
                <a:sym typeface="Lato"/>
              </a:defRPr>
            </a:lvl3pPr>
            <a:lvl4pPr indent="-298450" lvl="3" marL="1828800">
              <a:lnSpc>
                <a:spcPct val="115000"/>
              </a:lnSpc>
              <a:spcBef>
                <a:spcPts val="0"/>
              </a:spcBef>
              <a:spcAft>
                <a:spcPts val="0"/>
              </a:spcAft>
              <a:buClr>
                <a:schemeClr val="dk2"/>
              </a:buClr>
              <a:buSzPts val="1100"/>
              <a:buFont typeface="Lato"/>
              <a:buChar char="●"/>
              <a:defRPr sz="1100">
                <a:solidFill>
                  <a:schemeClr val="dk2"/>
                </a:solidFill>
                <a:latin typeface="Lato"/>
                <a:ea typeface="Lato"/>
                <a:cs typeface="Lato"/>
                <a:sym typeface="Lato"/>
              </a:defRPr>
            </a:lvl4pPr>
            <a:lvl5pPr indent="-298450" lvl="4" marL="2286000">
              <a:lnSpc>
                <a:spcPct val="115000"/>
              </a:lnSpc>
              <a:spcBef>
                <a:spcPts val="0"/>
              </a:spcBef>
              <a:spcAft>
                <a:spcPts val="0"/>
              </a:spcAft>
              <a:buClr>
                <a:schemeClr val="dk2"/>
              </a:buClr>
              <a:buSzPts val="1100"/>
              <a:buFont typeface="Lato"/>
              <a:buChar char="○"/>
              <a:defRPr sz="1100">
                <a:solidFill>
                  <a:schemeClr val="dk2"/>
                </a:solidFill>
                <a:latin typeface="Lato"/>
                <a:ea typeface="Lato"/>
                <a:cs typeface="Lato"/>
                <a:sym typeface="Lato"/>
              </a:defRPr>
            </a:lvl5pPr>
            <a:lvl6pPr indent="-298450" lvl="5" marL="2743200">
              <a:lnSpc>
                <a:spcPct val="115000"/>
              </a:lnSpc>
              <a:spcBef>
                <a:spcPts val="0"/>
              </a:spcBef>
              <a:spcAft>
                <a:spcPts val="0"/>
              </a:spcAft>
              <a:buClr>
                <a:schemeClr val="dk2"/>
              </a:buClr>
              <a:buSzPts val="1100"/>
              <a:buFont typeface="Lato"/>
              <a:buChar char="■"/>
              <a:defRPr sz="1100">
                <a:solidFill>
                  <a:schemeClr val="dk2"/>
                </a:solidFill>
                <a:latin typeface="Lato"/>
                <a:ea typeface="Lato"/>
                <a:cs typeface="Lato"/>
                <a:sym typeface="Lato"/>
              </a:defRPr>
            </a:lvl6pPr>
            <a:lvl7pPr indent="-298450" lvl="6" marL="3200400">
              <a:lnSpc>
                <a:spcPct val="115000"/>
              </a:lnSpc>
              <a:spcBef>
                <a:spcPts val="0"/>
              </a:spcBef>
              <a:spcAft>
                <a:spcPts val="0"/>
              </a:spcAft>
              <a:buClr>
                <a:schemeClr val="dk2"/>
              </a:buClr>
              <a:buSzPts val="1100"/>
              <a:buFont typeface="Lato"/>
              <a:buChar char="●"/>
              <a:defRPr sz="1100">
                <a:solidFill>
                  <a:schemeClr val="dk2"/>
                </a:solidFill>
                <a:latin typeface="Lato"/>
                <a:ea typeface="Lato"/>
                <a:cs typeface="Lato"/>
                <a:sym typeface="Lato"/>
              </a:defRPr>
            </a:lvl7pPr>
            <a:lvl8pPr indent="-298450" lvl="7" marL="3657600">
              <a:lnSpc>
                <a:spcPct val="115000"/>
              </a:lnSpc>
              <a:spcBef>
                <a:spcPts val="0"/>
              </a:spcBef>
              <a:spcAft>
                <a:spcPts val="0"/>
              </a:spcAft>
              <a:buClr>
                <a:schemeClr val="dk2"/>
              </a:buClr>
              <a:buSzPts val="1100"/>
              <a:buFont typeface="Lato"/>
              <a:buChar char="○"/>
              <a:defRPr sz="1100">
                <a:solidFill>
                  <a:schemeClr val="dk2"/>
                </a:solidFill>
                <a:latin typeface="Lato"/>
                <a:ea typeface="Lato"/>
                <a:cs typeface="Lato"/>
                <a:sym typeface="Lato"/>
              </a:defRPr>
            </a:lvl8pPr>
            <a:lvl9pPr indent="-298450" lvl="8" marL="4114800">
              <a:lnSpc>
                <a:spcPct val="115000"/>
              </a:lnSpc>
              <a:spcBef>
                <a:spcPts val="0"/>
              </a:spcBef>
              <a:spcAft>
                <a:spcPts val="0"/>
              </a:spcAft>
              <a:buClr>
                <a:schemeClr val="dk2"/>
              </a:buClr>
              <a:buSzPts val="1100"/>
              <a:buFont typeface="Lato"/>
              <a:buChar char="■"/>
              <a:defRPr sz="1100">
                <a:solidFill>
                  <a:schemeClr val="dk2"/>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20.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6.png"/><Relationship Id="rId5" Type="http://schemas.openxmlformats.org/officeDocument/2006/relationships/image" Target="../media/image9.png"/><Relationship Id="rId6"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hyperlink" Target="https://www.tutorialspoint.com/cprogramming/c_pointers.htm" TargetMode="External"/><Relationship Id="rId4" Type="http://schemas.openxmlformats.org/officeDocument/2006/relationships/image" Target="../media/image24.png"/><Relationship Id="rId5"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11.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2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image" Target="../media/image1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2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image" Target="../media/image3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image" Target="../media/image2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 Id="rId3" Type="http://schemas.openxmlformats.org/officeDocument/2006/relationships/image" Target="../media/image1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 Id="rId3" Type="http://schemas.openxmlformats.org/officeDocument/2006/relationships/image" Target="../media/image3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 Id="rId3" Type="http://schemas.openxmlformats.org/officeDocument/2006/relationships/image" Target="../media/image2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 Id="rId3" Type="http://schemas.openxmlformats.org/officeDocument/2006/relationships/image" Target="../media/image3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 Id="rId3" Type="http://schemas.openxmlformats.org/officeDocument/2006/relationships/image" Target="../media/image2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2.xml"/><Relationship Id="rId3" Type="http://schemas.openxmlformats.org/officeDocument/2006/relationships/hyperlink" Target="https://www.sciencedirect.com/science/article/pii/S2352340924012046" TargetMode="External"/><Relationship Id="rId4" Type="http://schemas.openxmlformats.org/officeDocument/2006/relationships/hyperlink" Target="https://sqlitebrowser.org/dl/" TargetMode="External"/><Relationship Id="rId5" Type="http://schemas.openxmlformats.org/officeDocument/2006/relationships/hyperlink" Target="https://forms.gle/3UicvcmuGAteTjwV9"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 Id="rId3" Type="http://schemas.openxmlformats.org/officeDocument/2006/relationships/image" Target="../media/image26.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 Id="rId3" Type="http://schemas.openxmlformats.org/officeDocument/2006/relationships/image" Target="../media/image33.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 Id="rId3" Type="http://schemas.openxmlformats.org/officeDocument/2006/relationships/hyperlink" Target="https://github.com/python/cpython/blob/3.13/Grammar/python.gram" TargetMode="External"/><Relationship Id="rId4" Type="http://schemas.openxmlformats.org/officeDocument/2006/relationships/hyperlink" Target="https://docs.python.org/3/reference/grammar.html" TargetMode="External"/><Relationship Id="rId5" Type="http://schemas.openxmlformats.org/officeDocument/2006/relationships/hyperlink" Target="https://docs.python.org/3/reference/grammar.html"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3.xml"/><Relationship Id="rId3" Type="http://schemas.openxmlformats.org/officeDocument/2006/relationships/image" Target="../media/image36.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4.xml"/><Relationship Id="rId3" Type="http://schemas.openxmlformats.org/officeDocument/2006/relationships/image" Target="../media/image35.png"/><Relationship Id="rId4" Type="http://schemas.openxmlformats.org/officeDocument/2006/relationships/image" Target="../media/image37.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5.xml"/><Relationship Id="rId3" Type="http://schemas.openxmlformats.org/officeDocument/2006/relationships/image" Target="../media/image32.png"/><Relationship Id="rId4" Type="http://schemas.openxmlformats.org/officeDocument/2006/relationships/image" Target="../media/image29.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3"/>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2880">
                <a:latin typeface="Lato"/>
                <a:ea typeface="Lato"/>
                <a:cs typeface="Lato"/>
                <a:sym typeface="Lato"/>
              </a:rPr>
              <a:t>[TLP] Paradigmas de Programación.</a:t>
            </a:r>
            <a:endParaRPr sz="2880">
              <a:latin typeface="Lato"/>
              <a:ea typeface="Lato"/>
              <a:cs typeface="Lato"/>
              <a:sym typeface="Lato"/>
            </a:endParaRPr>
          </a:p>
        </p:txBody>
      </p:sp>
      <p:sp>
        <p:nvSpPr>
          <p:cNvPr id="85" name="Google Shape;85;p13"/>
          <p:cNvSpPr txBox="1"/>
          <p:nvPr>
            <p:ph idx="1" type="subTitle"/>
          </p:nvPr>
        </p:nvSpPr>
        <p:spPr>
          <a:xfrm>
            <a:off x="729625" y="2987150"/>
            <a:ext cx="7688100" cy="1955400"/>
          </a:xfrm>
          <a:prstGeom prst="rect">
            <a:avLst/>
          </a:prstGeom>
        </p:spPr>
        <p:txBody>
          <a:bodyPr anchorCtr="0" anchor="t" bIns="91425" lIns="91425" spcFirstLastPara="1" rIns="91425" wrap="square" tIns="91425">
            <a:normAutofit fontScale="62500" lnSpcReduction="20000"/>
          </a:bodyPr>
          <a:lstStyle/>
          <a:p>
            <a:pPr indent="0" lvl="0" marL="0" rtl="0" algn="ctr">
              <a:lnSpc>
                <a:spcPct val="115000"/>
              </a:lnSpc>
              <a:spcBef>
                <a:spcPts val="0"/>
              </a:spcBef>
              <a:spcAft>
                <a:spcPts val="0"/>
              </a:spcAft>
              <a:buNone/>
            </a:pPr>
            <a:r>
              <a:t/>
            </a:r>
            <a:endParaRPr sz="3057"/>
          </a:p>
          <a:p>
            <a:pPr indent="0" lvl="0" marL="0" rtl="0" algn="l">
              <a:lnSpc>
                <a:spcPct val="115000"/>
              </a:lnSpc>
              <a:spcBef>
                <a:spcPts val="0"/>
              </a:spcBef>
              <a:spcAft>
                <a:spcPts val="0"/>
              </a:spcAft>
              <a:buNone/>
            </a:pPr>
            <a:r>
              <a:t/>
            </a:r>
            <a:endParaRPr sz="2200"/>
          </a:p>
          <a:p>
            <a:pPr indent="0" lvl="0" marL="0" rtl="0" algn="l">
              <a:lnSpc>
                <a:spcPct val="115000"/>
              </a:lnSpc>
              <a:spcBef>
                <a:spcPts val="0"/>
              </a:spcBef>
              <a:spcAft>
                <a:spcPts val="0"/>
              </a:spcAft>
              <a:buNone/>
            </a:pPr>
            <a:r>
              <a:rPr lang="es" sz="2200"/>
              <a:t>Fernán A. Villa-Garzón.		Carolina Valencia-García.</a:t>
            </a:r>
            <a:endParaRPr sz="2200"/>
          </a:p>
          <a:p>
            <a:pPr indent="0" lvl="0" marL="0" rtl="0" algn="l">
              <a:lnSpc>
                <a:spcPct val="115000"/>
              </a:lnSpc>
              <a:spcBef>
                <a:spcPts val="0"/>
              </a:spcBef>
              <a:spcAft>
                <a:spcPts val="0"/>
              </a:spcAft>
              <a:buNone/>
            </a:pPr>
            <a:r>
              <a:rPr lang="es" sz="2200"/>
              <a:t>favillao@unal.edu.co 		marvalenciaga@unal.edu.co </a:t>
            </a:r>
            <a:endParaRPr sz="2200"/>
          </a:p>
          <a:p>
            <a:pPr indent="0" lvl="0" marL="0" rtl="0" algn="l">
              <a:lnSpc>
                <a:spcPct val="115000"/>
              </a:lnSpc>
              <a:spcBef>
                <a:spcPts val="0"/>
              </a:spcBef>
              <a:spcAft>
                <a:spcPts val="0"/>
              </a:spcAft>
              <a:buNone/>
            </a:pPr>
            <a:r>
              <a:rPr lang="es" sz="2200"/>
              <a:t>Profesor Asociado		Monitora	</a:t>
            </a:r>
            <a:endParaRPr sz="2200"/>
          </a:p>
          <a:p>
            <a:pPr indent="0" lvl="0" marL="0" rtl="0" algn="l">
              <a:lnSpc>
                <a:spcPct val="115000"/>
              </a:lnSpc>
              <a:spcBef>
                <a:spcPts val="0"/>
              </a:spcBef>
              <a:spcAft>
                <a:spcPts val="0"/>
              </a:spcAft>
              <a:buNone/>
            </a:pPr>
            <a:r>
              <a:rPr lang="es" sz="2200"/>
              <a:t>Oficina M8A-315. 		Oficina M8A-402</a:t>
            </a:r>
            <a:endParaRPr sz="2200"/>
          </a:p>
          <a:p>
            <a:pPr indent="0" lvl="0" marL="0" rtl="0" algn="l">
              <a:lnSpc>
                <a:spcPct val="115000"/>
              </a:lnSpc>
              <a:spcBef>
                <a:spcPts val="0"/>
              </a:spcBef>
              <a:spcAft>
                <a:spcPts val="0"/>
              </a:spcAft>
              <a:buNone/>
            </a:pPr>
            <a:r>
              <a:t/>
            </a:r>
            <a:endParaRPr sz="2200"/>
          </a:p>
          <a:p>
            <a:pPr indent="0" lvl="0" marL="0" rtl="0" algn="l">
              <a:lnSpc>
                <a:spcPct val="115000"/>
              </a:lnSpc>
              <a:spcBef>
                <a:spcPts val="0"/>
              </a:spcBef>
              <a:spcAft>
                <a:spcPts val="0"/>
              </a:spcAft>
              <a:buNone/>
            </a:pPr>
            <a:r>
              <a:rPr lang="es" sz="2200"/>
              <a:t>Asesoría, por favor Agendar por Google Calendar.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4"/>
          <p:cNvSpPr txBox="1"/>
          <p:nvPr>
            <p:ph type="title"/>
          </p:nvPr>
        </p:nvSpPr>
        <p:spPr>
          <a:xfrm>
            <a:off x="830400" y="6560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Sobre la abstracción</a:t>
            </a:r>
            <a:endParaRPr/>
          </a:p>
        </p:txBody>
      </p:sp>
      <p:sp>
        <p:nvSpPr>
          <p:cNvPr id="91" name="Google Shape;91;p14"/>
          <p:cNvSpPr txBox="1"/>
          <p:nvPr>
            <p:ph idx="1" type="body"/>
          </p:nvPr>
        </p:nvSpPr>
        <p:spPr>
          <a:xfrm>
            <a:off x="260825" y="1237075"/>
            <a:ext cx="4242900" cy="3102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Abstraer es formar mediante una operación intelectual una idea mental o noción de un objeto extrayendo de los objetos reales particulares los rasgos esenciales, comunes a todos ellos</a:t>
            </a:r>
            <a:endParaRPr/>
          </a:p>
        </p:txBody>
      </p:sp>
      <p:sp>
        <p:nvSpPr>
          <p:cNvPr id="92" name="Google Shape;92;p14"/>
          <p:cNvSpPr txBox="1"/>
          <p:nvPr>
            <p:ph idx="2" type="body"/>
          </p:nvPr>
        </p:nvSpPr>
        <p:spPr>
          <a:xfrm>
            <a:off x="4643600" y="1237075"/>
            <a:ext cx="3774300" cy="31029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0"/>
              </a:spcAft>
              <a:buNone/>
            </a:pPr>
            <a:r>
              <a:rPr lang="es"/>
              <a:t>Las características y el nivel de detalle depende del Nivel de Abstracción el cuál depende de quién modela (del artista o analista o programador…) y del alcance del problema.</a:t>
            </a:r>
            <a:endParaRPr/>
          </a:p>
        </p:txBody>
      </p:sp>
      <p:pic>
        <p:nvPicPr>
          <p:cNvPr descr="Imagen que contiene animal, sentado&#10;&#10;Descripción generada con confianza alta" id="93" name="Google Shape;93;p14"/>
          <p:cNvPicPr preferRelativeResize="0"/>
          <p:nvPr/>
        </p:nvPicPr>
        <p:blipFill rotWithShape="1">
          <a:blip r:embed="rId3">
            <a:alphaModFix/>
          </a:blip>
          <a:srcRect b="0" l="0" r="0" t="0"/>
          <a:stretch/>
        </p:blipFill>
        <p:spPr>
          <a:xfrm>
            <a:off x="1921600" y="2795225"/>
            <a:ext cx="5506000" cy="1916775"/>
          </a:xfrm>
          <a:prstGeom prst="rect">
            <a:avLst/>
          </a:prstGeom>
          <a:noFill/>
          <a:ln>
            <a:noFill/>
          </a:ln>
        </p:spPr>
      </p:pic>
      <p:sp>
        <p:nvSpPr>
          <p:cNvPr id="94" name="Google Shape;94;p14"/>
          <p:cNvSpPr/>
          <p:nvPr/>
        </p:nvSpPr>
        <p:spPr>
          <a:xfrm>
            <a:off x="2602220" y="4663848"/>
            <a:ext cx="3664800" cy="261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s" sz="1100" u="none" cap="none" strike="noStrike">
                <a:solidFill>
                  <a:srgbClr val="000000"/>
                </a:solidFill>
                <a:latin typeface="Corbel"/>
                <a:ea typeface="Corbel"/>
                <a:cs typeface="Corbel"/>
                <a:sym typeface="Corbel"/>
              </a:rPr>
              <a:t>http://javiervalderrama.blogspot.com.co/2010/06/</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5"/>
          <p:cNvSpPr txBox="1"/>
          <p:nvPr>
            <p:ph type="title"/>
          </p:nvPr>
        </p:nvSpPr>
        <p:spPr>
          <a:xfrm>
            <a:off x="830400" y="6560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Niveles de Abstracción</a:t>
            </a:r>
            <a:endParaRPr/>
          </a:p>
        </p:txBody>
      </p:sp>
      <p:sp>
        <p:nvSpPr>
          <p:cNvPr id="100" name="Google Shape;100;p15"/>
          <p:cNvSpPr txBox="1"/>
          <p:nvPr>
            <p:ph idx="1" type="body"/>
          </p:nvPr>
        </p:nvSpPr>
        <p:spPr>
          <a:xfrm>
            <a:off x="729325" y="1237075"/>
            <a:ext cx="3774300" cy="3102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En la teoría de lenguajes, la abstracción es el proceso de ocultar los detalles de la implementación y mostrar solo la funcionalidad necesaria.</a:t>
            </a:r>
            <a:endParaRPr/>
          </a:p>
        </p:txBody>
      </p:sp>
      <p:sp>
        <p:nvSpPr>
          <p:cNvPr id="101" name="Google Shape;101;p15"/>
          <p:cNvSpPr txBox="1"/>
          <p:nvPr>
            <p:ph idx="2" type="body"/>
          </p:nvPr>
        </p:nvSpPr>
        <p:spPr>
          <a:xfrm>
            <a:off x="4632925" y="82200"/>
            <a:ext cx="4191300" cy="31029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0"/>
              </a:spcAft>
              <a:buNone/>
            </a:pPr>
            <a:r>
              <a:rPr b="1" lang="es" sz="1100">
                <a:solidFill>
                  <a:srgbClr val="000000"/>
                </a:solidFill>
              </a:rPr>
              <a:t>Bajo Nivel de Abstracción (lenguaje de máquina, ensamblador):</a:t>
            </a:r>
            <a:r>
              <a:rPr lang="es" sz="1100">
                <a:solidFill>
                  <a:srgbClr val="000000"/>
                </a:solidFill>
              </a:rPr>
              <a:t> Es como el primer mapa. Cada instrucción es un detalle granular que debe especificarse. El programador debe gestionar la memoria, los registros, y el flujo de control de manera explícita.</a:t>
            </a:r>
            <a:endParaRPr sz="1100">
              <a:solidFill>
                <a:srgbClr val="000000"/>
              </a:solidFill>
            </a:endParaRPr>
          </a:p>
          <a:p>
            <a:pPr indent="0" lvl="0" marL="0" rtl="0" algn="l">
              <a:lnSpc>
                <a:spcPct val="150000"/>
              </a:lnSpc>
              <a:spcBef>
                <a:spcPts val="0"/>
              </a:spcBef>
              <a:spcAft>
                <a:spcPts val="0"/>
              </a:spcAft>
              <a:buNone/>
            </a:pPr>
            <a:r>
              <a:t/>
            </a:r>
            <a:endParaRPr sz="1100">
              <a:solidFill>
                <a:srgbClr val="000000"/>
              </a:solidFill>
            </a:endParaRPr>
          </a:p>
          <a:p>
            <a:pPr indent="0" lvl="0" marL="0" rtl="0" algn="l">
              <a:lnSpc>
                <a:spcPct val="150000"/>
              </a:lnSpc>
              <a:spcBef>
                <a:spcPts val="0"/>
              </a:spcBef>
              <a:spcAft>
                <a:spcPts val="0"/>
              </a:spcAft>
              <a:buNone/>
            </a:pPr>
            <a:r>
              <a:rPr b="1" lang="es" sz="1100">
                <a:solidFill>
                  <a:srgbClr val="000000"/>
                </a:solidFill>
              </a:rPr>
              <a:t>Alto Nivel de Abstracción (Python, JavaScript):</a:t>
            </a:r>
            <a:r>
              <a:rPr lang="es" sz="1100">
                <a:solidFill>
                  <a:srgbClr val="000000"/>
                </a:solidFill>
              </a:rPr>
              <a:t> Es como el último mapa. No necesitas conocer los detalles del hardware. Solo trabajas con conceptos más amplios como variables, funciones y objetos. El lenguaje de programación se encarga de traducir esos conceptos a las instrucciones detalladas que la máquina necesita.</a:t>
            </a:r>
            <a:endParaRPr sz="1100">
              <a:solidFill>
                <a:srgbClr val="000000"/>
              </a:solidFill>
            </a:endParaRPr>
          </a:p>
        </p:txBody>
      </p:sp>
      <p:grpSp>
        <p:nvGrpSpPr>
          <p:cNvPr id="102" name="Google Shape;102;p15"/>
          <p:cNvGrpSpPr/>
          <p:nvPr/>
        </p:nvGrpSpPr>
        <p:grpSpPr>
          <a:xfrm>
            <a:off x="290885" y="2764218"/>
            <a:ext cx="8482365" cy="2295538"/>
            <a:chOff x="290885" y="2571738"/>
            <a:chExt cx="8482365" cy="2295538"/>
          </a:xfrm>
        </p:grpSpPr>
        <p:sp>
          <p:nvSpPr>
            <p:cNvPr id="103" name="Google Shape;103;p15"/>
            <p:cNvSpPr/>
            <p:nvPr/>
          </p:nvSpPr>
          <p:spPr>
            <a:xfrm rot="-5400000">
              <a:off x="-294265" y="3307246"/>
              <a:ext cx="2093700" cy="9234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s" sz="1800">
                  <a:solidFill>
                    <a:srgbClr val="000000"/>
                  </a:solidFill>
                  <a:latin typeface="Corbel"/>
                  <a:ea typeface="Corbel"/>
                  <a:cs typeface="Corbel"/>
                  <a:sym typeface="Corbel"/>
                </a:rPr>
                <a:t>Más Detalle</a:t>
              </a:r>
              <a:endParaRPr/>
            </a:p>
            <a:p>
              <a:pPr indent="0" lvl="0" marL="0" marR="0" rtl="0" algn="ctr">
                <a:spcBef>
                  <a:spcPts val="0"/>
                </a:spcBef>
                <a:spcAft>
                  <a:spcPts val="0"/>
                </a:spcAft>
                <a:buNone/>
              </a:pPr>
              <a:r>
                <a:rPr lang="es" sz="1800">
                  <a:solidFill>
                    <a:srgbClr val="000000"/>
                  </a:solidFill>
                  <a:latin typeface="Corbel"/>
                  <a:ea typeface="Corbel"/>
                  <a:cs typeface="Corbel"/>
                  <a:sym typeface="Corbel"/>
                </a:rPr>
                <a:t>Más Complejo</a:t>
              </a:r>
              <a:endParaRPr/>
            </a:p>
            <a:p>
              <a:pPr indent="0" lvl="0" marL="0" marR="0" rtl="0" algn="ctr">
                <a:spcBef>
                  <a:spcPts val="0"/>
                </a:spcBef>
                <a:spcAft>
                  <a:spcPts val="0"/>
                </a:spcAft>
                <a:buNone/>
              </a:pPr>
              <a:r>
                <a:rPr lang="es" sz="1800">
                  <a:solidFill>
                    <a:srgbClr val="000000"/>
                  </a:solidFill>
                  <a:latin typeface="Corbel"/>
                  <a:ea typeface="Corbel"/>
                  <a:cs typeface="Corbel"/>
                  <a:sym typeface="Corbel"/>
                </a:rPr>
                <a:t>Menos Abstracto</a:t>
              </a:r>
              <a:endParaRPr/>
            </a:p>
          </p:txBody>
        </p:sp>
        <p:pic>
          <p:nvPicPr>
            <p:cNvPr id="104" name="Google Shape;104;p15"/>
            <p:cNvPicPr preferRelativeResize="0"/>
            <p:nvPr/>
          </p:nvPicPr>
          <p:blipFill rotWithShape="1">
            <a:blip r:embed="rId3">
              <a:alphaModFix/>
            </a:blip>
            <a:srcRect b="0" l="0" r="0" t="0"/>
            <a:stretch/>
          </p:blipFill>
          <p:spPr>
            <a:xfrm>
              <a:off x="1368416" y="2571750"/>
              <a:ext cx="1619276" cy="2295525"/>
            </a:xfrm>
            <a:prstGeom prst="rect">
              <a:avLst/>
            </a:prstGeom>
            <a:noFill/>
            <a:ln>
              <a:noFill/>
            </a:ln>
          </p:spPr>
        </p:pic>
        <p:pic>
          <p:nvPicPr>
            <p:cNvPr descr="Imagen que contiene texto, mapa&#10;&#10;Descripción generada con confianza muy alta" id="105" name="Google Shape;105;p15"/>
            <p:cNvPicPr preferRelativeResize="0"/>
            <p:nvPr/>
          </p:nvPicPr>
          <p:blipFill rotWithShape="1">
            <a:blip r:embed="rId4">
              <a:alphaModFix/>
            </a:blip>
            <a:srcRect b="0" l="0" r="0" t="0"/>
            <a:stretch/>
          </p:blipFill>
          <p:spPr>
            <a:xfrm>
              <a:off x="2987699" y="2571750"/>
              <a:ext cx="1696960" cy="2295526"/>
            </a:xfrm>
            <a:prstGeom prst="rect">
              <a:avLst/>
            </a:prstGeom>
            <a:noFill/>
            <a:ln>
              <a:noFill/>
            </a:ln>
          </p:spPr>
        </p:pic>
        <p:pic>
          <p:nvPicPr>
            <p:cNvPr descr="Imagen que contiene texto, mapa&#10;&#10;Descripción generada con confianza muy alta" id="106" name="Google Shape;106;p15"/>
            <p:cNvPicPr preferRelativeResize="0"/>
            <p:nvPr/>
          </p:nvPicPr>
          <p:blipFill rotWithShape="1">
            <a:blip r:embed="rId5">
              <a:alphaModFix/>
            </a:blip>
            <a:srcRect b="0" l="0" r="0" t="0"/>
            <a:stretch/>
          </p:blipFill>
          <p:spPr>
            <a:xfrm>
              <a:off x="4684648" y="2571750"/>
              <a:ext cx="1468250" cy="2295524"/>
            </a:xfrm>
            <a:prstGeom prst="rect">
              <a:avLst/>
            </a:prstGeom>
            <a:noFill/>
            <a:ln>
              <a:noFill/>
            </a:ln>
          </p:spPr>
        </p:pic>
        <p:pic>
          <p:nvPicPr>
            <p:cNvPr descr="Imagen que contiene texto, mapa&#10;&#10;Descripción generada con confianza muy alta" id="107" name="Google Shape;107;p15"/>
            <p:cNvPicPr preferRelativeResize="0"/>
            <p:nvPr/>
          </p:nvPicPr>
          <p:blipFill rotWithShape="1">
            <a:blip r:embed="rId6">
              <a:alphaModFix/>
            </a:blip>
            <a:srcRect b="0" l="0" r="0" t="0"/>
            <a:stretch/>
          </p:blipFill>
          <p:spPr>
            <a:xfrm>
              <a:off x="6152899" y="2571738"/>
              <a:ext cx="1698689" cy="2295525"/>
            </a:xfrm>
            <a:prstGeom prst="rect">
              <a:avLst/>
            </a:prstGeom>
            <a:noFill/>
            <a:ln>
              <a:noFill/>
            </a:ln>
          </p:spPr>
        </p:pic>
        <p:sp>
          <p:nvSpPr>
            <p:cNvPr id="108" name="Google Shape;108;p15"/>
            <p:cNvSpPr/>
            <p:nvPr/>
          </p:nvSpPr>
          <p:spPr>
            <a:xfrm rot="5400000">
              <a:off x="7262151" y="3257808"/>
              <a:ext cx="2098800" cy="9234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s" sz="1800">
                  <a:solidFill>
                    <a:srgbClr val="000000"/>
                  </a:solidFill>
                  <a:latin typeface="Corbel"/>
                  <a:ea typeface="Corbel"/>
                  <a:cs typeface="Corbel"/>
                  <a:sym typeface="Corbel"/>
                </a:rPr>
                <a:t>Menos Detalle</a:t>
              </a:r>
              <a:endParaRPr/>
            </a:p>
            <a:p>
              <a:pPr indent="0" lvl="0" marL="0" marR="0" rtl="0" algn="ctr">
                <a:spcBef>
                  <a:spcPts val="0"/>
                </a:spcBef>
                <a:spcAft>
                  <a:spcPts val="0"/>
                </a:spcAft>
                <a:buNone/>
              </a:pPr>
              <a:r>
                <a:rPr lang="es" sz="1800">
                  <a:solidFill>
                    <a:srgbClr val="000000"/>
                  </a:solidFill>
                  <a:latin typeface="Corbel"/>
                  <a:ea typeface="Corbel"/>
                  <a:cs typeface="Corbel"/>
                  <a:sym typeface="Corbel"/>
                </a:rPr>
                <a:t>Menos Complejo</a:t>
              </a:r>
              <a:endParaRPr/>
            </a:p>
            <a:p>
              <a:pPr indent="0" lvl="0" marL="0" marR="0" rtl="0" algn="ctr">
                <a:spcBef>
                  <a:spcPts val="0"/>
                </a:spcBef>
                <a:spcAft>
                  <a:spcPts val="0"/>
                </a:spcAft>
                <a:buNone/>
              </a:pPr>
              <a:r>
                <a:rPr lang="es" sz="1800">
                  <a:solidFill>
                    <a:srgbClr val="000000"/>
                  </a:solidFill>
                  <a:latin typeface="Corbel"/>
                  <a:ea typeface="Corbel"/>
                  <a:cs typeface="Corbel"/>
                  <a:sym typeface="Corbel"/>
                </a:rPr>
                <a:t>Más Abstracto</a:t>
              </a: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6"/>
          <p:cNvSpPr txBox="1"/>
          <p:nvPr>
            <p:ph type="title"/>
          </p:nvPr>
        </p:nvSpPr>
        <p:spPr>
          <a:xfrm>
            <a:off x="830395" y="281783"/>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Criterios para que un lenguaje sea de programación, 1. Completitud de Turing </a:t>
            </a:r>
            <a:endParaRPr/>
          </a:p>
        </p:txBody>
      </p:sp>
      <p:sp>
        <p:nvSpPr>
          <p:cNvPr id="114" name="Google Shape;114;p16"/>
          <p:cNvSpPr txBox="1"/>
          <p:nvPr>
            <p:ph idx="1" type="body"/>
          </p:nvPr>
        </p:nvSpPr>
        <p:spPr>
          <a:xfrm>
            <a:off x="365700" y="1237075"/>
            <a:ext cx="4137900" cy="3857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Turing Completeness (Completitud de Turing), </a:t>
            </a:r>
            <a:r>
              <a:rPr lang="es">
                <a:solidFill>
                  <a:srgbClr val="000000"/>
                </a:solidFill>
              </a:rPr>
              <a:t>e</a:t>
            </a:r>
            <a:r>
              <a:rPr lang="es">
                <a:solidFill>
                  <a:srgbClr val="000000"/>
                </a:solidFill>
              </a:rPr>
              <a:t>ste es el criterio más importante y técnico. </a:t>
            </a:r>
            <a:endParaRPr>
              <a:solidFill>
                <a:srgbClr val="000000"/>
              </a:solidFill>
            </a:endParaRPr>
          </a:p>
          <a:p>
            <a:pPr indent="0" lvl="0" marL="0" rtl="0" algn="just">
              <a:spcBef>
                <a:spcPts val="1200"/>
              </a:spcBef>
              <a:spcAft>
                <a:spcPts val="0"/>
              </a:spcAft>
              <a:buNone/>
            </a:pPr>
            <a:r>
              <a:rPr lang="es">
                <a:solidFill>
                  <a:srgbClr val="000000"/>
                </a:solidFill>
              </a:rPr>
              <a:t>Un lenguaje de programación es </a:t>
            </a:r>
            <a:r>
              <a:rPr b="1" lang="es">
                <a:solidFill>
                  <a:srgbClr val="000000"/>
                </a:solidFill>
              </a:rPr>
              <a:t>Turing completo</a:t>
            </a:r>
            <a:r>
              <a:rPr lang="es">
                <a:solidFill>
                  <a:srgbClr val="000000"/>
                </a:solidFill>
              </a:rPr>
              <a:t> si es capaz de simular cualquier </a:t>
            </a:r>
            <a:r>
              <a:rPr b="1" lang="es">
                <a:solidFill>
                  <a:srgbClr val="000000"/>
                </a:solidFill>
              </a:rPr>
              <a:t>Máquina de Turing</a:t>
            </a:r>
            <a:r>
              <a:rPr lang="es">
                <a:solidFill>
                  <a:srgbClr val="000000"/>
                </a:solidFill>
              </a:rPr>
              <a:t>, un modelo teórico de computación universal. </a:t>
            </a:r>
            <a:endParaRPr>
              <a:solidFill>
                <a:srgbClr val="000000"/>
              </a:solidFill>
            </a:endParaRPr>
          </a:p>
          <a:p>
            <a:pPr indent="0" lvl="0" marL="0" rtl="0" algn="just">
              <a:spcBef>
                <a:spcPts val="1200"/>
              </a:spcBef>
              <a:spcAft>
                <a:spcPts val="0"/>
              </a:spcAft>
              <a:buNone/>
            </a:pPr>
            <a:r>
              <a:rPr lang="es">
                <a:solidFill>
                  <a:srgbClr val="000000"/>
                </a:solidFill>
              </a:rPr>
              <a:t>Significa que el lenguaje tiene el poder computacional para </a:t>
            </a:r>
            <a:r>
              <a:rPr b="1" lang="es">
                <a:solidFill>
                  <a:srgbClr val="000000"/>
                </a:solidFill>
              </a:rPr>
              <a:t>resolver cualquier problema algorítmico</a:t>
            </a:r>
            <a:r>
              <a:rPr lang="es">
                <a:solidFill>
                  <a:srgbClr val="000000"/>
                </a:solidFill>
              </a:rPr>
              <a:t> que pueda ser resuelto por una computadora.</a:t>
            </a:r>
            <a:endParaRPr>
              <a:solidFill>
                <a:srgbClr val="000000"/>
              </a:solidFill>
            </a:endParaRPr>
          </a:p>
          <a:p>
            <a:pPr indent="0" lvl="0" marL="0" rtl="0" algn="just">
              <a:spcBef>
                <a:spcPts val="1200"/>
              </a:spcBef>
              <a:spcAft>
                <a:spcPts val="0"/>
              </a:spcAft>
              <a:buNone/>
            </a:pPr>
            <a:r>
              <a:rPr lang="es">
                <a:solidFill>
                  <a:srgbClr val="000000"/>
                </a:solidFill>
              </a:rPr>
              <a:t>La mayoría de los lenguajes de programación modernos (Python, Java, C++, JavaScript) son Turing completos. </a:t>
            </a:r>
            <a:endParaRPr>
              <a:solidFill>
                <a:srgbClr val="000000"/>
              </a:solidFill>
            </a:endParaRPr>
          </a:p>
          <a:p>
            <a:pPr indent="0" lvl="0" marL="0" rtl="0" algn="just">
              <a:spcBef>
                <a:spcPts val="1200"/>
              </a:spcBef>
              <a:spcAft>
                <a:spcPts val="1200"/>
              </a:spcAft>
              <a:buNone/>
            </a:pPr>
            <a:r>
              <a:rPr lang="es">
                <a:solidFill>
                  <a:srgbClr val="000000"/>
                </a:solidFill>
              </a:rPr>
              <a:t>Por otro lado, un lenguaje como HTML no lo es, ya que su propósito es solo estructurar y presentar información, no realizar cálculos.</a:t>
            </a:r>
            <a:endParaRPr>
              <a:solidFill>
                <a:srgbClr val="000000"/>
              </a:solidFill>
            </a:endParaRPr>
          </a:p>
        </p:txBody>
      </p:sp>
      <p:sp>
        <p:nvSpPr>
          <p:cNvPr id="115" name="Google Shape;115;p16"/>
          <p:cNvSpPr txBox="1"/>
          <p:nvPr>
            <p:ph idx="2" type="body"/>
          </p:nvPr>
        </p:nvSpPr>
        <p:spPr>
          <a:xfrm>
            <a:off x="4643600" y="1237075"/>
            <a:ext cx="4191300" cy="3857100"/>
          </a:xfrm>
          <a:prstGeom prst="rect">
            <a:avLst/>
          </a:prstGeom>
        </p:spPr>
        <p:txBody>
          <a:bodyPr anchorCtr="0" anchor="t" bIns="91425" lIns="91425" spcFirstLastPara="1" rIns="91425" wrap="square" tIns="91425">
            <a:normAutofit/>
          </a:bodyPr>
          <a:lstStyle/>
          <a:p>
            <a:pPr indent="0" lvl="0" marL="0" rtl="0" algn="just">
              <a:spcBef>
                <a:spcPts val="1200"/>
              </a:spcBef>
              <a:spcAft>
                <a:spcPts val="0"/>
              </a:spcAft>
              <a:buNone/>
            </a:pPr>
            <a:r>
              <a:rPr lang="es">
                <a:solidFill>
                  <a:srgbClr val="000000"/>
                </a:solidFill>
              </a:rPr>
              <a:t>Para ser Turing completo, un lenguaje debe tener al menos:</a:t>
            </a:r>
            <a:endParaRPr>
              <a:solidFill>
                <a:srgbClr val="000000"/>
              </a:solidFill>
            </a:endParaRPr>
          </a:p>
          <a:p>
            <a:pPr indent="-311150" lvl="0" marL="457200" rtl="0" algn="just">
              <a:spcBef>
                <a:spcPts val="1200"/>
              </a:spcBef>
              <a:spcAft>
                <a:spcPts val="0"/>
              </a:spcAft>
              <a:buClr>
                <a:srgbClr val="000000"/>
              </a:buClr>
              <a:buSzPts val="1300"/>
              <a:buFont typeface="Arial"/>
              <a:buChar char="●"/>
            </a:pPr>
            <a:r>
              <a:rPr b="1" lang="es">
                <a:solidFill>
                  <a:srgbClr val="000000"/>
                </a:solidFill>
              </a:rPr>
              <a:t>Capacidad de iteración:</a:t>
            </a:r>
            <a:r>
              <a:rPr lang="es">
                <a:solidFill>
                  <a:srgbClr val="000000"/>
                </a:solidFill>
              </a:rPr>
              <a:t> Un mecanismo para repetir instrucciones, como bucles (</a:t>
            </a:r>
            <a:r>
              <a:rPr lang="es">
                <a:solidFill>
                  <a:srgbClr val="188038"/>
                </a:solidFill>
              </a:rPr>
              <a:t>for</a:t>
            </a:r>
            <a:r>
              <a:rPr lang="es">
                <a:solidFill>
                  <a:srgbClr val="000000"/>
                </a:solidFill>
              </a:rPr>
              <a:t>, </a:t>
            </a:r>
            <a:r>
              <a:rPr lang="es">
                <a:solidFill>
                  <a:srgbClr val="188038"/>
                </a:solidFill>
              </a:rPr>
              <a:t>while</a:t>
            </a:r>
            <a:r>
              <a:rPr lang="es">
                <a:solidFill>
                  <a:srgbClr val="000000"/>
                </a:solidFill>
              </a:rPr>
              <a:t>) o recursión.</a:t>
            </a:r>
            <a:endParaRPr>
              <a:solidFill>
                <a:srgbClr val="000000"/>
              </a:solidFill>
            </a:endParaRPr>
          </a:p>
          <a:p>
            <a:pPr indent="-311150" lvl="0" marL="457200" rtl="0" algn="just">
              <a:spcBef>
                <a:spcPts val="0"/>
              </a:spcBef>
              <a:spcAft>
                <a:spcPts val="0"/>
              </a:spcAft>
              <a:buClr>
                <a:srgbClr val="000000"/>
              </a:buClr>
              <a:buSzPts val="1300"/>
              <a:buFont typeface="Arial"/>
              <a:buChar char="●"/>
            </a:pPr>
            <a:r>
              <a:rPr b="1" lang="es">
                <a:solidFill>
                  <a:srgbClr val="000000"/>
                </a:solidFill>
              </a:rPr>
              <a:t>Sentencias condicionales:</a:t>
            </a:r>
            <a:r>
              <a:rPr lang="es">
                <a:solidFill>
                  <a:srgbClr val="000000"/>
                </a:solidFill>
              </a:rPr>
              <a:t> La habilidad de tomar decisiones y ejecutar diferentes bloques de código basándose en una condición (</a:t>
            </a:r>
            <a:r>
              <a:rPr lang="es">
                <a:solidFill>
                  <a:srgbClr val="188038"/>
                </a:solidFill>
              </a:rPr>
              <a:t>if/else</a:t>
            </a:r>
            <a:r>
              <a:rPr lang="es">
                <a:solidFill>
                  <a:srgbClr val="000000"/>
                </a:solidFill>
              </a:rPr>
              <a:t>).</a:t>
            </a:r>
            <a:endParaRPr>
              <a:solidFill>
                <a:srgbClr val="000000"/>
              </a:solidFill>
            </a:endParaRPr>
          </a:p>
          <a:p>
            <a:pPr indent="-311150" lvl="0" marL="457200" rtl="0" algn="just">
              <a:spcBef>
                <a:spcPts val="0"/>
              </a:spcBef>
              <a:spcAft>
                <a:spcPts val="0"/>
              </a:spcAft>
              <a:buClr>
                <a:srgbClr val="000000"/>
              </a:buClr>
              <a:buSzPts val="1300"/>
              <a:buFont typeface="Arial"/>
              <a:buChar char="●"/>
            </a:pPr>
            <a:r>
              <a:rPr b="1" lang="es">
                <a:solidFill>
                  <a:srgbClr val="000000"/>
                </a:solidFill>
              </a:rPr>
              <a:t>Acceso a memoria ilimitada:</a:t>
            </a:r>
            <a:r>
              <a:rPr lang="es">
                <a:solidFill>
                  <a:srgbClr val="000000"/>
                </a:solidFill>
              </a:rPr>
              <a:t> Aunque en la práctica la memoria es finita, el modelo teórico requiere la posibilidad de acceder a una cantidad arbitraria de memoria.</a:t>
            </a:r>
            <a:endParaRPr>
              <a:solidFill>
                <a:srgbClr val="000000"/>
              </a:solidFill>
            </a:endParaRPr>
          </a:p>
          <a:p>
            <a:pPr indent="0" lvl="0" marL="0" rtl="0" algn="just">
              <a:spcBef>
                <a:spcPts val="12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7"/>
          <p:cNvSpPr txBox="1"/>
          <p:nvPr>
            <p:ph type="title"/>
          </p:nvPr>
        </p:nvSpPr>
        <p:spPr>
          <a:xfrm>
            <a:off x="830395" y="281783"/>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Criterios para que un lenguaje sea de programación, </a:t>
            </a:r>
            <a:r>
              <a:rPr lang="es"/>
              <a:t>2. Sintaxis y Semántica Definidas</a:t>
            </a:r>
            <a:endParaRPr/>
          </a:p>
        </p:txBody>
      </p:sp>
      <p:sp>
        <p:nvSpPr>
          <p:cNvPr id="121" name="Google Shape;121;p17"/>
          <p:cNvSpPr txBox="1"/>
          <p:nvPr>
            <p:ph idx="1" type="body"/>
          </p:nvPr>
        </p:nvSpPr>
        <p:spPr>
          <a:xfrm>
            <a:off x="365700" y="1237075"/>
            <a:ext cx="4137900" cy="38571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0"/>
              </a:spcAft>
              <a:buNone/>
            </a:pPr>
            <a:r>
              <a:rPr lang="es"/>
              <a:t>D</a:t>
            </a:r>
            <a:r>
              <a:rPr lang="es"/>
              <a:t>ebe tener reglas claras y precisas sobre cómo se escriben y cuál es el significado de las instrucciones.</a:t>
            </a:r>
            <a:endParaRPr/>
          </a:p>
          <a:p>
            <a:pPr indent="0" lvl="0" marL="0" rtl="0" algn="l">
              <a:lnSpc>
                <a:spcPct val="150000"/>
              </a:lnSpc>
              <a:spcBef>
                <a:spcPts val="1200"/>
              </a:spcBef>
              <a:spcAft>
                <a:spcPts val="0"/>
              </a:spcAft>
              <a:buNone/>
            </a:pPr>
            <a:r>
              <a:rPr b="1" lang="es">
                <a:solidFill>
                  <a:srgbClr val="000000"/>
                </a:solidFill>
              </a:rPr>
              <a:t>Sintaxis:</a:t>
            </a:r>
            <a:r>
              <a:rPr lang="es">
                <a:solidFill>
                  <a:srgbClr val="000000"/>
                </a:solidFill>
              </a:rPr>
              <a:t> Se refiere a la </a:t>
            </a:r>
            <a:r>
              <a:rPr b="1" lang="es">
                <a:solidFill>
                  <a:srgbClr val="000000"/>
                </a:solidFill>
              </a:rPr>
              <a:t>forma</a:t>
            </a:r>
            <a:r>
              <a:rPr lang="es">
                <a:solidFill>
                  <a:srgbClr val="000000"/>
                </a:solidFill>
              </a:rPr>
              <a:t> del código. </a:t>
            </a:r>
            <a:endParaRPr>
              <a:solidFill>
                <a:srgbClr val="000000"/>
              </a:solidFill>
            </a:endParaRPr>
          </a:p>
          <a:p>
            <a:pPr indent="0" lvl="0" marL="0" rtl="0" algn="l">
              <a:lnSpc>
                <a:spcPct val="150000"/>
              </a:lnSpc>
              <a:spcBef>
                <a:spcPts val="1200"/>
              </a:spcBef>
              <a:spcAft>
                <a:spcPts val="0"/>
              </a:spcAft>
              <a:buNone/>
            </a:pPr>
            <a:r>
              <a:rPr lang="es">
                <a:solidFill>
                  <a:srgbClr val="000000"/>
                </a:solidFill>
              </a:rPr>
              <a:t>Es el conjunto de reglas que dictan la estructura y la gramática del lenguaje. Esto incluye el uso de palabras clave, la puntuación, el orden de las sentencias y la forma en que se declaran variables y funciones. </a:t>
            </a:r>
            <a:endParaRPr>
              <a:solidFill>
                <a:srgbClr val="000000"/>
              </a:solidFill>
            </a:endParaRPr>
          </a:p>
          <a:p>
            <a:pPr indent="0" lvl="0" marL="0" rtl="0" algn="l">
              <a:lnSpc>
                <a:spcPct val="150000"/>
              </a:lnSpc>
              <a:spcBef>
                <a:spcPts val="1200"/>
              </a:spcBef>
              <a:spcAft>
                <a:spcPts val="1200"/>
              </a:spcAft>
              <a:buNone/>
            </a:pPr>
            <a:r>
              <a:rPr lang="es">
                <a:solidFill>
                  <a:srgbClr val="000000"/>
                </a:solidFill>
              </a:rPr>
              <a:t>Si el código viola la sintaxis (por ejemplo, le falta un punto y coma), no se puede ejecutar.</a:t>
            </a:r>
            <a:endParaRPr/>
          </a:p>
        </p:txBody>
      </p:sp>
      <p:sp>
        <p:nvSpPr>
          <p:cNvPr id="122" name="Google Shape;122;p17"/>
          <p:cNvSpPr txBox="1"/>
          <p:nvPr>
            <p:ph idx="2" type="body"/>
          </p:nvPr>
        </p:nvSpPr>
        <p:spPr>
          <a:xfrm>
            <a:off x="4643600" y="1237075"/>
            <a:ext cx="4191300" cy="38571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s">
                <a:solidFill>
                  <a:srgbClr val="000000"/>
                </a:solidFill>
              </a:rPr>
              <a:t>Semántica:</a:t>
            </a:r>
            <a:r>
              <a:rPr lang="es">
                <a:solidFill>
                  <a:srgbClr val="000000"/>
                </a:solidFill>
              </a:rPr>
              <a:t> Se refiere al </a:t>
            </a:r>
            <a:r>
              <a:rPr b="1" lang="es">
                <a:solidFill>
                  <a:srgbClr val="000000"/>
                </a:solidFill>
              </a:rPr>
              <a:t>significado</a:t>
            </a:r>
            <a:r>
              <a:rPr lang="es">
                <a:solidFill>
                  <a:srgbClr val="000000"/>
                </a:solidFill>
              </a:rPr>
              <a:t> del código. </a:t>
            </a:r>
            <a:endParaRPr>
              <a:solidFill>
                <a:srgbClr val="000000"/>
              </a:solidFill>
            </a:endParaRPr>
          </a:p>
          <a:p>
            <a:pPr indent="0" lvl="0" marL="0" rtl="0" algn="l">
              <a:spcBef>
                <a:spcPts val="1200"/>
              </a:spcBef>
              <a:spcAft>
                <a:spcPts val="0"/>
              </a:spcAft>
              <a:buNone/>
            </a:pPr>
            <a:r>
              <a:rPr lang="es">
                <a:solidFill>
                  <a:srgbClr val="000000"/>
                </a:solidFill>
              </a:rPr>
              <a:t>Es lo que el código hace realmente cuando se ejecuta.</a:t>
            </a:r>
            <a:endParaRPr>
              <a:solidFill>
                <a:srgbClr val="000000"/>
              </a:solidFill>
            </a:endParaRPr>
          </a:p>
          <a:p>
            <a:pPr indent="0" lvl="0" marL="0" rtl="0" algn="l">
              <a:spcBef>
                <a:spcPts val="1200"/>
              </a:spcBef>
              <a:spcAft>
                <a:spcPts val="0"/>
              </a:spcAft>
              <a:buNone/>
            </a:pPr>
            <a:r>
              <a:rPr lang="es">
                <a:solidFill>
                  <a:srgbClr val="000000"/>
                </a:solidFill>
              </a:rPr>
              <a:t> La semántica define el comportamiento de las instrucciones y la lógica del programa. </a:t>
            </a:r>
            <a:endParaRPr>
              <a:solidFill>
                <a:srgbClr val="000000"/>
              </a:solidFill>
            </a:endParaRPr>
          </a:p>
          <a:p>
            <a:pPr indent="0" lvl="0" marL="0" rtl="0" algn="l">
              <a:spcBef>
                <a:spcPts val="1200"/>
              </a:spcBef>
              <a:spcAft>
                <a:spcPts val="0"/>
              </a:spcAft>
              <a:buNone/>
            </a:pPr>
            <a:r>
              <a:rPr lang="es">
                <a:solidFill>
                  <a:srgbClr val="000000"/>
                </a:solidFill>
              </a:rPr>
              <a:t>Por ejemplo, en Python:</a:t>
            </a:r>
            <a:endParaRPr>
              <a:solidFill>
                <a:srgbClr val="000000"/>
              </a:solidFill>
            </a:endParaRPr>
          </a:p>
          <a:p>
            <a:pPr indent="0" lvl="0" marL="0" rtl="0" algn="l">
              <a:spcBef>
                <a:spcPts val="1200"/>
              </a:spcBef>
              <a:spcAft>
                <a:spcPts val="0"/>
              </a:spcAft>
              <a:buNone/>
            </a:pPr>
            <a:r>
              <a:rPr b="1" lang="es">
                <a:solidFill>
                  <a:srgbClr val="000000"/>
                </a:solidFill>
              </a:rPr>
              <a:t>La sintaxis</a:t>
            </a:r>
            <a:r>
              <a:rPr lang="es">
                <a:solidFill>
                  <a:srgbClr val="000000"/>
                </a:solidFill>
              </a:rPr>
              <a:t> de un bucle/ciclo </a:t>
            </a:r>
            <a:r>
              <a:rPr lang="es">
                <a:solidFill>
                  <a:srgbClr val="188038"/>
                </a:solidFill>
              </a:rPr>
              <a:t>for</a:t>
            </a:r>
            <a:r>
              <a:rPr lang="es">
                <a:solidFill>
                  <a:srgbClr val="000000"/>
                </a:solidFill>
              </a:rPr>
              <a:t> es </a:t>
            </a:r>
            <a:r>
              <a:rPr lang="es">
                <a:solidFill>
                  <a:srgbClr val="188038"/>
                </a:solidFill>
              </a:rPr>
              <a:t>for i in range(5):</a:t>
            </a:r>
            <a:r>
              <a:rPr lang="es">
                <a:solidFill>
                  <a:srgbClr val="000000"/>
                </a:solidFill>
              </a:rPr>
              <a:t> </a:t>
            </a:r>
            <a:endParaRPr>
              <a:solidFill>
                <a:srgbClr val="000000"/>
              </a:solidFill>
            </a:endParaRPr>
          </a:p>
          <a:p>
            <a:pPr indent="0" lvl="0" marL="0" rtl="0" algn="l">
              <a:spcBef>
                <a:spcPts val="1200"/>
              </a:spcBef>
              <a:spcAft>
                <a:spcPts val="0"/>
              </a:spcAft>
              <a:buNone/>
            </a:pPr>
            <a:r>
              <a:rPr lang="es">
                <a:solidFill>
                  <a:srgbClr val="000000"/>
                </a:solidFill>
              </a:rPr>
              <a:t>Mientras que </a:t>
            </a:r>
            <a:r>
              <a:rPr b="1" lang="es">
                <a:solidFill>
                  <a:srgbClr val="000000"/>
                </a:solidFill>
              </a:rPr>
              <a:t>su semántica </a:t>
            </a:r>
            <a:r>
              <a:rPr lang="es">
                <a:solidFill>
                  <a:srgbClr val="000000"/>
                </a:solidFill>
              </a:rPr>
              <a:t>es "</a:t>
            </a:r>
            <a:r>
              <a:rPr b="1" i="1" lang="es">
                <a:solidFill>
                  <a:srgbClr val="000000"/>
                </a:solidFill>
              </a:rPr>
              <a:t>ejecutar el bloque de código cinco veces, con la variable </a:t>
            </a:r>
            <a:r>
              <a:rPr b="1" i="1" lang="es">
                <a:solidFill>
                  <a:srgbClr val="188038"/>
                </a:solidFill>
              </a:rPr>
              <a:t>i</a:t>
            </a:r>
            <a:r>
              <a:rPr b="1" i="1" lang="es">
                <a:solidFill>
                  <a:srgbClr val="000000"/>
                </a:solidFill>
              </a:rPr>
              <a:t> tomando los valores del 0 al 4"</a:t>
            </a:r>
            <a:endParaRPr b="1" i="1">
              <a:solidFill>
                <a:srgbClr val="000000"/>
              </a:solidFill>
            </a:endParaRPr>
          </a:p>
          <a:p>
            <a:pPr indent="0" lvl="0" marL="0" rtl="0" algn="l">
              <a:spcBef>
                <a:spcPts val="1200"/>
              </a:spcBef>
              <a:spcAft>
                <a:spcPts val="1200"/>
              </a:spcAft>
              <a:buNone/>
            </a:pPr>
            <a:r>
              <a:rPr i="1" lang="es">
                <a:solidFill>
                  <a:srgbClr val="000000"/>
                </a:solidFill>
              </a:rPr>
              <a:t>Un lenguaje de programación es una herramienta precisa con la cual se pueden dar instrucciones a una computadora</a:t>
            </a:r>
            <a:endParaRPr i="1"/>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8"/>
          <p:cNvSpPr txBox="1"/>
          <p:nvPr>
            <p:ph type="title"/>
          </p:nvPr>
        </p:nvSpPr>
        <p:spPr>
          <a:xfrm>
            <a:off x="830400" y="6560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Qué es un paradigma?</a:t>
            </a:r>
            <a:endParaRPr/>
          </a:p>
        </p:txBody>
      </p:sp>
      <p:sp>
        <p:nvSpPr>
          <p:cNvPr id="128" name="Google Shape;128;p18"/>
          <p:cNvSpPr txBox="1"/>
          <p:nvPr>
            <p:ph idx="1" type="body"/>
          </p:nvPr>
        </p:nvSpPr>
        <p:spPr>
          <a:xfrm>
            <a:off x="355025" y="1237075"/>
            <a:ext cx="4148700" cy="3906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a:solidFill>
                  <a:srgbClr val="000000"/>
                </a:solidFill>
              </a:rPr>
              <a:t>Es un estilo o filosofía</a:t>
            </a:r>
            <a:r>
              <a:rPr lang="es">
                <a:solidFill>
                  <a:srgbClr val="000000"/>
                </a:solidFill>
              </a:rPr>
              <a:t> fundamental para diseñar y desarrollar programas informáticos. </a:t>
            </a:r>
            <a:endParaRPr>
              <a:solidFill>
                <a:srgbClr val="000000"/>
              </a:solidFill>
            </a:endParaRPr>
          </a:p>
          <a:p>
            <a:pPr indent="0" lvl="0" marL="0" rtl="0" algn="l">
              <a:spcBef>
                <a:spcPts val="1200"/>
              </a:spcBef>
              <a:spcAft>
                <a:spcPts val="0"/>
              </a:spcAft>
              <a:buNone/>
            </a:pPr>
            <a:r>
              <a:rPr b="1" lang="es">
                <a:solidFill>
                  <a:srgbClr val="000000"/>
                </a:solidFill>
              </a:rPr>
              <a:t>Es un marco conceptua</a:t>
            </a:r>
            <a:r>
              <a:rPr lang="es">
                <a:solidFill>
                  <a:srgbClr val="000000"/>
                </a:solidFill>
              </a:rPr>
              <a:t>l que define la manera en que un programador concibe la solución a un problema. </a:t>
            </a:r>
            <a:endParaRPr>
              <a:solidFill>
                <a:srgbClr val="000000"/>
              </a:solidFill>
            </a:endParaRPr>
          </a:p>
          <a:p>
            <a:pPr indent="0" lvl="0" marL="0" rtl="0" algn="l">
              <a:spcBef>
                <a:spcPts val="1200"/>
              </a:spcBef>
              <a:spcAft>
                <a:spcPts val="0"/>
              </a:spcAft>
              <a:buNone/>
            </a:pPr>
            <a:r>
              <a:rPr lang="es">
                <a:solidFill>
                  <a:srgbClr val="000000"/>
                </a:solidFill>
              </a:rPr>
              <a:t>Cada paradigma se basa en un conjunto de principios y conceptos que guían la organización del código, la gestión del flujo de datos y la estructuración del problema.</a:t>
            </a:r>
            <a:endParaRPr>
              <a:solidFill>
                <a:srgbClr val="000000"/>
              </a:solidFill>
            </a:endParaRPr>
          </a:p>
          <a:p>
            <a:pPr indent="0" lvl="0" marL="0" rtl="0" algn="l">
              <a:spcBef>
                <a:spcPts val="1200"/>
              </a:spcBef>
              <a:spcAft>
                <a:spcPts val="1200"/>
              </a:spcAft>
              <a:buNone/>
            </a:pPr>
            <a:r>
              <a:rPr lang="es">
                <a:solidFill>
                  <a:srgbClr val="000000"/>
                </a:solidFill>
              </a:rPr>
              <a:t>un paradigma es una forma de pensar sobre cómo se debe escribir el código. Un mismo lenguaje puede soportar varios paradigmas.</a:t>
            </a:r>
            <a:endParaRPr>
              <a:solidFill>
                <a:srgbClr val="000000"/>
              </a:solidFill>
            </a:endParaRPr>
          </a:p>
        </p:txBody>
      </p:sp>
      <p:sp>
        <p:nvSpPr>
          <p:cNvPr id="129" name="Google Shape;129;p18"/>
          <p:cNvSpPr txBox="1"/>
          <p:nvPr>
            <p:ph idx="2" type="body"/>
          </p:nvPr>
        </p:nvSpPr>
        <p:spPr>
          <a:xfrm>
            <a:off x="4643600" y="1237075"/>
            <a:ext cx="4148700" cy="3906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Imagina que quieres ir de un punto A a un punto B en una ciudad.</a:t>
            </a:r>
            <a:endParaRPr/>
          </a:p>
          <a:p>
            <a:pPr indent="0" lvl="0" marL="0" rtl="0" algn="l">
              <a:spcBef>
                <a:spcPts val="1200"/>
              </a:spcBef>
              <a:spcAft>
                <a:spcPts val="0"/>
              </a:spcAft>
              <a:buNone/>
            </a:pPr>
            <a:r>
              <a:rPr b="1" lang="es"/>
              <a:t>Paradigma Imperativo: </a:t>
            </a:r>
            <a:r>
              <a:rPr lang="es"/>
              <a:t>Sería como dar instrucciones precisas y paso a paso: "Gira a la derecha en la calle 50, camina dos cuadras, luego gira a la izquierda en la carrera 70 y avanza hasta la estación del metro". El enfoque está en el "cómo" llegar.</a:t>
            </a:r>
            <a:endParaRPr/>
          </a:p>
          <a:p>
            <a:pPr indent="0" lvl="0" marL="0" rtl="0" algn="l">
              <a:spcBef>
                <a:spcPts val="1200"/>
              </a:spcBef>
              <a:spcAft>
                <a:spcPts val="0"/>
              </a:spcAft>
              <a:buNone/>
            </a:pPr>
            <a:r>
              <a:rPr b="1" lang="es"/>
              <a:t>Paradigma Declarativo: </a:t>
            </a:r>
            <a:r>
              <a:rPr lang="es"/>
              <a:t>Sería como pedirle a un GPS: "Llévame a la dirección X". No te preocupas por las instrucciones de cada giro, solo especificas el "qué" quieres lograr, y el sistema se encarga de determinar la mejor ruta.</a:t>
            </a:r>
            <a:endParaRPr/>
          </a:p>
          <a:p>
            <a:pPr indent="0" lvl="0" marL="0" rtl="0" algn="ctr">
              <a:spcBef>
                <a:spcPts val="1200"/>
              </a:spcBef>
              <a:spcAft>
                <a:spcPts val="1200"/>
              </a:spcAft>
              <a:buNone/>
            </a:pPr>
            <a:r>
              <a:rPr b="1" lang="es">
                <a:solidFill>
                  <a:srgbClr val="FF0000"/>
                </a:solidFill>
              </a:rPr>
              <a:t>¿¿¿VENTAJAS vs DESVENTAJAS???</a:t>
            </a:r>
            <a:endParaRPr b="1">
              <a:solidFill>
                <a:srgbClr val="FF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9"/>
          <p:cNvSpPr txBox="1"/>
          <p:nvPr>
            <p:ph type="title"/>
          </p:nvPr>
        </p:nvSpPr>
        <p:spPr>
          <a:xfrm>
            <a:off x="798325" y="292475"/>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Existen muchos paradigmas, pero los más conocidos son:</a:t>
            </a:r>
            <a:endParaRPr/>
          </a:p>
        </p:txBody>
      </p:sp>
      <p:sp>
        <p:nvSpPr>
          <p:cNvPr id="135" name="Google Shape;135;p19"/>
          <p:cNvSpPr txBox="1"/>
          <p:nvPr>
            <p:ph idx="1" type="body"/>
          </p:nvPr>
        </p:nvSpPr>
        <p:spPr>
          <a:xfrm>
            <a:off x="729325" y="1237075"/>
            <a:ext cx="3774300" cy="1825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a:t>Imperativo</a:t>
            </a:r>
            <a:r>
              <a:rPr lang="es"/>
              <a:t>: Se centra en los pasos que debe seguir la computadora para cambiar el estado del programa. El código es una secuencia de comandos.</a:t>
            </a:r>
            <a:endParaRPr/>
          </a:p>
          <a:p>
            <a:pPr indent="0" lvl="0" marL="0" rtl="0" algn="l">
              <a:spcBef>
                <a:spcPts val="1200"/>
              </a:spcBef>
              <a:spcAft>
                <a:spcPts val="1200"/>
              </a:spcAft>
              <a:buNone/>
            </a:pPr>
            <a:r>
              <a:rPr b="1" lang="es"/>
              <a:t>Declarativo</a:t>
            </a:r>
            <a:r>
              <a:rPr lang="es"/>
              <a:t>: Se enfoca en describir el resultado deseado, sin detallar el proceso para conseguirlo.</a:t>
            </a:r>
            <a:endParaRPr/>
          </a:p>
        </p:txBody>
      </p:sp>
      <p:sp>
        <p:nvSpPr>
          <p:cNvPr id="136" name="Google Shape;136;p19"/>
          <p:cNvSpPr txBox="1"/>
          <p:nvPr>
            <p:ph idx="2" type="body"/>
          </p:nvPr>
        </p:nvSpPr>
        <p:spPr>
          <a:xfrm>
            <a:off x="4643600" y="1237075"/>
            <a:ext cx="3774300" cy="18255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s">
                <a:solidFill>
                  <a:srgbClr val="000000"/>
                </a:solidFill>
              </a:rPr>
              <a:t>Orientado a Objetos (POO):</a:t>
            </a:r>
            <a:r>
              <a:rPr lang="es">
                <a:solidFill>
                  <a:srgbClr val="000000"/>
                </a:solidFill>
              </a:rPr>
              <a:t> Organiza el código en torno a </a:t>
            </a:r>
            <a:r>
              <a:rPr b="1" lang="es">
                <a:solidFill>
                  <a:srgbClr val="000000"/>
                </a:solidFill>
              </a:rPr>
              <a:t>objetos</a:t>
            </a:r>
            <a:r>
              <a:rPr lang="es">
                <a:solidFill>
                  <a:srgbClr val="000000"/>
                </a:solidFill>
              </a:rPr>
              <a:t>, que son estructuras que combinan datos y comportamientos.</a:t>
            </a:r>
            <a:endParaRPr>
              <a:solidFill>
                <a:srgbClr val="000000"/>
              </a:solidFill>
            </a:endParaRPr>
          </a:p>
          <a:p>
            <a:pPr indent="0" lvl="0" marL="0" rtl="0" algn="l">
              <a:spcBef>
                <a:spcPts val="1200"/>
              </a:spcBef>
              <a:spcAft>
                <a:spcPts val="1200"/>
              </a:spcAft>
              <a:buNone/>
            </a:pPr>
            <a:r>
              <a:rPr b="1" lang="es">
                <a:solidFill>
                  <a:srgbClr val="000000"/>
                </a:solidFill>
              </a:rPr>
              <a:t>Declarativo / Funcional:</a:t>
            </a:r>
            <a:r>
              <a:rPr lang="es">
                <a:solidFill>
                  <a:srgbClr val="000000"/>
                </a:solidFill>
              </a:rPr>
              <a:t> Trata la computación como la evaluación de funciones matemáticas, evitando el cambio de estado y los datos mutables.</a:t>
            </a:r>
            <a:endParaRPr/>
          </a:p>
        </p:txBody>
      </p:sp>
      <p:sp>
        <p:nvSpPr>
          <p:cNvPr id="137" name="Google Shape;137;p19"/>
          <p:cNvSpPr txBox="1"/>
          <p:nvPr/>
        </p:nvSpPr>
        <p:spPr>
          <a:xfrm>
            <a:off x="832825" y="3233675"/>
            <a:ext cx="7619400" cy="1369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s">
                <a:latin typeface="Lato"/>
                <a:ea typeface="Lato"/>
                <a:cs typeface="Lato"/>
                <a:sym typeface="Lato"/>
              </a:rPr>
              <a:t>Un paradigma proporciona</a:t>
            </a:r>
            <a:r>
              <a:rPr b="1" i="1" lang="es">
                <a:latin typeface="Lato"/>
                <a:ea typeface="Lato"/>
                <a:cs typeface="Lato"/>
                <a:sym typeface="Lato"/>
              </a:rPr>
              <a:t> una guía sobre lo que se considera "buen código" o "código moralmente correcto"</a:t>
            </a:r>
            <a:r>
              <a:rPr lang="es">
                <a:latin typeface="Lato"/>
                <a:ea typeface="Lato"/>
                <a:cs typeface="Lato"/>
                <a:sym typeface="Lato"/>
              </a:rPr>
              <a:t> dentro de ese marco. Por ejemplo, en el </a:t>
            </a:r>
            <a:r>
              <a:rPr b="1" lang="es">
                <a:latin typeface="Lato"/>
                <a:ea typeface="Lato"/>
                <a:cs typeface="Lato"/>
                <a:sym typeface="Lato"/>
              </a:rPr>
              <a:t>paradigma funcional</a:t>
            </a:r>
            <a:r>
              <a:rPr lang="es">
                <a:latin typeface="Lato"/>
                <a:ea typeface="Lato"/>
                <a:cs typeface="Lato"/>
                <a:sym typeface="Lato"/>
              </a:rPr>
              <a:t>, modificar el estado de una variable global se considera una "mala práctica" o un "pecado". En el </a:t>
            </a:r>
            <a:r>
              <a:rPr b="1" lang="es">
                <a:latin typeface="Lato"/>
                <a:ea typeface="Lato"/>
                <a:cs typeface="Lato"/>
                <a:sym typeface="Lato"/>
              </a:rPr>
              <a:t>paradigma imperativo</a:t>
            </a:r>
            <a:r>
              <a:rPr lang="es">
                <a:latin typeface="Lato"/>
                <a:ea typeface="Lato"/>
                <a:cs typeface="Lato"/>
                <a:sym typeface="Lato"/>
              </a:rPr>
              <a:t>, en cambio, es una parte fundamental.</a:t>
            </a:r>
            <a:endParaRPr>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0"/>
          <p:cNvSpPr txBox="1"/>
          <p:nvPr>
            <p:ph type="title"/>
          </p:nvPr>
        </p:nvSpPr>
        <p:spPr>
          <a:xfrm>
            <a:off x="883875" y="260375"/>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No te concentres en la filosofía… concéntrate en comprender el problema…</a:t>
            </a:r>
            <a:endParaRPr/>
          </a:p>
        </p:txBody>
      </p:sp>
      <p:sp>
        <p:nvSpPr>
          <p:cNvPr id="143" name="Google Shape;143;p20"/>
          <p:cNvSpPr txBox="1"/>
          <p:nvPr>
            <p:ph idx="1" type="body"/>
          </p:nvPr>
        </p:nvSpPr>
        <p:spPr>
          <a:xfrm>
            <a:off x="344325" y="1237075"/>
            <a:ext cx="4159200" cy="39063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0"/>
              </a:spcAft>
              <a:buNone/>
            </a:pPr>
            <a:r>
              <a:rPr lang="es"/>
              <a:t>Un paradigma no es solo un conjunto de reglas técnicas, sino una forma de ver el mundo de la programación. </a:t>
            </a:r>
            <a:endParaRPr/>
          </a:p>
          <a:p>
            <a:pPr indent="0" lvl="0" marL="0" rtl="0" algn="l">
              <a:lnSpc>
                <a:spcPct val="150000"/>
              </a:lnSpc>
              <a:spcBef>
                <a:spcPts val="1200"/>
              </a:spcBef>
              <a:spcAft>
                <a:spcPts val="0"/>
              </a:spcAft>
              <a:buNone/>
            </a:pPr>
            <a:r>
              <a:rPr lang="es"/>
              <a:t>Al igual que una religión o filosofía, un paradigma ofrece un conjunto de principios fundamentales (el dogma) sobre cómo debe ser el código. </a:t>
            </a:r>
            <a:endParaRPr/>
          </a:p>
          <a:p>
            <a:pPr indent="0" lvl="0" marL="0" rtl="0" algn="l">
              <a:lnSpc>
                <a:spcPct val="150000"/>
              </a:lnSpc>
              <a:spcBef>
                <a:spcPts val="1200"/>
              </a:spcBef>
              <a:spcAft>
                <a:spcPts val="1200"/>
              </a:spcAft>
              <a:buNone/>
            </a:pPr>
            <a:r>
              <a:rPr lang="es"/>
              <a:t>Un programador que adopta un paradigma funcional, por ejemplo, "cree" en la inmutabilidad de los datos y en el uso de funciones puras, y considera que este enfoque es superior. </a:t>
            </a:r>
            <a:endParaRPr/>
          </a:p>
        </p:txBody>
      </p:sp>
      <p:sp>
        <p:nvSpPr>
          <p:cNvPr id="144" name="Google Shape;144;p20"/>
          <p:cNvSpPr txBox="1"/>
          <p:nvPr>
            <p:ph idx="2" type="body"/>
          </p:nvPr>
        </p:nvSpPr>
        <p:spPr>
          <a:xfrm>
            <a:off x="4643600" y="1237075"/>
            <a:ext cx="3774300" cy="3102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45" name="Google Shape;145;p20"/>
          <p:cNvPicPr preferRelativeResize="0"/>
          <p:nvPr/>
        </p:nvPicPr>
        <p:blipFill>
          <a:blip r:embed="rId3">
            <a:alphaModFix/>
          </a:blip>
          <a:stretch>
            <a:fillRect/>
          </a:stretch>
        </p:blipFill>
        <p:spPr>
          <a:xfrm>
            <a:off x="4572000" y="1235212"/>
            <a:ext cx="4533124" cy="2673075"/>
          </a:xfrm>
          <a:prstGeom prst="rect">
            <a:avLst/>
          </a:prstGeom>
          <a:noFill/>
          <a:ln>
            <a:noFill/>
          </a:ln>
        </p:spPr>
      </p:pic>
      <p:sp>
        <p:nvSpPr>
          <p:cNvPr id="146" name="Google Shape;146;p20"/>
          <p:cNvSpPr txBox="1"/>
          <p:nvPr/>
        </p:nvSpPr>
        <p:spPr>
          <a:xfrm>
            <a:off x="4643600" y="3908300"/>
            <a:ext cx="30000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600"/>
              <a:t>https://medium.com/@Ariobarxan/what-is-a-programming-paradigm-ec6c5879952b</a:t>
            </a:r>
            <a:endParaRPr sz="600"/>
          </a:p>
        </p:txBody>
      </p:sp>
      <p:sp>
        <p:nvSpPr>
          <p:cNvPr id="147" name="Google Shape;147;p20"/>
          <p:cNvSpPr txBox="1"/>
          <p:nvPr/>
        </p:nvSpPr>
        <p:spPr>
          <a:xfrm>
            <a:off x="344325" y="4405625"/>
            <a:ext cx="3948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000"/>
              <a:t>https://blog.codinghorror.com/software-development-its-a-religion/</a:t>
            </a:r>
            <a:endParaRPr sz="10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1"/>
          <p:cNvSpPr txBox="1"/>
          <p:nvPr>
            <p:ph type="title"/>
          </p:nvPr>
        </p:nvSpPr>
        <p:spPr>
          <a:xfrm>
            <a:off x="830400" y="6560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Paradigma Imperativo</a:t>
            </a:r>
            <a:endParaRPr/>
          </a:p>
        </p:txBody>
      </p:sp>
      <p:sp>
        <p:nvSpPr>
          <p:cNvPr id="153" name="Google Shape;153;p21"/>
          <p:cNvSpPr txBox="1"/>
          <p:nvPr>
            <p:ph idx="1" type="body"/>
          </p:nvPr>
        </p:nvSpPr>
        <p:spPr>
          <a:xfrm>
            <a:off x="729325" y="1237075"/>
            <a:ext cx="3774300" cy="31029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s"/>
              <a:t>S</a:t>
            </a:r>
            <a:r>
              <a:rPr lang="es"/>
              <a:t>e enfoca en cómo lograr un resultado, </a:t>
            </a:r>
            <a:r>
              <a:rPr b="1" lang="es"/>
              <a:t>describiendo los pasos exactos</a:t>
            </a:r>
            <a:r>
              <a:rPr lang="es"/>
              <a:t> que la computadora debe seguir. </a:t>
            </a:r>
            <a:endParaRPr/>
          </a:p>
          <a:p>
            <a:pPr indent="0" lvl="0" marL="0" rtl="0" algn="just">
              <a:spcBef>
                <a:spcPts val="1200"/>
              </a:spcBef>
              <a:spcAft>
                <a:spcPts val="0"/>
              </a:spcAft>
              <a:buNone/>
            </a:pPr>
            <a:r>
              <a:rPr lang="es"/>
              <a:t>El código es una secuencia de comandos que modifican el estado del programa </a:t>
            </a:r>
            <a:r>
              <a:rPr b="1" lang="es"/>
              <a:t>P</a:t>
            </a:r>
            <a:r>
              <a:rPr lang="es"/>
              <a:t>.</a:t>
            </a:r>
            <a:endParaRPr/>
          </a:p>
          <a:p>
            <a:pPr indent="0" lvl="0" marL="0" rtl="0" algn="just">
              <a:spcBef>
                <a:spcPts val="1200"/>
              </a:spcBef>
              <a:spcAft>
                <a:spcPts val="1200"/>
              </a:spcAft>
              <a:buNone/>
            </a:pPr>
            <a:r>
              <a:rPr lang="es"/>
              <a:t>En el código se define</a:t>
            </a:r>
            <a:r>
              <a:rPr b="1" lang="es"/>
              <a:t> paso a paso </a:t>
            </a:r>
            <a:r>
              <a:rPr lang="es"/>
              <a:t>cómo se debe calcular el factorial: inicializar una variable, iterar un bucle y actualizar el resultado en cada paso.</a:t>
            </a:r>
            <a:endParaRPr/>
          </a:p>
        </p:txBody>
      </p:sp>
      <p:sp>
        <p:nvSpPr>
          <p:cNvPr id="154" name="Google Shape;154;p21"/>
          <p:cNvSpPr txBox="1"/>
          <p:nvPr/>
        </p:nvSpPr>
        <p:spPr>
          <a:xfrm>
            <a:off x="727800" y="3785975"/>
            <a:ext cx="7688400" cy="118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300">
                <a:solidFill>
                  <a:schemeClr val="dk2"/>
                </a:solidFill>
                <a:latin typeface="Lato"/>
                <a:ea typeface="Lato"/>
                <a:cs typeface="Lato"/>
                <a:sym typeface="Lato"/>
              </a:rPr>
              <a:t>El uso de funciones</a:t>
            </a:r>
            <a:r>
              <a:rPr lang="es" sz="1300">
                <a:solidFill>
                  <a:schemeClr val="dk2"/>
                </a:solidFill>
                <a:latin typeface="Lato"/>
                <a:ea typeface="Lato"/>
                <a:cs typeface="Lato"/>
                <a:sym typeface="Lato"/>
              </a:rPr>
              <a:t> en la programación imperativa es fundamental porque resuelven problemas clave de </a:t>
            </a:r>
            <a:r>
              <a:rPr b="1" lang="es" sz="1300">
                <a:solidFill>
                  <a:schemeClr val="dk2"/>
                </a:solidFill>
                <a:latin typeface="Lato"/>
                <a:ea typeface="Lato"/>
                <a:cs typeface="Lato"/>
                <a:sym typeface="Lato"/>
              </a:rPr>
              <a:t>organización, reutilización y legibilidad del código</a:t>
            </a:r>
            <a:r>
              <a:rPr lang="es" sz="1300">
                <a:solidFill>
                  <a:schemeClr val="dk2"/>
                </a:solidFill>
                <a:latin typeface="Lato"/>
                <a:ea typeface="Lato"/>
                <a:cs typeface="Lato"/>
                <a:sym typeface="Lato"/>
              </a:rPr>
              <a:t>.</a:t>
            </a:r>
            <a:endParaRPr sz="1300">
              <a:solidFill>
                <a:schemeClr val="dk2"/>
              </a:solidFill>
              <a:latin typeface="Lato"/>
              <a:ea typeface="Lato"/>
              <a:cs typeface="Lato"/>
              <a:sym typeface="Lato"/>
            </a:endParaRPr>
          </a:p>
          <a:p>
            <a:pPr indent="0" lvl="0" marL="0" rtl="0" algn="l">
              <a:spcBef>
                <a:spcPts val="0"/>
              </a:spcBef>
              <a:spcAft>
                <a:spcPts val="0"/>
              </a:spcAft>
              <a:buNone/>
            </a:pPr>
            <a:r>
              <a:t/>
            </a:r>
            <a:endParaRPr sz="1300">
              <a:solidFill>
                <a:schemeClr val="dk2"/>
              </a:solidFill>
              <a:latin typeface="Lato"/>
              <a:ea typeface="Lato"/>
              <a:cs typeface="Lato"/>
              <a:sym typeface="Lato"/>
            </a:endParaRPr>
          </a:p>
          <a:p>
            <a:pPr indent="0" lvl="0" marL="0" rtl="0" algn="l">
              <a:spcBef>
                <a:spcPts val="0"/>
              </a:spcBef>
              <a:spcAft>
                <a:spcPts val="0"/>
              </a:spcAft>
              <a:buNone/>
            </a:pPr>
            <a:r>
              <a:rPr lang="es" sz="1300">
                <a:solidFill>
                  <a:schemeClr val="dk2"/>
                </a:solidFill>
                <a:latin typeface="Lato"/>
                <a:ea typeface="Lato"/>
                <a:cs typeface="Lato"/>
                <a:sym typeface="Lato"/>
              </a:rPr>
              <a:t>Aunque el paradigma imperativo se centra en dar instrucciones paso a paso, sin funciones el código sería una larga y confusa lista de comandos.</a:t>
            </a:r>
            <a:endParaRPr/>
          </a:p>
        </p:txBody>
      </p:sp>
      <p:pic>
        <p:nvPicPr>
          <p:cNvPr id="155" name="Google Shape;155;p21"/>
          <p:cNvPicPr preferRelativeResize="0"/>
          <p:nvPr/>
        </p:nvPicPr>
        <p:blipFill>
          <a:blip r:embed="rId3">
            <a:alphaModFix/>
          </a:blip>
          <a:stretch>
            <a:fillRect/>
          </a:stretch>
        </p:blipFill>
        <p:spPr>
          <a:xfrm>
            <a:off x="4645350" y="1279838"/>
            <a:ext cx="3517439" cy="22899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2"/>
          <p:cNvSpPr txBox="1"/>
          <p:nvPr>
            <p:ph idx="1" type="body"/>
          </p:nvPr>
        </p:nvSpPr>
        <p:spPr>
          <a:xfrm>
            <a:off x="355025" y="1237075"/>
            <a:ext cx="4148700" cy="3793200"/>
          </a:xfrm>
          <a:prstGeom prst="rect">
            <a:avLst/>
          </a:prstGeom>
        </p:spPr>
        <p:txBody>
          <a:bodyPr anchorCtr="0" anchor="t" bIns="91425" lIns="91425" spcFirstLastPara="1" rIns="91425" wrap="square" tIns="91425">
            <a:normAutofit lnSpcReduction="20000"/>
          </a:bodyPr>
          <a:lstStyle/>
          <a:p>
            <a:pPr indent="0" lvl="0" marL="0" rtl="0" algn="just">
              <a:lnSpc>
                <a:spcPct val="150000"/>
              </a:lnSpc>
              <a:spcBef>
                <a:spcPts val="0"/>
              </a:spcBef>
              <a:spcAft>
                <a:spcPts val="0"/>
              </a:spcAft>
              <a:buNone/>
            </a:pPr>
            <a:r>
              <a:rPr lang="es"/>
              <a:t>Estos lenguajes están </a:t>
            </a:r>
            <a:r>
              <a:rPr b="1" lang="es"/>
              <a:t>muy cerca del hardware</a:t>
            </a:r>
            <a:r>
              <a:rPr lang="es"/>
              <a:t> y ofrecen un control granular, lo que los hace inherentemente imperativos.</a:t>
            </a:r>
            <a:endParaRPr/>
          </a:p>
          <a:p>
            <a:pPr indent="-311150" lvl="0" marL="457200" rtl="0" algn="just">
              <a:lnSpc>
                <a:spcPct val="150000"/>
              </a:lnSpc>
              <a:spcBef>
                <a:spcPts val="1200"/>
              </a:spcBef>
              <a:spcAft>
                <a:spcPts val="0"/>
              </a:spcAft>
              <a:buSzPts val="1300"/>
              <a:buChar char="●"/>
            </a:pPr>
            <a:r>
              <a:rPr b="1" lang="es"/>
              <a:t>C: </a:t>
            </a:r>
            <a:r>
              <a:rPr lang="es"/>
              <a:t>Es uno de los lenguajes imperativos por excelencia. Permite un control directo sobre la memoria y las estructuras de datos.</a:t>
            </a:r>
            <a:endParaRPr/>
          </a:p>
          <a:p>
            <a:pPr indent="-311150" lvl="0" marL="457200" rtl="0" algn="just">
              <a:lnSpc>
                <a:spcPct val="150000"/>
              </a:lnSpc>
              <a:spcBef>
                <a:spcPts val="0"/>
              </a:spcBef>
              <a:spcAft>
                <a:spcPts val="0"/>
              </a:spcAft>
              <a:buSzPts val="1300"/>
              <a:buChar char="●"/>
            </a:pPr>
            <a:r>
              <a:rPr b="1" lang="es"/>
              <a:t>C++:</a:t>
            </a:r>
            <a:r>
              <a:rPr lang="es"/>
              <a:t> Una extensión de C, que añade el paradigma orientado a objetos, pero mantiene su base imperativa.</a:t>
            </a:r>
            <a:endParaRPr/>
          </a:p>
          <a:p>
            <a:pPr indent="-311150" lvl="0" marL="457200" rtl="0" algn="just">
              <a:lnSpc>
                <a:spcPct val="150000"/>
              </a:lnSpc>
              <a:spcBef>
                <a:spcPts val="0"/>
              </a:spcBef>
              <a:spcAft>
                <a:spcPts val="0"/>
              </a:spcAft>
              <a:buSzPts val="1300"/>
              <a:buChar char="●"/>
            </a:pPr>
            <a:r>
              <a:rPr b="1" lang="es"/>
              <a:t>Ensamblador (Assembly): </a:t>
            </a:r>
            <a:r>
              <a:rPr lang="es"/>
              <a:t>El lenguaje más bajo, donde cada instrucción corresponde a una operación específica del procesador. Totalmente imperativo.</a:t>
            </a:r>
            <a:endParaRPr/>
          </a:p>
        </p:txBody>
      </p:sp>
      <p:sp>
        <p:nvSpPr>
          <p:cNvPr id="161" name="Google Shape;161;p22"/>
          <p:cNvSpPr txBox="1"/>
          <p:nvPr>
            <p:ph type="title"/>
          </p:nvPr>
        </p:nvSpPr>
        <p:spPr>
          <a:xfrm>
            <a:off x="766222" y="372715"/>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Paradigma Imperativo, lenguajes reconocidos por su naturaleza imperativa.</a:t>
            </a:r>
            <a:endParaRPr/>
          </a:p>
        </p:txBody>
      </p:sp>
      <p:sp>
        <p:nvSpPr>
          <p:cNvPr id="162" name="Google Shape;162;p22"/>
          <p:cNvSpPr txBox="1"/>
          <p:nvPr>
            <p:ph idx="1" type="body"/>
          </p:nvPr>
        </p:nvSpPr>
        <p:spPr>
          <a:xfrm>
            <a:off x="4859625" y="1237075"/>
            <a:ext cx="3953700" cy="3793200"/>
          </a:xfrm>
          <a:prstGeom prst="rect">
            <a:avLst/>
          </a:prstGeom>
        </p:spPr>
        <p:txBody>
          <a:bodyPr anchorCtr="0" anchor="t" bIns="91425" lIns="91425" spcFirstLastPara="1" rIns="91425" wrap="square" tIns="91425">
            <a:normAutofit fontScale="92500" lnSpcReduction="20000"/>
          </a:bodyPr>
          <a:lstStyle/>
          <a:p>
            <a:pPr indent="0" lvl="0" marL="0" rtl="0" algn="l">
              <a:lnSpc>
                <a:spcPct val="115000"/>
              </a:lnSpc>
              <a:spcBef>
                <a:spcPts val="1200"/>
              </a:spcBef>
              <a:spcAft>
                <a:spcPts val="0"/>
              </a:spcAft>
              <a:buNone/>
            </a:pPr>
            <a:r>
              <a:rPr lang="es"/>
              <a:t> Tienen una abstracción más alta, pero siguen el modelo de "instrucciones paso a paso".</a:t>
            </a:r>
            <a:endParaRPr/>
          </a:p>
          <a:p>
            <a:pPr indent="-293211" lvl="0" marL="457200" rtl="0" algn="l">
              <a:lnSpc>
                <a:spcPct val="115000"/>
              </a:lnSpc>
              <a:spcBef>
                <a:spcPts val="1200"/>
              </a:spcBef>
              <a:spcAft>
                <a:spcPts val="0"/>
              </a:spcAft>
              <a:buClr>
                <a:srgbClr val="000000"/>
              </a:buClr>
              <a:buSzPct val="84615"/>
              <a:buFont typeface="Arial"/>
              <a:buChar char="●"/>
            </a:pPr>
            <a:r>
              <a:rPr b="1" lang="es"/>
              <a:t>Python:</a:t>
            </a:r>
            <a:r>
              <a:rPr lang="es"/>
              <a:t> Aunque es un lenguaje multiparadigma (soporta POO y funcional), su sintaxis básica y su uso más común son imperativos y estructurados.</a:t>
            </a:r>
            <a:endParaRPr/>
          </a:p>
          <a:p>
            <a:pPr indent="-293211" lvl="0" marL="457200" rtl="0" algn="l">
              <a:lnSpc>
                <a:spcPct val="115000"/>
              </a:lnSpc>
              <a:spcBef>
                <a:spcPts val="0"/>
              </a:spcBef>
              <a:spcAft>
                <a:spcPts val="0"/>
              </a:spcAft>
              <a:buClr>
                <a:srgbClr val="000000"/>
              </a:buClr>
              <a:buSzPct val="84615"/>
              <a:buFont typeface="Arial"/>
              <a:buChar char="●"/>
            </a:pPr>
            <a:r>
              <a:rPr b="1" lang="es"/>
              <a:t>Java: </a:t>
            </a:r>
            <a:r>
              <a:rPr lang="es"/>
              <a:t>Principalmente orientado a objetos, pero su base es imperativa. Cada método en una clase es una secuencia de instrucciones.</a:t>
            </a:r>
            <a:endParaRPr/>
          </a:p>
          <a:p>
            <a:pPr indent="-293211" lvl="0" marL="457200" rtl="0" algn="l">
              <a:lnSpc>
                <a:spcPct val="115000"/>
              </a:lnSpc>
              <a:spcBef>
                <a:spcPts val="0"/>
              </a:spcBef>
              <a:spcAft>
                <a:spcPts val="0"/>
              </a:spcAft>
              <a:buClr>
                <a:srgbClr val="000000"/>
              </a:buClr>
              <a:buSzPct val="84615"/>
              <a:buFont typeface="Arial"/>
              <a:buChar char="●"/>
            </a:pPr>
            <a:r>
              <a:rPr b="1" lang="es"/>
              <a:t>JavaScript: </a:t>
            </a:r>
            <a:r>
              <a:rPr lang="es"/>
              <a:t>En su forma más común, permitiendo  controlar el flujo de una aplicación web.</a:t>
            </a:r>
            <a:endParaRPr/>
          </a:p>
          <a:p>
            <a:pPr indent="-293211" lvl="0" marL="457200" rtl="0" algn="l">
              <a:lnSpc>
                <a:spcPct val="115000"/>
              </a:lnSpc>
              <a:spcBef>
                <a:spcPts val="0"/>
              </a:spcBef>
              <a:spcAft>
                <a:spcPts val="0"/>
              </a:spcAft>
              <a:buClr>
                <a:srgbClr val="000000"/>
              </a:buClr>
              <a:buSzPct val="84615"/>
              <a:buFont typeface="Arial"/>
              <a:buChar char="●"/>
            </a:pPr>
            <a:r>
              <a:rPr b="1" lang="es"/>
              <a:t>PHP: </a:t>
            </a:r>
            <a:r>
              <a:rPr lang="es"/>
              <a:t>Utilizado para el desarrollo web, sigue un modelo imperativo donde las instrucciones se ejecutan en secuencia para generar una página.</a:t>
            </a:r>
            <a:endParaRPr/>
          </a:p>
          <a:p>
            <a:pPr indent="-293211" lvl="0" marL="457200" rtl="0" algn="l">
              <a:lnSpc>
                <a:spcPct val="115000"/>
              </a:lnSpc>
              <a:spcBef>
                <a:spcPts val="0"/>
              </a:spcBef>
              <a:spcAft>
                <a:spcPts val="0"/>
              </a:spcAft>
              <a:buClr>
                <a:srgbClr val="000000"/>
              </a:buClr>
              <a:buSzPct val="84615"/>
              <a:buFont typeface="Arial"/>
              <a:buChar char="●"/>
            </a:pPr>
            <a:r>
              <a:rPr b="1" lang="es"/>
              <a:t>C#:</a:t>
            </a:r>
            <a:r>
              <a:rPr lang="es"/>
              <a:t> Similar a Java, combina el paradigma orientado a objetos con una fuerte base imperativa.</a:t>
            </a:r>
            <a:endParaRPr/>
          </a:p>
          <a:p>
            <a:pPr indent="-293211" lvl="0" marL="457200" rtl="0" algn="l">
              <a:lnSpc>
                <a:spcPct val="115000"/>
              </a:lnSpc>
              <a:spcBef>
                <a:spcPts val="0"/>
              </a:spcBef>
              <a:spcAft>
                <a:spcPts val="0"/>
              </a:spcAft>
              <a:buClr>
                <a:srgbClr val="000000"/>
              </a:buClr>
              <a:buSzPct val="84615"/>
              <a:buFont typeface="Arial"/>
              <a:buChar char="●"/>
            </a:pPr>
            <a:r>
              <a:rPr b="1" lang="es"/>
              <a:t>Go:</a:t>
            </a:r>
            <a:r>
              <a:rPr lang="es"/>
              <a:t> Diseñado para la programación de sistemas y la concurrencia, su sintaxis es explícita e imperativa</a:t>
            </a:r>
            <a:r>
              <a:rPr lang="es" sz="1100">
                <a:solidFill>
                  <a:srgbClr val="000000"/>
                </a:solidFill>
                <a:latin typeface="Arial"/>
                <a:ea typeface="Arial"/>
                <a:cs typeface="Arial"/>
                <a:sym typeface="Arial"/>
              </a:rPr>
              <a: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3"/>
          <p:cNvSpPr txBox="1"/>
          <p:nvPr>
            <p:ph type="title"/>
          </p:nvPr>
        </p:nvSpPr>
        <p:spPr>
          <a:xfrm>
            <a:off x="830400" y="6560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Sobre el Paradigma Estructurado</a:t>
            </a:r>
            <a:endParaRPr/>
          </a:p>
        </p:txBody>
      </p:sp>
      <p:sp>
        <p:nvSpPr>
          <p:cNvPr id="168" name="Google Shape;168;p23"/>
          <p:cNvSpPr txBox="1"/>
          <p:nvPr>
            <p:ph idx="1" type="body"/>
          </p:nvPr>
        </p:nvSpPr>
        <p:spPr>
          <a:xfrm>
            <a:off x="729325" y="1237075"/>
            <a:ext cx="3774300" cy="3102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solidFill>
                  <a:srgbClr val="000000"/>
                </a:solidFill>
              </a:rPr>
              <a:t>Es una rama del paradigma imperativo. Se basa en la idea de que cualquier algoritmo puede ser escrito utilizando solo tres estructuras de control básicas: la </a:t>
            </a:r>
            <a:r>
              <a:rPr b="1" lang="es">
                <a:solidFill>
                  <a:srgbClr val="000000"/>
                </a:solidFill>
              </a:rPr>
              <a:t>secuencia</a:t>
            </a:r>
            <a:r>
              <a:rPr lang="es">
                <a:solidFill>
                  <a:srgbClr val="000000"/>
                </a:solidFill>
              </a:rPr>
              <a:t>, la </a:t>
            </a:r>
            <a:r>
              <a:rPr b="1" lang="es">
                <a:solidFill>
                  <a:srgbClr val="000000"/>
                </a:solidFill>
              </a:rPr>
              <a:t>selección</a:t>
            </a:r>
            <a:r>
              <a:rPr lang="es">
                <a:solidFill>
                  <a:srgbClr val="000000"/>
                </a:solidFill>
              </a:rPr>
              <a:t> (condicionales </a:t>
            </a:r>
            <a:r>
              <a:rPr lang="es">
                <a:solidFill>
                  <a:srgbClr val="188038"/>
                </a:solidFill>
              </a:rPr>
              <a:t>if/else</a:t>
            </a:r>
            <a:r>
              <a:rPr lang="es">
                <a:solidFill>
                  <a:srgbClr val="000000"/>
                </a:solidFill>
              </a:rPr>
              <a:t>) y la </a:t>
            </a:r>
            <a:r>
              <a:rPr b="1" lang="es">
                <a:solidFill>
                  <a:srgbClr val="000000"/>
                </a:solidFill>
              </a:rPr>
              <a:t>iteración</a:t>
            </a:r>
            <a:r>
              <a:rPr lang="es">
                <a:solidFill>
                  <a:srgbClr val="000000"/>
                </a:solidFill>
              </a:rPr>
              <a:t> (bucles </a:t>
            </a:r>
            <a:r>
              <a:rPr lang="es">
                <a:solidFill>
                  <a:srgbClr val="188038"/>
                </a:solidFill>
              </a:rPr>
              <a:t>for</a:t>
            </a:r>
            <a:r>
              <a:rPr lang="es">
                <a:solidFill>
                  <a:srgbClr val="000000"/>
                </a:solidFill>
              </a:rPr>
              <a:t> y </a:t>
            </a:r>
            <a:r>
              <a:rPr lang="es">
                <a:solidFill>
                  <a:srgbClr val="188038"/>
                </a:solidFill>
              </a:rPr>
              <a:t>while</a:t>
            </a:r>
            <a:r>
              <a:rPr lang="es">
                <a:solidFill>
                  <a:srgbClr val="000000"/>
                </a:solidFill>
              </a:rPr>
              <a:t>). </a:t>
            </a:r>
            <a:endParaRPr>
              <a:solidFill>
                <a:srgbClr val="000000"/>
              </a:solidFill>
            </a:endParaRPr>
          </a:p>
          <a:p>
            <a:pPr indent="0" lvl="0" marL="0" rtl="0" algn="l">
              <a:spcBef>
                <a:spcPts val="1200"/>
              </a:spcBef>
              <a:spcAft>
                <a:spcPts val="1200"/>
              </a:spcAft>
              <a:buNone/>
            </a:pPr>
            <a:r>
              <a:rPr lang="es">
                <a:solidFill>
                  <a:srgbClr val="000000"/>
                </a:solidFill>
              </a:rPr>
              <a:t>Este enfoque evita el uso de sentencias de salto incondicionales (como </a:t>
            </a:r>
            <a:r>
              <a:rPr lang="es">
                <a:solidFill>
                  <a:srgbClr val="188038"/>
                </a:solidFill>
              </a:rPr>
              <a:t>GOTO</a:t>
            </a:r>
            <a:r>
              <a:rPr lang="es">
                <a:solidFill>
                  <a:srgbClr val="000000"/>
                </a:solidFill>
              </a:rPr>
              <a:t>), lo que hace que el código sea más legible y fácil de depurar, ya que el flujo de control es predecible y fluye de arriba abajo.</a:t>
            </a:r>
            <a:endParaRPr sz="1500"/>
          </a:p>
        </p:txBody>
      </p:sp>
      <p:pic>
        <p:nvPicPr>
          <p:cNvPr id="169" name="Google Shape;169;p23"/>
          <p:cNvPicPr preferRelativeResize="0"/>
          <p:nvPr/>
        </p:nvPicPr>
        <p:blipFill>
          <a:blip r:embed="rId3">
            <a:alphaModFix/>
          </a:blip>
          <a:stretch>
            <a:fillRect/>
          </a:stretch>
        </p:blipFill>
        <p:spPr>
          <a:xfrm>
            <a:off x="4643600" y="1383719"/>
            <a:ext cx="4500399" cy="276238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4"/>
          <p:cNvSpPr txBox="1"/>
          <p:nvPr>
            <p:ph type="title"/>
          </p:nvPr>
        </p:nvSpPr>
        <p:spPr>
          <a:xfrm>
            <a:off x="830400" y="6560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Acceso a Memoria en C</a:t>
            </a:r>
            <a:endParaRPr/>
          </a:p>
        </p:txBody>
      </p:sp>
      <p:sp>
        <p:nvSpPr>
          <p:cNvPr id="175" name="Google Shape;175;p24"/>
          <p:cNvSpPr txBox="1"/>
          <p:nvPr>
            <p:ph idx="1" type="body"/>
          </p:nvPr>
        </p:nvSpPr>
        <p:spPr>
          <a:xfrm>
            <a:off x="109075" y="1237075"/>
            <a:ext cx="2224200" cy="3906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i="1" lang="es"/>
              <a:t>puntero_numeros + i</a:t>
            </a:r>
            <a:endParaRPr b="1" i="1"/>
          </a:p>
          <a:p>
            <a:pPr indent="0" lvl="0" marL="0" rtl="0" algn="l">
              <a:spcBef>
                <a:spcPts val="1200"/>
              </a:spcBef>
              <a:spcAft>
                <a:spcPts val="0"/>
              </a:spcAft>
              <a:buNone/>
            </a:pPr>
            <a:r>
              <a:rPr lang="es"/>
              <a:t>Esta operación es una instrucción directa al procesador. </a:t>
            </a:r>
            <a:endParaRPr/>
          </a:p>
          <a:p>
            <a:pPr indent="0" lvl="0" marL="0" rtl="0" algn="l">
              <a:spcBef>
                <a:spcPts val="1200"/>
              </a:spcBef>
              <a:spcAft>
                <a:spcPts val="0"/>
              </a:spcAft>
              <a:buNone/>
            </a:pPr>
            <a:r>
              <a:rPr lang="es"/>
              <a:t>Le dice que calcule una nueva dirección de memoria, saltando</a:t>
            </a:r>
            <a:r>
              <a:rPr i="1" lang="es"/>
              <a:t> i </a:t>
            </a:r>
            <a:r>
              <a:rPr lang="es"/>
              <a:t>posiciones a partir del inicio del arreglo. </a:t>
            </a:r>
            <a:endParaRPr/>
          </a:p>
          <a:p>
            <a:pPr indent="0" lvl="0" marL="0" rtl="0" algn="l">
              <a:spcBef>
                <a:spcPts val="1200"/>
              </a:spcBef>
              <a:spcAft>
                <a:spcPts val="1200"/>
              </a:spcAft>
              <a:buNone/>
            </a:pPr>
            <a:r>
              <a:rPr lang="es"/>
              <a:t>Dado que </a:t>
            </a:r>
            <a:r>
              <a:rPr b="1" i="1" lang="es"/>
              <a:t>numeros </a:t>
            </a:r>
            <a:r>
              <a:rPr lang="es"/>
              <a:t>es de tipo int, cada "salto" es de 4 bytes (en un sistema de 32 bits).</a:t>
            </a:r>
            <a:endParaRPr/>
          </a:p>
        </p:txBody>
      </p:sp>
      <p:sp>
        <p:nvSpPr>
          <p:cNvPr id="176" name="Google Shape;176;p24"/>
          <p:cNvSpPr txBox="1"/>
          <p:nvPr>
            <p:ph idx="2" type="body"/>
          </p:nvPr>
        </p:nvSpPr>
        <p:spPr>
          <a:xfrm>
            <a:off x="4643600" y="1237075"/>
            <a:ext cx="3774300" cy="3102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77" name="Google Shape;177;p24"/>
          <p:cNvPicPr preferRelativeResize="0"/>
          <p:nvPr/>
        </p:nvPicPr>
        <p:blipFill>
          <a:blip r:embed="rId3">
            <a:alphaModFix/>
          </a:blip>
          <a:stretch>
            <a:fillRect/>
          </a:stretch>
        </p:blipFill>
        <p:spPr>
          <a:xfrm>
            <a:off x="2519953" y="1191252"/>
            <a:ext cx="6514041" cy="390642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5"/>
          <p:cNvSpPr txBox="1"/>
          <p:nvPr>
            <p:ph type="title"/>
          </p:nvPr>
        </p:nvSpPr>
        <p:spPr>
          <a:xfrm>
            <a:off x="830400" y="6560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Referencias Recomendadas</a:t>
            </a:r>
            <a:endParaRPr/>
          </a:p>
        </p:txBody>
      </p:sp>
      <p:sp>
        <p:nvSpPr>
          <p:cNvPr id="183" name="Google Shape;183;p25"/>
          <p:cNvSpPr txBox="1"/>
          <p:nvPr>
            <p:ph idx="1" type="body"/>
          </p:nvPr>
        </p:nvSpPr>
        <p:spPr>
          <a:xfrm>
            <a:off x="729325" y="1237075"/>
            <a:ext cx="3774300" cy="3814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"The C Programming Language" de Brian W. Kernighan y Dennis M. Ritchie (K&amp;R)</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s" u="sng">
                <a:solidFill>
                  <a:schemeClr val="hlink"/>
                </a:solidFill>
                <a:hlinkClick r:id="rId3"/>
              </a:rPr>
              <a:t>https://www.tutorialspoint.com/cprogramming/c_pointers.htm</a:t>
            </a:r>
            <a:r>
              <a:rPr lang="es"/>
              <a:t> </a:t>
            </a:r>
            <a:endParaRPr/>
          </a:p>
        </p:txBody>
      </p:sp>
      <p:sp>
        <p:nvSpPr>
          <p:cNvPr id="184" name="Google Shape;184;p25"/>
          <p:cNvSpPr txBox="1"/>
          <p:nvPr>
            <p:ph idx="2" type="body"/>
          </p:nvPr>
        </p:nvSpPr>
        <p:spPr>
          <a:xfrm>
            <a:off x="4643600" y="1237075"/>
            <a:ext cx="3774300" cy="3102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"C++ Primer" de Stanley B. Lippman, Josée Lajoie y Barbara E. Moo</a:t>
            </a:r>
            <a:endParaRPr/>
          </a:p>
        </p:txBody>
      </p:sp>
      <p:pic>
        <p:nvPicPr>
          <p:cNvPr id="185" name="Google Shape;185;p25"/>
          <p:cNvPicPr preferRelativeResize="0"/>
          <p:nvPr/>
        </p:nvPicPr>
        <p:blipFill>
          <a:blip r:embed="rId4">
            <a:alphaModFix/>
          </a:blip>
          <a:stretch>
            <a:fillRect/>
          </a:stretch>
        </p:blipFill>
        <p:spPr>
          <a:xfrm rot="726111">
            <a:off x="1781125" y="2001975"/>
            <a:ext cx="1352550" cy="1781175"/>
          </a:xfrm>
          <a:prstGeom prst="rect">
            <a:avLst/>
          </a:prstGeom>
          <a:noFill/>
          <a:ln>
            <a:noFill/>
          </a:ln>
        </p:spPr>
      </p:pic>
      <p:pic>
        <p:nvPicPr>
          <p:cNvPr id="186" name="Google Shape;186;p25"/>
          <p:cNvPicPr preferRelativeResize="0"/>
          <p:nvPr/>
        </p:nvPicPr>
        <p:blipFill>
          <a:blip r:embed="rId5">
            <a:alphaModFix/>
          </a:blip>
          <a:stretch>
            <a:fillRect/>
          </a:stretch>
        </p:blipFill>
        <p:spPr>
          <a:xfrm rot="438447">
            <a:off x="5586775" y="2057400"/>
            <a:ext cx="2069550" cy="27375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6"/>
          <p:cNvSpPr txBox="1"/>
          <p:nvPr>
            <p:ph type="title"/>
          </p:nvPr>
        </p:nvSpPr>
        <p:spPr>
          <a:xfrm>
            <a:off x="830400" y="6560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Paradigma Declarativo</a:t>
            </a:r>
            <a:endParaRPr/>
          </a:p>
        </p:txBody>
      </p:sp>
      <p:sp>
        <p:nvSpPr>
          <p:cNvPr id="192" name="Google Shape;192;p26"/>
          <p:cNvSpPr txBox="1"/>
          <p:nvPr>
            <p:ph idx="1" type="body"/>
          </p:nvPr>
        </p:nvSpPr>
        <p:spPr>
          <a:xfrm>
            <a:off x="729325" y="1237075"/>
            <a:ext cx="3774300" cy="31029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s"/>
              <a:t>S</a:t>
            </a:r>
            <a:r>
              <a:rPr lang="es"/>
              <a:t>e centra en definir claramente</a:t>
            </a:r>
            <a:r>
              <a:rPr b="1" lang="es"/>
              <a:t> "qué" </a:t>
            </a:r>
            <a:r>
              <a:rPr lang="es"/>
              <a:t>se debe lograr, </a:t>
            </a:r>
            <a:r>
              <a:rPr b="1" lang="es"/>
              <a:t>sin especificar el "cómo".</a:t>
            </a:r>
            <a:endParaRPr b="1"/>
          </a:p>
          <a:p>
            <a:pPr indent="0" lvl="0" marL="0" rtl="0" algn="just">
              <a:spcBef>
                <a:spcPts val="1200"/>
              </a:spcBef>
              <a:spcAft>
                <a:spcPts val="0"/>
              </a:spcAft>
              <a:buNone/>
            </a:pPr>
            <a:r>
              <a:rPr lang="es"/>
              <a:t>El programador describe el resultado deseado, y el sistema se encarga de determinar los pasos para alcanzarlo.</a:t>
            </a:r>
            <a:endParaRPr/>
          </a:p>
          <a:p>
            <a:pPr indent="0" lvl="0" marL="0" rtl="0" algn="just">
              <a:spcBef>
                <a:spcPts val="1200"/>
              </a:spcBef>
              <a:spcAft>
                <a:spcPts val="0"/>
              </a:spcAft>
              <a:buNone/>
            </a:pPr>
            <a:r>
              <a:t/>
            </a:r>
            <a:endParaRPr/>
          </a:p>
          <a:p>
            <a:pPr indent="0" lvl="0" marL="0" rtl="0" algn="l">
              <a:spcBef>
                <a:spcPts val="1200"/>
              </a:spcBef>
              <a:spcAft>
                <a:spcPts val="1200"/>
              </a:spcAft>
              <a:buNone/>
            </a:pPr>
            <a:r>
              <a:rPr lang="es"/>
              <a:t>En Python (a través de</a:t>
            </a:r>
            <a:r>
              <a:rPr i="1" lang="es"/>
              <a:t> list comprehensions</a:t>
            </a:r>
            <a:r>
              <a:rPr lang="es"/>
              <a:t>)</a:t>
            </a:r>
            <a:endParaRPr/>
          </a:p>
        </p:txBody>
      </p:sp>
      <p:sp>
        <p:nvSpPr>
          <p:cNvPr id="193" name="Google Shape;193;p26"/>
          <p:cNvSpPr txBox="1"/>
          <p:nvPr>
            <p:ph idx="2" type="body"/>
          </p:nvPr>
        </p:nvSpPr>
        <p:spPr>
          <a:xfrm>
            <a:off x="4643600" y="1237075"/>
            <a:ext cx="4170000" cy="2039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En SQL </a:t>
            </a:r>
            <a:r>
              <a:rPr lang="es"/>
              <a:t>"declaras" a la base de datos lo que quieres obtener (nombre y edad de usuarios mayores de 30), sin decirle cómo debe buscarlo (por ejemplo, cómo recorrer la tabla o qué índices usar).</a:t>
            </a:r>
            <a:endParaRPr/>
          </a:p>
          <a:p>
            <a:pPr indent="0" lvl="0" marL="0" rtl="0" algn="l">
              <a:spcBef>
                <a:spcPts val="1200"/>
              </a:spcBef>
              <a:spcAft>
                <a:spcPts val="0"/>
              </a:spcAft>
              <a:buNone/>
            </a:pPr>
            <a:r>
              <a:rPr b="1" lang="es">
                <a:solidFill>
                  <a:srgbClr val="0000FF"/>
                </a:solidFill>
                <a:latin typeface="Courier New"/>
                <a:ea typeface="Courier New"/>
                <a:cs typeface="Courier New"/>
                <a:sym typeface="Courier New"/>
              </a:rPr>
              <a:t>SELECT </a:t>
            </a:r>
            <a:r>
              <a:rPr lang="es">
                <a:latin typeface="Courier New"/>
                <a:ea typeface="Courier New"/>
                <a:cs typeface="Courier New"/>
                <a:sym typeface="Courier New"/>
              </a:rPr>
              <a:t>nombre, edad </a:t>
            </a:r>
            <a:endParaRPr>
              <a:latin typeface="Courier New"/>
              <a:ea typeface="Courier New"/>
              <a:cs typeface="Courier New"/>
              <a:sym typeface="Courier New"/>
            </a:endParaRPr>
          </a:p>
          <a:p>
            <a:pPr indent="0" lvl="0" marL="0" rtl="0" algn="l">
              <a:spcBef>
                <a:spcPts val="0"/>
              </a:spcBef>
              <a:spcAft>
                <a:spcPts val="0"/>
              </a:spcAft>
              <a:buNone/>
            </a:pPr>
            <a:r>
              <a:rPr b="1" lang="es">
                <a:solidFill>
                  <a:srgbClr val="0000FF"/>
                </a:solidFill>
                <a:latin typeface="Courier New"/>
                <a:ea typeface="Courier New"/>
                <a:cs typeface="Courier New"/>
                <a:sym typeface="Courier New"/>
              </a:rPr>
              <a:t>FROM </a:t>
            </a:r>
            <a:r>
              <a:rPr lang="es">
                <a:latin typeface="Courier New"/>
                <a:ea typeface="Courier New"/>
                <a:cs typeface="Courier New"/>
                <a:sym typeface="Courier New"/>
              </a:rPr>
              <a:t>usuarios </a:t>
            </a:r>
            <a:endParaRPr>
              <a:latin typeface="Courier New"/>
              <a:ea typeface="Courier New"/>
              <a:cs typeface="Courier New"/>
              <a:sym typeface="Courier New"/>
            </a:endParaRPr>
          </a:p>
          <a:p>
            <a:pPr indent="0" lvl="0" marL="0" rtl="0" algn="l">
              <a:spcBef>
                <a:spcPts val="0"/>
              </a:spcBef>
              <a:spcAft>
                <a:spcPts val="0"/>
              </a:spcAft>
              <a:buNone/>
            </a:pPr>
            <a:r>
              <a:rPr b="1" lang="es">
                <a:solidFill>
                  <a:srgbClr val="0000FF"/>
                </a:solidFill>
                <a:latin typeface="Courier New"/>
                <a:ea typeface="Courier New"/>
                <a:cs typeface="Courier New"/>
                <a:sym typeface="Courier New"/>
              </a:rPr>
              <a:t>WHERE </a:t>
            </a:r>
            <a:r>
              <a:rPr lang="es">
                <a:latin typeface="Courier New"/>
                <a:ea typeface="Courier New"/>
                <a:cs typeface="Courier New"/>
                <a:sym typeface="Courier New"/>
              </a:rPr>
              <a:t>edad &gt; 30;</a:t>
            </a:r>
            <a:endParaRPr/>
          </a:p>
        </p:txBody>
      </p:sp>
      <p:pic>
        <p:nvPicPr>
          <p:cNvPr id="194" name="Google Shape;194;p26"/>
          <p:cNvPicPr preferRelativeResize="0"/>
          <p:nvPr/>
        </p:nvPicPr>
        <p:blipFill>
          <a:blip r:embed="rId3">
            <a:alphaModFix/>
          </a:blip>
          <a:stretch>
            <a:fillRect/>
          </a:stretch>
        </p:blipFill>
        <p:spPr>
          <a:xfrm>
            <a:off x="830400" y="3474688"/>
            <a:ext cx="5981700" cy="12096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7"/>
          <p:cNvSpPr txBox="1"/>
          <p:nvPr>
            <p:ph type="title"/>
          </p:nvPr>
        </p:nvSpPr>
        <p:spPr>
          <a:xfrm>
            <a:off x="830400" y="3459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Las list comprehensions son una forma concisa y elegante de crear listas en Python.</a:t>
            </a:r>
            <a:endParaRPr/>
          </a:p>
        </p:txBody>
      </p:sp>
      <p:sp>
        <p:nvSpPr>
          <p:cNvPr id="200" name="Google Shape;200;p27"/>
          <p:cNvSpPr txBox="1"/>
          <p:nvPr>
            <p:ph idx="1" type="body"/>
          </p:nvPr>
        </p:nvSpPr>
        <p:spPr>
          <a:xfrm>
            <a:off x="344325" y="1237075"/>
            <a:ext cx="4159200" cy="38466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s"/>
              <a:t>Paradigma Declarativo/funcional, </a:t>
            </a:r>
            <a:r>
              <a:rPr lang="es"/>
              <a:t>la responsabilidad de cómo se va a realizar recae en el lenguaje</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s"/>
              <a:t>Permiten construir una nueva lista a</a:t>
            </a:r>
            <a:r>
              <a:rPr b="1" lang="es"/>
              <a:t>plicando una expresión</a:t>
            </a:r>
            <a:r>
              <a:rPr lang="es"/>
              <a:t> a cada elemento de una secuencia iterable existente (como una lista, tupla o conjunto), y opcionalmente, filtrando los elementos con una condición.</a:t>
            </a:r>
            <a:endParaRPr/>
          </a:p>
          <a:p>
            <a:pPr indent="0" lvl="0" marL="0" rtl="0" algn="l">
              <a:spcBef>
                <a:spcPts val="1200"/>
              </a:spcBef>
              <a:spcAft>
                <a:spcPts val="0"/>
              </a:spcAft>
              <a:buNone/>
            </a:pPr>
            <a:r>
              <a:rPr lang="es"/>
              <a:t>Sintaxis</a:t>
            </a:r>
            <a:endParaRPr/>
          </a:p>
          <a:p>
            <a:pPr indent="0" lvl="0" marL="0" rtl="0" algn="l">
              <a:spcBef>
                <a:spcPts val="1200"/>
              </a:spcBef>
              <a:spcAft>
                <a:spcPts val="1200"/>
              </a:spcAft>
              <a:buNone/>
            </a:pPr>
            <a:r>
              <a:rPr lang="es">
                <a:latin typeface="Courier New"/>
                <a:ea typeface="Courier New"/>
                <a:cs typeface="Courier New"/>
                <a:sym typeface="Courier New"/>
              </a:rPr>
              <a:t>nueva_lista = [expresion </a:t>
            </a:r>
            <a:r>
              <a:rPr b="1" lang="es">
                <a:solidFill>
                  <a:srgbClr val="9900FF"/>
                </a:solidFill>
                <a:latin typeface="Courier New"/>
                <a:ea typeface="Courier New"/>
                <a:cs typeface="Courier New"/>
                <a:sym typeface="Courier New"/>
              </a:rPr>
              <a:t>for </a:t>
            </a:r>
            <a:r>
              <a:rPr lang="es">
                <a:latin typeface="Courier New"/>
                <a:ea typeface="Courier New"/>
                <a:cs typeface="Courier New"/>
                <a:sym typeface="Courier New"/>
              </a:rPr>
              <a:t>elemento </a:t>
            </a:r>
            <a:r>
              <a:rPr b="1" lang="es">
                <a:solidFill>
                  <a:srgbClr val="9900FF"/>
                </a:solidFill>
                <a:latin typeface="Courier New"/>
                <a:ea typeface="Courier New"/>
                <a:cs typeface="Courier New"/>
                <a:sym typeface="Courier New"/>
              </a:rPr>
              <a:t>in </a:t>
            </a:r>
            <a:r>
              <a:rPr lang="es">
                <a:latin typeface="Courier New"/>
                <a:ea typeface="Courier New"/>
                <a:cs typeface="Courier New"/>
                <a:sym typeface="Courier New"/>
              </a:rPr>
              <a:t>iterable </a:t>
            </a:r>
            <a:r>
              <a:rPr b="1" lang="es">
                <a:solidFill>
                  <a:srgbClr val="9900FF"/>
                </a:solidFill>
                <a:latin typeface="Courier New"/>
                <a:ea typeface="Courier New"/>
                <a:cs typeface="Courier New"/>
                <a:sym typeface="Courier New"/>
              </a:rPr>
              <a:t>if </a:t>
            </a:r>
            <a:r>
              <a:rPr lang="es">
                <a:latin typeface="Courier New"/>
                <a:ea typeface="Courier New"/>
                <a:cs typeface="Courier New"/>
                <a:sym typeface="Courier New"/>
              </a:rPr>
              <a:t>condicion]</a:t>
            </a:r>
            <a:endParaRPr>
              <a:latin typeface="Courier New"/>
              <a:ea typeface="Courier New"/>
              <a:cs typeface="Courier New"/>
              <a:sym typeface="Courier New"/>
            </a:endParaRPr>
          </a:p>
        </p:txBody>
      </p:sp>
      <p:sp>
        <p:nvSpPr>
          <p:cNvPr id="201" name="Google Shape;201;p27"/>
          <p:cNvSpPr txBox="1"/>
          <p:nvPr>
            <p:ph idx="2" type="body"/>
          </p:nvPr>
        </p:nvSpPr>
        <p:spPr>
          <a:xfrm>
            <a:off x="4643600" y="1237075"/>
            <a:ext cx="4159200" cy="3102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a:t>Paradigma Imperativo, </a:t>
            </a:r>
            <a:r>
              <a:rPr lang="es"/>
              <a:t>la responsabilidad recae totalmente en el programador, puedo hacerlo “</a:t>
            </a:r>
            <a:r>
              <a:rPr i="1" lang="es"/>
              <a:t>como se me ocurra</a:t>
            </a:r>
            <a:r>
              <a:rPr lang="es"/>
              <a:t>”.</a:t>
            </a:r>
            <a:endParaRPr/>
          </a:p>
          <a:p>
            <a:pPr indent="0" lvl="0" marL="0" rtl="0" algn="l">
              <a:spcBef>
                <a:spcPts val="1200"/>
              </a:spcBef>
              <a:spcAft>
                <a:spcPts val="1200"/>
              </a:spcAft>
              <a:buNone/>
            </a:pPr>
            <a:r>
              <a:t/>
            </a:r>
            <a:endParaRPr/>
          </a:p>
        </p:txBody>
      </p:sp>
      <p:pic>
        <p:nvPicPr>
          <p:cNvPr id="202" name="Google Shape;202;p27"/>
          <p:cNvPicPr preferRelativeResize="0"/>
          <p:nvPr/>
        </p:nvPicPr>
        <p:blipFill>
          <a:blip r:embed="rId3">
            <a:alphaModFix/>
          </a:blip>
          <a:stretch>
            <a:fillRect/>
          </a:stretch>
        </p:blipFill>
        <p:spPr>
          <a:xfrm>
            <a:off x="4643600" y="2102999"/>
            <a:ext cx="4278675" cy="1628465"/>
          </a:xfrm>
          <a:prstGeom prst="rect">
            <a:avLst/>
          </a:prstGeom>
          <a:noFill/>
          <a:ln>
            <a:noFill/>
          </a:ln>
        </p:spPr>
      </p:pic>
      <p:pic>
        <p:nvPicPr>
          <p:cNvPr id="203" name="Google Shape;203;p27"/>
          <p:cNvPicPr preferRelativeResize="0"/>
          <p:nvPr/>
        </p:nvPicPr>
        <p:blipFill>
          <a:blip r:embed="rId4">
            <a:alphaModFix/>
          </a:blip>
          <a:stretch>
            <a:fillRect/>
          </a:stretch>
        </p:blipFill>
        <p:spPr>
          <a:xfrm>
            <a:off x="224850" y="1835672"/>
            <a:ext cx="4278683" cy="8652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8"/>
          <p:cNvSpPr txBox="1"/>
          <p:nvPr>
            <p:ph type="title"/>
          </p:nvPr>
        </p:nvSpPr>
        <p:spPr>
          <a:xfrm>
            <a:off x="830400" y="6560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Por qué usar List Comprehensions?</a:t>
            </a:r>
            <a:endParaRPr/>
          </a:p>
        </p:txBody>
      </p:sp>
      <p:sp>
        <p:nvSpPr>
          <p:cNvPr id="209" name="Google Shape;209;p28"/>
          <p:cNvSpPr txBox="1"/>
          <p:nvPr>
            <p:ph idx="1" type="body"/>
          </p:nvPr>
        </p:nvSpPr>
        <p:spPr>
          <a:xfrm>
            <a:off x="729450" y="1237075"/>
            <a:ext cx="7688700" cy="3102900"/>
          </a:xfrm>
          <a:prstGeom prst="rect">
            <a:avLst/>
          </a:prstGeom>
        </p:spPr>
        <p:txBody>
          <a:bodyPr anchorCtr="0" anchor="t" bIns="91425" lIns="91425" spcFirstLastPara="1" rIns="91425" wrap="square" tIns="91425">
            <a:normAutofit/>
          </a:bodyPr>
          <a:lstStyle/>
          <a:p>
            <a:pPr indent="-311150" lvl="0" marL="457200" rtl="0" algn="l">
              <a:lnSpc>
                <a:spcPct val="200000"/>
              </a:lnSpc>
              <a:spcBef>
                <a:spcPts val="0"/>
              </a:spcBef>
              <a:spcAft>
                <a:spcPts val="0"/>
              </a:spcAft>
              <a:buSzPts val="1300"/>
              <a:buAutoNum type="arabicPeriod"/>
            </a:pPr>
            <a:r>
              <a:rPr b="1" lang="es"/>
              <a:t>Código más Conciso y legible: </a:t>
            </a:r>
            <a:r>
              <a:rPr lang="es"/>
              <a:t>Una sola línea de código hace el trabajo de varias. Una vez que te familiarizas con la sintaxis, el código es más fácil de leer.</a:t>
            </a:r>
            <a:endParaRPr/>
          </a:p>
          <a:p>
            <a:pPr indent="-311150" lvl="0" marL="457200" rtl="0" algn="l">
              <a:lnSpc>
                <a:spcPct val="200000"/>
              </a:lnSpc>
              <a:spcBef>
                <a:spcPts val="0"/>
              </a:spcBef>
              <a:spcAft>
                <a:spcPts val="0"/>
              </a:spcAft>
              <a:buSzPts val="1300"/>
              <a:buAutoNum type="arabicPeriod"/>
            </a:pPr>
            <a:r>
              <a:rPr b="1" lang="es"/>
              <a:t>Eficiencia: </a:t>
            </a:r>
            <a:r>
              <a:rPr lang="es"/>
              <a:t>Las list comprehensions son a menudo más rápidas que los bucles for tradicionales para la creación de listas, ya que el intérprete de Python las optimiza internamente.</a:t>
            </a:r>
            <a:endParaRPr/>
          </a:p>
          <a:p>
            <a:pPr indent="-311150" lvl="0" marL="457200" rtl="0" algn="l">
              <a:lnSpc>
                <a:spcPct val="200000"/>
              </a:lnSpc>
              <a:spcBef>
                <a:spcPts val="0"/>
              </a:spcBef>
              <a:spcAft>
                <a:spcPts val="0"/>
              </a:spcAft>
              <a:buSzPts val="1300"/>
              <a:buAutoNum type="arabicPeriod"/>
            </a:pPr>
            <a:r>
              <a:rPr b="1" lang="es"/>
              <a:t>Expresividad: </a:t>
            </a:r>
            <a:r>
              <a:rPr lang="es"/>
              <a:t>Reflejan un paradigma declarativo, donde declaras "qué" quieres que sea la nueva lista, en lugar de detallar el "cómo" construirla paso a paso.</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9"/>
          <p:cNvSpPr txBox="1"/>
          <p:nvPr>
            <p:ph type="title"/>
          </p:nvPr>
        </p:nvSpPr>
        <p:spPr>
          <a:xfrm>
            <a:off x="830400" y="6560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Lenguaje Estructurado de Consultas (SQL)</a:t>
            </a:r>
            <a:endParaRPr/>
          </a:p>
        </p:txBody>
      </p:sp>
      <p:sp>
        <p:nvSpPr>
          <p:cNvPr id="215" name="Google Shape;215;p29"/>
          <p:cNvSpPr txBox="1"/>
          <p:nvPr>
            <p:ph idx="1" type="body"/>
          </p:nvPr>
        </p:nvSpPr>
        <p:spPr>
          <a:xfrm>
            <a:off x="729325" y="1237075"/>
            <a:ext cx="3774300" cy="3102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216" name="Google Shape;216;p29"/>
          <p:cNvSpPr txBox="1"/>
          <p:nvPr>
            <p:ph idx="2" type="body"/>
          </p:nvPr>
        </p:nvSpPr>
        <p:spPr>
          <a:xfrm>
            <a:off x="4643600" y="1237075"/>
            <a:ext cx="3774300" cy="3102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17" name="Google Shape;217;p29"/>
          <p:cNvPicPr preferRelativeResize="0"/>
          <p:nvPr/>
        </p:nvPicPr>
        <p:blipFill>
          <a:blip r:embed="rId3">
            <a:alphaModFix/>
          </a:blip>
          <a:stretch>
            <a:fillRect/>
          </a:stretch>
        </p:blipFill>
        <p:spPr>
          <a:xfrm>
            <a:off x="729325" y="1237075"/>
            <a:ext cx="6549938" cy="39064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0"/>
          <p:cNvSpPr txBox="1"/>
          <p:nvPr>
            <p:ph type="title"/>
          </p:nvPr>
        </p:nvSpPr>
        <p:spPr>
          <a:xfrm>
            <a:off x="830400" y="260925"/>
            <a:ext cx="8047200" cy="930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En un paradigma declarativo es necesario tener clara </a:t>
            </a:r>
            <a:r>
              <a:rPr lang="es"/>
              <a:t>cuál</a:t>
            </a:r>
            <a:r>
              <a:rPr lang="es"/>
              <a:t> es la abstracción de la solución de un problema</a:t>
            </a:r>
            <a:endParaRPr/>
          </a:p>
        </p:txBody>
      </p:sp>
      <p:sp>
        <p:nvSpPr>
          <p:cNvPr id="223" name="Google Shape;223;p30"/>
          <p:cNvSpPr txBox="1"/>
          <p:nvPr>
            <p:ph idx="1" type="body"/>
          </p:nvPr>
        </p:nvSpPr>
        <p:spPr>
          <a:xfrm>
            <a:off x="729325" y="1237075"/>
            <a:ext cx="3774300" cy="3102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224" name="Google Shape;224;p30"/>
          <p:cNvSpPr txBox="1"/>
          <p:nvPr>
            <p:ph idx="2" type="body"/>
          </p:nvPr>
        </p:nvSpPr>
        <p:spPr>
          <a:xfrm>
            <a:off x="4643600" y="1237075"/>
            <a:ext cx="3774300" cy="3102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25" name="Google Shape;225;p30"/>
          <p:cNvPicPr preferRelativeResize="0"/>
          <p:nvPr/>
        </p:nvPicPr>
        <p:blipFill>
          <a:blip r:embed="rId3">
            <a:alphaModFix/>
          </a:blip>
          <a:stretch>
            <a:fillRect/>
          </a:stretch>
        </p:blipFill>
        <p:spPr>
          <a:xfrm>
            <a:off x="1575787" y="1237075"/>
            <a:ext cx="5992428" cy="380377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1"/>
          <p:cNvSpPr txBox="1"/>
          <p:nvPr>
            <p:ph type="title"/>
          </p:nvPr>
        </p:nvSpPr>
        <p:spPr>
          <a:xfrm>
            <a:off x="830400" y="6560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Paradigma Funcional</a:t>
            </a:r>
            <a:endParaRPr/>
          </a:p>
        </p:txBody>
      </p:sp>
      <p:sp>
        <p:nvSpPr>
          <p:cNvPr id="231" name="Google Shape;231;p31"/>
          <p:cNvSpPr txBox="1"/>
          <p:nvPr>
            <p:ph idx="1" type="body"/>
          </p:nvPr>
        </p:nvSpPr>
        <p:spPr>
          <a:xfrm>
            <a:off x="355025" y="1237075"/>
            <a:ext cx="4148700" cy="3782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E</a:t>
            </a:r>
            <a:r>
              <a:rPr lang="es"/>
              <a:t>s una forma más específica y rigurosa de programación declarativa. </a:t>
            </a:r>
            <a:endParaRPr/>
          </a:p>
          <a:p>
            <a:pPr indent="0" lvl="0" marL="0" rtl="0" algn="l">
              <a:spcBef>
                <a:spcPts val="1200"/>
              </a:spcBef>
              <a:spcAft>
                <a:spcPts val="0"/>
              </a:spcAft>
              <a:buNone/>
            </a:pPr>
            <a:r>
              <a:rPr lang="es"/>
              <a:t>Se basa en el concepto de funciones matemáticas puras, evitando el estado mutable y los efectos secundarios. Principios:</a:t>
            </a:r>
            <a:endParaRPr/>
          </a:p>
          <a:p>
            <a:pPr indent="-311150" lvl="0" marL="457200" rtl="0" algn="l">
              <a:spcBef>
                <a:spcPts val="1200"/>
              </a:spcBef>
              <a:spcAft>
                <a:spcPts val="0"/>
              </a:spcAft>
              <a:buSzPts val="1300"/>
              <a:buChar char="●"/>
            </a:pPr>
            <a:r>
              <a:rPr b="1" i="1" lang="es"/>
              <a:t>Inmutabilidad</a:t>
            </a:r>
            <a:r>
              <a:rPr lang="es"/>
              <a:t>: Los datos no cambian de estado. En lugar de modificar un objeto, se crea una nueva versión con el cambio.</a:t>
            </a:r>
            <a:endParaRPr/>
          </a:p>
          <a:p>
            <a:pPr indent="-311150" lvl="0" marL="457200" rtl="0" algn="l">
              <a:spcBef>
                <a:spcPts val="0"/>
              </a:spcBef>
              <a:spcAft>
                <a:spcPts val="0"/>
              </a:spcAft>
              <a:buSzPts val="1300"/>
              <a:buChar char="●"/>
            </a:pPr>
            <a:r>
              <a:rPr b="1" i="1" lang="es"/>
              <a:t>Funciones Puras:</a:t>
            </a:r>
            <a:r>
              <a:rPr lang="es"/>
              <a:t> Las funciones siempre producen la misma salida para la misma entrada.</a:t>
            </a:r>
            <a:endParaRPr/>
          </a:p>
          <a:p>
            <a:pPr indent="-311150" lvl="0" marL="457200" rtl="0" algn="l">
              <a:spcBef>
                <a:spcPts val="0"/>
              </a:spcBef>
              <a:spcAft>
                <a:spcPts val="0"/>
              </a:spcAft>
              <a:buSzPts val="1300"/>
              <a:buChar char="●"/>
            </a:pPr>
            <a:r>
              <a:rPr b="1" i="1" lang="es"/>
              <a:t>Funciones de Orden Superior:</a:t>
            </a:r>
            <a:r>
              <a:rPr lang="es"/>
              <a:t> Funciones que toman otras funciones como argumentos o las devuelven como resultado.</a:t>
            </a:r>
            <a:endParaRPr/>
          </a:p>
        </p:txBody>
      </p:sp>
      <p:sp>
        <p:nvSpPr>
          <p:cNvPr id="232" name="Google Shape;232;p31"/>
          <p:cNvSpPr txBox="1"/>
          <p:nvPr>
            <p:ph idx="2" type="body"/>
          </p:nvPr>
        </p:nvSpPr>
        <p:spPr>
          <a:xfrm>
            <a:off x="4643600" y="1237075"/>
            <a:ext cx="4148700" cy="3906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E</a:t>
            </a:r>
            <a:r>
              <a:rPr lang="es"/>
              <a:t>n el "cómo" se usa la composición de funciones para lograr un resultado. </a:t>
            </a:r>
            <a:endParaRPr/>
          </a:p>
          <a:p>
            <a:pPr indent="0" lvl="0" marL="0" rtl="0" algn="l">
              <a:spcBef>
                <a:spcPts val="1200"/>
              </a:spcBef>
              <a:spcAft>
                <a:spcPts val="0"/>
              </a:spcAft>
              <a:buNone/>
            </a:pPr>
            <a:r>
              <a:rPr lang="es"/>
              <a:t>Por ejemplo, para sumar los elementos de una lista, no se usa un bucle o ciclo que acumula un valor:</a:t>
            </a:r>
            <a:endParaRPr/>
          </a:p>
          <a:p>
            <a:pPr indent="0" lvl="0" marL="0" rtl="0" algn="l">
              <a:spcBef>
                <a:spcPts val="1200"/>
              </a:spcBef>
              <a:spcAft>
                <a:spcPts val="0"/>
              </a:spcAft>
              <a:buNone/>
            </a:pPr>
            <a:r>
              <a:rPr lang="es">
                <a:latin typeface="Courier New"/>
                <a:ea typeface="Courier New"/>
                <a:cs typeface="Courier New"/>
                <a:sym typeface="Courier New"/>
              </a:rPr>
              <a:t>for num in lista: suma += num </a:t>
            </a:r>
            <a:endParaRPr>
              <a:latin typeface="Courier New"/>
              <a:ea typeface="Courier New"/>
              <a:cs typeface="Courier New"/>
              <a:sym typeface="Courier New"/>
            </a:endParaRPr>
          </a:p>
          <a:p>
            <a:pPr indent="0" lvl="0" marL="0" rtl="0" algn="l">
              <a:spcBef>
                <a:spcPts val="1200"/>
              </a:spcBef>
              <a:spcAft>
                <a:spcPts val="0"/>
              </a:spcAft>
              <a:buNone/>
            </a:pPr>
            <a:r>
              <a:rPr lang="es"/>
              <a:t>sino que se usa una función de orden superior como reduce que aplica otra función de suma a la lista, de manera inmutable</a:t>
            </a:r>
            <a:endParaRPr/>
          </a:p>
          <a:p>
            <a:pPr indent="0" lvl="0" marL="0" rtl="0" algn="l">
              <a:spcBef>
                <a:spcPts val="1200"/>
              </a:spcBef>
              <a:spcAft>
                <a:spcPts val="0"/>
              </a:spcAft>
              <a:buNone/>
            </a:pPr>
            <a:r>
              <a:rPr lang="es">
                <a:latin typeface="Courier New"/>
                <a:ea typeface="Courier New"/>
                <a:cs typeface="Courier New"/>
                <a:sym typeface="Courier New"/>
              </a:rPr>
              <a:t>reduce(sumar, lista)</a:t>
            </a:r>
            <a:endParaRPr>
              <a:latin typeface="Courier New"/>
              <a:ea typeface="Courier New"/>
              <a:cs typeface="Courier New"/>
              <a:sym typeface="Courier New"/>
            </a:endParaRPr>
          </a:p>
          <a:p>
            <a:pPr indent="0" lvl="0" marL="0" rtl="0" algn="l">
              <a:spcBef>
                <a:spcPts val="1200"/>
              </a:spcBef>
              <a:spcAft>
                <a:spcPts val="1200"/>
              </a:spcAft>
              <a:buNone/>
            </a:pPr>
            <a:r>
              <a:rPr lang="es">
                <a:latin typeface="Courier New"/>
                <a:ea typeface="Courier New"/>
                <a:cs typeface="Courier New"/>
                <a:sym typeface="Courier New"/>
              </a:rPr>
              <a:t>Otro ejemplo en pyton son las funciones lamda</a:t>
            </a:r>
            <a:endParaRPr>
              <a:latin typeface="Courier New"/>
              <a:ea typeface="Courier New"/>
              <a:cs typeface="Courier New"/>
              <a:sym typeface="Courier New"/>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2"/>
          <p:cNvSpPr txBox="1"/>
          <p:nvPr>
            <p:ph type="title"/>
          </p:nvPr>
        </p:nvSpPr>
        <p:spPr>
          <a:xfrm>
            <a:off x="830400" y="6560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Funciones anónimas lamda en Python</a:t>
            </a:r>
            <a:endParaRPr/>
          </a:p>
        </p:txBody>
      </p:sp>
      <p:sp>
        <p:nvSpPr>
          <p:cNvPr id="238" name="Google Shape;238;p32"/>
          <p:cNvSpPr txBox="1"/>
          <p:nvPr>
            <p:ph idx="1" type="body"/>
          </p:nvPr>
        </p:nvSpPr>
        <p:spPr>
          <a:xfrm>
            <a:off x="344325" y="3426150"/>
            <a:ext cx="4159200" cy="17172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SzPts val="1200"/>
              <a:buChar char="●"/>
            </a:pPr>
            <a:r>
              <a:rPr b="1" lang="es" sz="1200">
                <a:latin typeface="Courier New"/>
                <a:ea typeface="Courier New"/>
                <a:cs typeface="Courier New"/>
                <a:sym typeface="Courier New"/>
              </a:rPr>
              <a:t>key=: </a:t>
            </a:r>
            <a:r>
              <a:rPr lang="es" sz="1200"/>
              <a:t>El argumento </a:t>
            </a:r>
            <a:r>
              <a:rPr b="1" lang="es" sz="1200">
                <a:latin typeface="Courier New"/>
                <a:ea typeface="Courier New"/>
                <a:cs typeface="Courier New"/>
                <a:sym typeface="Courier New"/>
              </a:rPr>
              <a:t>key </a:t>
            </a:r>
            <a:r>
              <a:rPr lang="es" sz="1200"/>
              <a:t>le dice a </a:t>
            </a:r>
            <a:r>
              <a:rPr b="1" lang="es" sz="1200">
                <a:latin typeface="Courier New"/>
                <a:ea typeface="Courier New"/>
                <a:cs typeface="Courier New"/>
                <a:sym typeface="Courier New"/>
              </a:rPr>
              <a:t>sorted()</a:t>
            </a:r>
            <a:r>
              <a:rPr lang="es" sz="1200"/>
              <a:t> con qué criterio debe ordenar.</a:t>
            </a:r>
            <a:endParaRPr sz="1200"/>
          </a:p>
          <a:p>
            <a:pPr indent="-304800" lvl="0" marL="457200" rtl="0" algn="l">
              <a:spcBef>
                <a:spcPts val="0"/>
              </a:spcBef>
              <a:spcAft>
                <a:spcPts val="0"/>
              </a:spcAft>
              <a:buSzPts val="1200"/>
              <a:buChar char="●"/>
            </a:pPr>
            <a:r>
              <a:rPr lang="es" sz="1200"/>
              <a:t>Espera una función que tome un elemento del iterable y devuelva un valor que se usará para la comparación.</a:t>
            </a:r>
            <a:endParaRPr sz="1200"/>
          </a:p>
          <a:p>
            <a:pPr indent="0" lvl="0" marL="457200" rtl="0" algn="l">
              <a:spcBef>
                <a:spcPts val="1200"/>
              </a:spcBef>
              <a:spcAft>
                <a:spcPts val="1200"/>
              </a:spcAft>
              <a:buNone/>
            </a:pPr>
            <a:r>
              <a:t/>
            </a:r>
            <a:endParaRPr/>
          </a:p>
        </p:txBody>
      </p:sp>
      <p:sp>
        <p:nvSpPr>
          <p:cNvPr id="239" name="Google Shape;239;p32"/>
          <p:cNvSpPr txBox="1"/>
          <p:nvPr>
            <p:ph idx="2" type="body"/>
          </p:nvPr>
        </p:nvSpPr>
        <p:spPr>
          <a:xfrm>
            <a:off x="4643600" y="3426225"/>
            <a:ext cx="4447800" cy="17172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SzPts val="935"/>
              <a:buNone/>
            </a:pPr>
            <a:r>
              <a:rPr b="1" lang="es" sz="1205">
                <a:latin typeface="Courier New"/>
                <a:ea typeface="Courier New"/>
                <a:cs typeface="Courier New"/>
                <a:sym typeface="Courier New"/>
              </a:rPr>
              <a:t>lambda item: item[1]: </a:t>
            </a:r>
            <a:r>
              <a:rPr lang="es" sz="1205"/>
              <a:t>observa la </a:t>
            </a:r>
            <a:r>
              <a:rPr lang="es" sz="1205"/>
              <a:t> función lambda.</a:t>
            </a:r>
            <a:endParaRPr sz="1205"/>
          </a:p>
          <a:p>
            <a:pPr indent="-294323" lvl="0" marL="457200" rtl="0" algn="l">
              <a:spcBef>
                <a:spcPts val="1200"/>
              </a:spcBef>
              <a:spcAft>
                <a:spcPts val="0"/>
              </a:spcAft>
              <a:buClr>
                <a:srgbClr val="000000"/>
              </a:buClr>
              <a:buSzPts val="1035"/>
              <a:buFont typeface="Arial"/>
              <a:buChar char="●"/>
            </a:pPr>
            <a:r>
              <a:rPr b="1" lang="es" sz="1205">
                <a:latin typeface="Courier New"/>
                <a:ea typeface="Courier New"/>
                <a:cs typeface="Courier New"/>
                <a:sym typeface="Courier New"/>
              </a:rPr>
              <a:t>lambda</a:t>
            </a:r>
            <a:r>
              <a:rPr lang="es" sz="1205"/>
              <a:t>: Palabra clave para definir la función anónima.</a:t>
            </a:r>
            <a:endParaRPr sz="1205"/>
          </a:p>
          <a:p>
            <a:pPr indent="-294323" lvl="0" marL="457200" rtl="0" algn="l">
              <a:spcBef>
                <a:spcPts val="0"/>
              </a:spcBef>
              <a:spcAft>
                <a:spcPts val="0"/>
              </a:spcAft>
              <a:buClr>
                <a:srgbClr val="000000"/>
              </a:buClr>
              <a:buSzPts val="1035"/>
              <a:buFont typeface="Arial"/>
              <a:buChar char="●"/>
            </a:pPr>
            <a:r>
              <a:rPr b="1" lang="es" sz="1205">
                <a:latin typeface="Courier New"/>
                <a:ea typeface="Courier New"/>
                <a:cs typeface="Courier New"/>
                <a:sym typeface="Courier New"/>
              </a:rPr>
              <a:t>item</a:t>
            </a:r>
            <a:r>
              <a:rPr lang="es" sz="1205"/>
              <a:t>: El único argumento que recibe. En cada iteración, </a:t>
            </a:r>
            <a:r>
              <a:rPr b="1" lang="es" sz="1205">
                <a:latin typeface="Courier New"/>
                <a:ea typeface="Courier New"/>
                <a:cs typeface="Courier New"/>
                <a:sym typeface="Courier New"/>
              </a:rPr>
              <a:t>item </a:t>
            </a:r>
            <a:r>
              <a:rPr lang="es" sz="1205"/>
              <a:t>será una de las tuplas de la lista (ej. ('Carlos', 25)).</a:t>
            </a:r>
            <a:endParaRPr sz="1205"/>
          </a:p>
          <a:p>
            <a:pPr indent="-294323" lvl="0" marL="457200" rtl="0" algn="l">
              <a:spcBef>
                <a:spcPts val="0"/>
              </a:spcBef>
              <a:spcAft>
                <a:spcPts val="0"/>
              </a:spcAft>
              <a:buClr>
                <a:srgbClr val="000000"/>
              </a:buClr>
              <a:buSzPts val="1035"/>
              <a:buFont typeface="Arial"/>
              <a:buChar char="●"/>
            </a:pPr>
            <a:r>
              <a:rPr b="1" lang="es" sz="1205">
                <a:latin typeface="Courier New"/>
                <a:ea typeface="Courier New"/>
                <a:cs typeface="Courier New"/>
                <a:sym typeface="Courier New"/>
              </a:rPr>
              <a:t>i</a:t>
            </a:r>
            <a:r>
              <a:rPr b="1" lang="es" sz="1205">
                <a:latin typeface="Courier New"/>
                <a:ea typeface="Courier New"/>
                <a:cs typeface="Courier New"/>
                <a:sym typeface="Courier New"/>
              </a:rPr>
              <a:t>tem[1]: </a:t>
            </a:r>
            <a:r>
              <a:rPr lang="es" sz="1205"/>
              <a:t>La expresión que devuelve el valor. Aquí, accede al segundo elemento de la tupla, que es la edad,</a:t>
            </a:r>
            <a:endParaRPr sz="1205"/>
          </a:p>
        </p:txBody>
      </p:sp>
      <p:pic>
        <p:nvPicPr>
          <p:cNvPr id="240" name="Google Shape;240;p32"/>
          <p:cNvPicPr preferRelativeResize="0"/>
          <p:nvPr/>
        </p:nvPicPr>
        <p:blipFill>
          <a:blip r:embed="rId3">
            <a:alphaModFix/>
          </a:blip>
          <a:stretch>
            <a:fillRect/>
          </a:stretch>
        </p:blipFill>
        <p:spPr>
          <a:xfrm>
            <a:off x="729325" y="1237075"/>
            <a:ext cx="6672651" cy="20334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3"/>
          <p:cNvSpPr txBox="1"/>
          <p:nvPr>
            <p:ph type="title"/>
          </p:nvPr>
        </p:nvSpPr>
        <p:spPr>
          <a:xfrm>
            <a:off x="830400" y="6560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Retomemos el paradigma Declarativo / Funcional</a:t>
            </a:r>
            <a:endParaRPr/>
          </a:p>
        </p:txBody>
      </p:sp>
      <p:sp>
        <p:nvSpPr>
          <p:cNvPr id="246" name="Google Shape;246;p33"/>
          <p:cNvSpPr txBox="1"/>
          <p:nvPr>
            <p:ph idx="1" type="body"/>
          </p:nvPr>
        </p:nvSpPr>
        <p:spPr>
          <a:xfrm>
            <a:off x="216000" y="1237075"/>
            <a:ext cx="3870900" cy="26490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853"/>
              <a:buNone/>
            </a:pPr>
            <a:r>
              <a:rPr b="1" i="1" lang="es" sz="1200">
                <a:solidFill>
                  <a:srgbClr val="000000"/>
                </a:solidFill>
              </a:rPr>
              <a:t>En JavaScript:</a:t>
            </a:r>
            <a:endParaRPr b="1" i="1" sz="1200">
              <a:solidFill>
                <a:srgbClr val="000000"/>
              </a:solidFill>
            </a:endParaRPr>
          </a:p>
          <a:p>
            <a:pPr indent="0" lvl="0" marL="0" rtl="0" algn="l">
              <a:lnSpc>
                <a:spcPct val="105000"/>
              </a:lnSpc>
              <a:spcBef>
                <a:spcPts val="1200"/>
              </a:spcBef>
              <a:spcAft>
                <a:spcPts val="0"/>
              </a:spcAft>
              <a:buSzPts val="853"/>
              <a:buNone/>
            </a:pPr>
            <a:r>
              <a:rPr lang="es" sz="1200">
                <a:solidFill>
                  <a:srgbClr val="000000"/>
                </a:solidFill>
              </a:rPr>
              <a:t>El método </a:t>
            </a:r>
            <a:r>
              <a:rPr lang="es" sz="1200">
                <a:solidFill>
                  <a:srgbClr val="188038"/>
                </a:solidFill>
              </a:rPr>
              <a:t>reduce()</a:t>
            </a:r>
            <a:r>
              <a:rPr lang="es" sz="1200">
                <a:solidFill>
                  <a:srgbClr val="000000"/>
                </a:solidFill>
              </a:rPr>
              <a:t> es una función de orden superior. Itera sobre cada elemento del array y lo "reduce" a un único valor. </a:t>
            </a:r>
            <a:endParaRPr sz="1200">
              <a:solidFill>
                <a:srgbClr val="000000"/>
              </a:solidFill>
            </a:endParaRPr>
          </a:p>
          <a:p>
            <a:pPr indent="0" lvl="0" marL="0" rtl="0" algn="l">
              <a:lnSpc>
                <a:spcPct val="105000"/>
              </a:lnSpc>
              <a:spcBef>
                <a:spcPts val="1200"/>
              </a:spcBef>
              <a:spcAft>
                <a:spcPts val="0"/>
              </a:spcAft>
              <a:buSzPts val="853"/>
              <a:buNone/>
            </a:pPr>
            <a:r>
              <a:rPr lang="es" sz="1200">
                <a:solidFill>
                  <a:srgbClr val="000000"/>
                </a:solidFill>
              </a:rPr>
              <a:t>Se requiere: una </a:t>
            </a:r>
            <a:r>
              <a:rPr b="1" lang="es" sz="1200">
                <a:solidFill>
                  <a:srgbClr val="000000"/>
                </a:solidFill>
              </a:rPr>
              <a:t>función callback</a:t>
            </a:r>
            <a:r>
              <a:rPr lang="es" sz="1200">
                <a:solidFill>
                  <a:srgbClr val="000000"/>
                </a:solidFill>
              </a:rPr>
              <a:t>: </a:t>
            </a:r>
            <a:r>
              <a:rPr lang="es" sz="1200">
                <a:solidFill>
                  <a:srgbClr val="188038"/>
                </a:solidFill>
              </a:rPr>
              <a:t>(acumulador, valorActual) =&gt; acumulador + valorActual</a:t>
            </a:r>
            <a:r>
              <a:rPr lang="es" sz="1200">
                <a:solidFill>
                  <a:srgbClr val="000000"/>
                </a:solidFill>
              </a:rPr>
              <a:t>; y un </a:t>
            </a:r>
            <a:r>
              <a:rPr b="1" lang="es" sz="1200">
                <a:solidFill>
                  <a:srgbClr val="000000"/>
                </a:solidFill>
              </a:rPr>
              <a:t>valor inicial</a:t>
            </a:r>
            <a:r>
              <a:rPr lang="es" sz="1200">
                <a:solidFill>
                  <a:srgbClr val="000000"/>
                </a:solidFill>
              </a:rPr>
              <a:t>: </a:t>
            </a:r>
            <a:r>
              <a:rPr lang="es" sz="1200">
                <a:solidFill>
                  <a:srgbClr val="188038"/>
                </a:solidFill>
              </a:rPr>
              <a:t>0 </a:t>
            </a:r>
            <a:r>
              <a:rPr lang="es" sz="1200">
                <a:solidFill>
                  <a:srgbClr val="000000"/>
                </a:solidFill>
              </a:rPr>
              <a:t>del acumulador.</a:t>
            </a:r>
            <a:endParaRPr sz="1200">
              <a:solidFill>
                <a:srgbClr val="000000"/>
              </a:solidFill>
            </a:endParaRPr>
          </a:p>
          <a:p>
            <a:pPr indent="0" lvl="0" marL="0" rtl="0" algn="l">
              <a:lnSpc>
                <a:spcPct val="105000"/>
              </a:lnSpc>
              <a:spcBef>
                <a:spcPts val="1200"/>
              </a:spcBef>
              <a:spcAft>
                <a:spcPts val="0"/>
              </a:spcAft>
              <a:buSzPts val="853"/>
              <a:buNone/>
            </a:pPr>
            <a:r>
              <a:rPr b="1" lang="es" sz="1200">
                <a:solidFill>
                  <a:srgbClr val="000000"/>
                </a:solidFill>
              </a:rPr>
              <a:t>La función callback: </a:t>
            </a:r>
            <a:r>
              <a:rPr b="1" lang="es" sz="1200">
                <a:solidFill>
                  <a:srgbClr val="188038"/>
                </a:solidFill>
              </a:rPr>
              <a:t>(acumulador, valorActual) =&gt; acumulador + valorActual</a:t>
            </a:r>
            <a:r>
              <a:rPr lang="es" sz="1200">
                <a:solidFill>
                  <a:srgbClr val="000000"/>
                </a:solidFill>
              </a:rPr>
              <a:t> . Es una función de flecha (arrow function) que define la operación a realizar.</a:t>
            </a:r>
            <a:endParaRPr sz="1200">
              <a:solidFill>
                <a:srgbClr val="000000"/>
              </a:solidFill>
            </a:endParaRPr>
          </a:p>
          <a:p>
            <a:pPr indent="0" lvl="0" marL="0" rtl="0" algn="l">
              <a:lnSpc>
                <a:spcPct val="105000"/>
              </a:lnSpc>
              <a:spcBef>
                <a:spcPts val="0"/>
              </a:spcBef>
              <a:spcAft>
                <a:spcPts val="1200"/>
              </a:spcAft>
              <a:buSzPts val="853"/>
              <a:buNone/>
            </a:pPr>
            <a:r>
              <a:t/>
            </a:r>
            <a:endParaRPr sz="1208"/>
          </a:p>
        </p:txBody>
      </p:sp>
      <p:sp>
        <p:nvSpPr>
          <p:cNvPr id="247" name="Google Shape;247;p33"/>
          <p:cNvSpPr txBox="1"/>
          <p:nvPr>
            <p:ph idx="2" type="body"/>
          </p:nvPr>
        </p:nvSpPr>
        <p:spPr>
          <a:xfrm>
            <a:off x="4643600" y="1237075"/>
            <a:ext cx="3774300" cy="3102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1200">
                <a:solidFill>
                  <a:srgbClr val="000000"/>
                </a:solidFill>
              </a:rPr>
              <a:t>Trata la computación como la evaluación de </a:t>
            </a:r>
            <a:r>
              <a:rPr b="1" lang="es" sz="1200">
                <a:solidFill>
                  <a:srgbClr val="000000"/>
                </a:solidFill>
              </a:rPr>
              <a:t>funciones matemáticas</a:t>
            </a:r>
            <a:r>
              <a:rPr lang="es" sz="1200">
                <a:solidFill>
                  <a:srgbClr val="000000"/>
                </a:solidFill>
              </a:rPr>
              <a:t> y evita el cambio de estado y los datos mutables.</a:t>
            </a:r>
            <a:endParaRPr sz="1200">
              <a:solidFill>
                <a:srgbClr val="000000"/>
              </a:solidFill>
            </a:endParaRPr>
          </a:p>
          <a:p>
            <a:pPr indent="0" lvl="0" marL="0" rtl="0" algn="l">
              <a:spcBef>
                <a:spcPts val="1200"/>
              </a:spcBef>
              <a:spcAft>
                <a:spcPts val="0"/>
              </a:spcAft>
              <a:buNone/>
            </a:pPr>
            <a:r>
              <a:rPr b="1" lang="es" sz="1200">
                <a:solidFill>
                  <a:srgbClr val="000000"/>
                </a:solidFill>
              </a:rPr>
              <a:t>Las funciones permiten abstraer</a:t>
            </a:r>
            <a:r>
              <a:rPr lang="es" sz="1200">
                <a:solidFill>
                  <a:srgbClr val="000000"/>
                </a:solidFill>
              </a:rPr>
              <a:t> la complejidad de una tarea. </a:t>
            </a:r>
            <a:endParaRPr sz="1200">
              <a:solidFill>
                <a:srgbClr val="000000"/>
              </a:solidFill>
            </a:endParaRPr>
          </a:p>
          <a:p>
            <a:pPr indent="0" lvl="0" marL="0" rtl="0" algn="l">
              <a:spcBef>
                <a:spcPts val="1200"/>
              </a:spcBef>
              <a:spcAft>
                <a:spcPts val="1200"/>
              </a:spcAft>
              <a:buNone/>
            </a:pPr>
            <a:r>
              <a:rPr lang="es" sz="1200">
                <a:solidFill>
                  <a:srgbClr val="000000"/>
                </a:solidFill>
              </a:rPr>
              <a:t>Puedes usar una función sin necesidad de saber exactamente cómo está implementada por dentro. Esto divide el problema grande en partes más pequeñas y manejables, lo que se conoce como </a:t>
            </a:r>
            <a:r>
              <a:rPr b="1" lang="es" sz="1200">
                <a:solidFill>
                  <a:srgbClr val="000000"/>
                </a:solidFill>
              </a:rPr>
              <a:t>modularidad</a:t>
            </a:r>
            <a:r>
              <a:rPr lang="es" sz="1200">
                <a:solidFill>
                  <a:srgbClr val="000000"/>
                </a:solidFill>
              </a:rPr>
              <a:t>.</a:t>
            </a:r>
            <a:endParaRPr sz="1200">
              <a:solidFill>
                <a:srgbClr val="000000"/>
              </a:solidFill>
            </a:endParaRPr>
          </a:p>
        </p:txBody>
      </p:sp>
      <p:pic>
        <p:nvPicPr>
          <p:cNvPr id="248" name="Google Shape;248;p33"/>
          <p:cNvPicPr preferRelativeResize="0"/>
          <p:nvPr/>
        </p:nvPicPr>
        <p:blipFill>
          <a:blip r:embed="rId3">
            <a:alphaModFix/>
          </a:blip>
          <a:stretch>
            <a:fillRect/>
          </a:stretch>
        </p:blipFill>
        <p:spPr>
          <a:xfrm>
            <a:off x="301525" y="3811225"/>
            <a:ext cx="6781726" cy="9964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type="title"/>
          </p:nvPr>
        </p:nvSpPr>
        <p:spPr>
          <a:xfrm>
            <a:off x="830400" y="6560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Otro ejemplo en JavaScript</a:t>
            </a:r>
            <a:endParaRPr/>
          </a:p>
        </p:txBody>
      </p:sp>
      <p:sp>
        <p:nvSpPr>
          <p:cNvPr id="254" name="Google Shape;254;p34"/>
          <p:cNvSpPr txBox="1"/>
          <p:nvPr>
            <p:ph idx="1" type="body"/>
          </p:nvPr>
        </p:nvSpPr>
        <p:spPr>
          <a:xfrm>
            <a:off x="365700" y="1237075"/>
            <a:ext cx="4137900" cy="38571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0"/>
              </a:spcAft>
              <a:buNone/>
            </a:pPr>
            <a:r>
              <a:rPr lang="es">
                <a:solidFill>
                  <a:srgbClr val="000000"/>
                </a:solidFill>
              </a:rPr>
              <a:t>Las funciones de orden superior son clave porque permiten la </a:t>
            </a:r>
            <a:r>
              <a:rPr b="1" lang="es">
                <a:solidFill>
                  <a:srgbClr val="000000"/>
                </a:solidFill>
              </a:rPr>
              <a:t>abstracción de comportamiento</a:t>
            </a:r>
            <a:r>
              <a:rPr lang="es">
                <a:solidFill>
                  <a:srgbClr val="000000"/>
                </a:solidFill>
              </a:rPr>
              <a:t>. </a:t>
            </a:r>
            <a:endParaRPr>
              <a:solidFill>
                <a:srgbClr val="000000"/>
              </a:solidFill>
            </a:endParaRPr>
          </a:p>
          <a:p>
            <a:pPr indent="0" lvl="0" marL="0" rtl="0" algn="l">
              <a:lnSpc>
                <a:spcPct val="150000"/>
              </a:lnSpc>
              <a:spcBef>
                <a:spcPts val="1200"/>
              </a:spcBef>
              <a:spcAft>
                <a:spcPts val="0"/>
              </a:spcAft>
              <a:buNone/>
            </a:pPr>
            <a:r>
              <a:rPr lang="es">
                <a:solidFill>
                  <a:srgbClr val="000000"/>
                </a:solidFill>
              </a:rPr>
              <a:t>En lugar de repetir la misma estructura de bucle con ligeras variaciones, se puede pasar la parte variable (la operación específica) como una función. </a:t>
            </a:r>
            <a:endParaRPr>
              <a:solidFill>
                <a:srgbClr val="000000"/>
              </a:solidFill>
            </a:endParaRPr>
          </a:p>
          <a:p>
            <a:pPr indent="0" lvl="0" marL="0" rtl="0" algn="l">
              <a:lnSpc>
                <a:spcPct val="150000"/>
              </a:lnSpc>
              <a:spcBef>
                <a:spcPts val="1200"/>
              </a:spcBef>
              <a:spcAft>
                <a:spcPts val="0"/>
              </a:spcAft>
              <a:buNone/>
            </a:pPr>
            <a:r>
              <a:rPr lang="es">
                <a:solidFill>
                  <a:srgbClr val="000000"/>
                </a:solidFill>
              </a:rPr>
              <a:t>Esto hace que el código sea más flexible, reutilizable y a menudo más legible.</a:t>
            </a:r>
            <a:endParaRPr>
              <a:solidFill>
                <a:srgbClr val="000000"/>
              </a:solidFill>
            </a:endParaRPr>
          </a:p>
          <a:p>
            <a:pPr indent="0" lvl="0" marL="0" rtl="0" algn="l">
              <a:lnSpc>
                <a:spcPct val="150000"/>
              </a:lnSpc>
              <a:spcBef>
                <a:spcPts val="1200"/>
              </a:spcBef>
              <a:spcAft>
                <a:spcPts val="1200"/>
              </a:spcAft>
              <a:buNone/>
            </a:pPr>
            <a:r>
              <a:rPr lang="es">
                <a:solidFill>
                  <a:srgbClr val="000000"/>
                </a:solidFill>
              </a:rPr>
              <a:t>En JavaScript tenemos la función</a:t>
            </a:r>
            <a:r>
              <a:rPr b="1" lang="es">
                <a:solidFill>
                  <a:srgbClr val="000000"/>
                </a:solidFill>
              </a:rPr>
              <a:t> </a:t>
            </a:r>
            <a:r>
              <a:rPr b="1" i="1" lang="es">
                <a:solidFill>
                  <a:srgbClr val="000000"/>
                </a:solidFill>
              </a:rPr>
              <a:t>Array.prototype.map()</a:t>
            </a:r>
            <a:r>
              <a:rPr lang="es">
                <a:solidFill>
                  <a:srgbClr val="000000"/>
                </a:solidFill>
              </a:rPr>
              <a:t>. Su propósito es aplicar una función a cada elemento de un array y devolver un nuevo array con los resultados.</a:t>
            </a:r>
            <a:endParaRPr>
              <a:solidFill>
                <a:srgbClr val="000000"/>
              </a:solidFill>
            </a:endParaRPr>
          </a:p>
        </p:txBody>
      </p:sp>
      <p:sp>
        <p:nvSpPr>
          <p:cNvPr id="255" name="Google Shape;255;p34"/>
          <p:cNvSpPr txBox="1"/>
          <p:nvPr>
            <p:ph idx="2" type="body"/>
          </p:nvPr>
        </p:nvSpPr>
        <p:spPr>
          <a:xfrm>
            <a:off x="4643600" y="1237075"/>
            <a:ext cx="3774300" cy="31029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0"/>
              </a:spcAft>
              <a:buNone/>
            </a:pPr>
            <a:r>
              <a:rPr lang="es">
                <a:solidFill>
                  <a:srgbClr val="000000"/>
                </a:solidFill>
              </a:rPr>
              <a:t>En este ejemplo, </a:t>
            </a:r>
            <a:r>
              <a:rPr lang="es">
                <a:solidFill>
                  <a:srgbClr val="188038"/>
                </a:solidFill>
              </a:rPr>
              <a:t>map()</a:t>
            </a:r>
            <a:r>
              <a:rPr lang="es">
                <a:solidFill>
                  <a:srgbClr val="000000"/>
                </a:solidFill>
              </a:rPr>
              <a:t> no realiza la multiplicación por sí misma. </a:t>
            </a:r>
            <a:endParaRPr>
              <a:solidFill>
                <a:srgbClr val="000000"/>
              </a:solidFill>
            </a:endParaRPr>
          </a:p>
          <a:p>
            <a:pPr indent="0" lvl="0" marL="0" rtl="0" algn="l">
              <a:lnSpc>
                <a:spcPct val="150000"/>
              </a:lnSpc>
              <a:spcBef>
                <a:spcPts val="1200"/>
              </a:spcBef>
              <a:spcAft>
                <a:spcPts val="0"/>
              </a:spcAft>
              <a:buNone/>
            </a:pPr>
            <a:r>
              <a:rPr lang="es">
                <a:solidFill>
                  <a:srgbClr val="000000"/>
                </a:solidFill>
              </a:rPr>
              <a:t>En cambio, recibe la función </a:t>
            </a:r>
            <a:r>
              <a:rPr lang="es">
                <a:solidFill>
                  <a:srgbClr val="188038"/>
                </a:solidFill>
              </a:rPr>
              <a:t>elemento =&gt; elemento * 2</a:t>
            </a:r>
            <a:r>
              <a:rPr lang="es">
                <a:solidFill>
                  <a:srgbClr val="000000"/>
                </a:solidFill>
              </a:rPr>
              <a:t> y la aplica a cada elemento del array. </a:t>
            </a:r>
            <a:endParaRPr>
              <a:solidFill>
                <a:srgbClr val="000000"/>
              </a:solidFill>
            </a:endParaRPr>
          </a:p>
          <a:p>
            <a:pPr indent="0" lvl="0" marL="0" rtl="0" algn="l">
              <a:lnSpc>
                <a:spcPct val="150000"/>
              </a:lnSpc>
              <a:spcBef>
                <a:spcPts val="1200"/>
              </a:spcBef>
              <a:spcAft>
                <a:spcPts val="1200"/>
              </a:spcAft>
              <a:buNone/>
            </a:pPr>
            <a:r>
              <a:rPr lang="es">
                <a:solidFill>
                  <a:srgbClr val="000000"/>
                </a:solidFill>
              </a:rPr>
              <a:t>Esto es más declarativo y conciso que usar un bucle </a:t>
            </a:r>
            <a:r>
              <a:rPr lang="es">
                <a:solidFill>
                  <a:srgbClr val="188038"/>
                </a:solidFill>
              </a:rPr>
              <a:t>for</a:t>
            </a:r>
            <a:r>
              <a:rPr lang="es">
                <a:solidFill>
                  <a:srgbClr val="000000"/>
                </a:solidFill>
              </a:rPr>
              <a:t> tradicional.</a:t>
            </a:r>
            <a:endParaRPr sz="1500"/>
          </a:p>
        </p:txBody>
      </p:sp>
      <p:pic>
        <p:nvPicPr>
          <p:cNvPr id="256" name="Google Shape;256;p34"/>
          <p:cNvPicPr preferRelativeResize="0"/>
          <p:nvPr/>
        </p:nvPicPr>
        <p:blipFill>
          <a:blip r:embed="rId3">
            <a:alphaModFix/>
          </a:blip>
          <a:stretch>
            <a:fillRect/>
          </a:stretch>
        </p:blipFill>
        <p:spPr>
          <a:xfrm>
            <a:off x="4729150" y="3738900"/>
            <a:ext cx="4122999" cy="5352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5"/>
          <p:cNvSpPr txBox="1"/>
          <p:nvPr>
            <p:ph type="title"/>
          </p:nvPr>
        </p:nvSpPr>
        <p:spPr>
          <a:xfrm>
            <a:off x="830400" y="6560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Otro ejemplo en Python</a:t>
            </a:r>
            <a:endParaRPr/>
          </a:p>
        </p:txBody>
      </p:sp>
      <p:sp>
        <p:nvSpPr>
          <p:cNvPr id="262" name="Google Shape;262;p35"/>
          <p:cNvSpPr txBox="1"/>
          <p:nvPr>
            <p:ph idx="1" type="body"/>
          </p:nvPr>
        </p:nvSpPr>
        <p:spPr>
          <a:xfrm>
            <a:off x="729325" y="1237075"/>
            <a:ext cx="3774300" cy="3102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solidFill>
                  <a:srgbClr val="000000"/>
                </a:solidFill>
              </a:rPr>
              <a:t>Aquí, </a:t>
            </a:r>
            <a:r>
              <a:rPr lang="es">
                <a:solidFill>
                  <a:srgbClr val="188038"/>
                </a:solidFill>
              </a:rPr>
              <a:t>sorted()</a:t>
            </a:r>
            <a:r>
              <a:rPr lang="es">
                <a:solidFill>
                  <a:srgbClr val="000000"/>
                </a:solidFill>
              </a:rPr>
              <a:t> es la función de orden superior.</a:t>
            </a:r>
            <a:endParaRPr>
              <a:solidFill>
                <a:srgbClr val="000000"/>
              </a:solidFill>
            </a:endParaRPr>
          </a:p>
          <a:p>
            <a:pPr indent="0" lvl="0" marL="0" rtl="0" algn="l">
              <a:spcBef>
                <a:spcPts val="1200"/>
              </a:spcBef>
              <a:spcAft>
                <a:spcPts val="1200"/>
              </a:spcAft>
              <a:buNone/>
            </a:pPr>
            <a:r>
              <a:rPr lang="es">
                <a:solidFill>
                  <a:srgbClr val="000000"/>
                </a:solidFill>
              </a:rPr>
              <a:t>La función </a:t>
            </a:r>
            <a:r>
              <a:rPr lang="es">
                <a:solidFill>
                  <a:srgbClr val="188038"/>
                </a:solidFill>
              </a:rPr>
              <a:t>lambda</a:t>
            </a:r>
            <a:r>
              <a:rPr lang="es">
                <a:solidFill>
                  <a:srgbClr val="000000"/>
                </a:solidFill>
              </a:rPr>
              <a:t> tiene el argumento </a:t>
            </a:r>
            <a:r>
              <a:rPr lang="es">
                <a:solidFill>
                  <a:srgbClr val="188038"/>
                </a:solidFill>
              </a:rPr>
              <a:t>key</a:t>
            </a:r>
            <a:r>
              <a:rPr lang="es">
                <a:solidFill>
                  <a:srgbClr val="000000"/>
                </a:solidFill>
              </a:rPr>
              <a:t> y le dice a </a:t>
            </a:r>
            <a:r>
              <a:rPr lang="es">
                <a:solidFill>
                  <a:srgbClr val="188038"/>
                </a:solidFill>
              </a:rPr>
              <a:t>sorted()</a:t>
            </a:r>
            <a:r>
              <a:rPr lang="es">
                <a:solidFill>
                  <a:srgbClr val="000000"/>
                </a:solidFill>
              </a:rPr>
              <a:t> contra qué debe realizar la comparación de los elementos. </a:t>
            </a:r>
            <a:endParaRPr/>
          </a:p>
        </p:txBody>
      </p:sp>
      <p:pic>
        <p:nvPicPr>
          <p:cNvPr id="263" name="Google Shape;263;p35"/>
          <p:cNvPicPr preferRelativeResize="0"/>
          <p:nvPr/>
        </p:nvPicPr>
        <p:blipFill>
          <a:blip r:embed="rId3">
            <a:alphaModFix/>
          </a:blip>
          <a:stretch>
            <a:fillRect/>
          </a:stretch>
        </p:blipFill>
        <p:spPr>
          <a:xfrm>
            <a:off x="2078475" y="2644630"/>
            <a:ext cx="5192225" cy="21395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6"/>
          <p:cNvSpPr txBox="1"/>
          <p:nvPr>
            <p:ph type="title"/>
          </p:nvPr>
        </p:nvSpPr>
        <p:spPr>
          <a:xfrm>
            <a:off x="841100" y="3245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Otro ejemplo de Python (zona gris imperativo + declarativo)</a:t>
            </a:r>
            <a:endParaRPr/>
          </a:p>
        </p:txBody>
      </p:sp>
      <p:sp>
        <p:nvSpPr>
          <p:cNvPr id="269" name="Google Shape;269;p36"/>
          <p:cNvSpPr txBox="1"/>
          <p:nvPr>
            <p:ph idx="1" type="body"/>
          </p:nvPr>
        </p:nvSpPr>
        <p:spPr>
          <a:xfrm>
            <a:off x="729325" y="1237075"/>
            <a:ext cx="3774300" cy="3102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De manera similar, reduce aplica la función sumar de forma acumulativa, sin mutar datos.</a:t>
            </a:r>
            <a:endParaRPr/>
          </a:p>
        </p:txBody>
      </p:sp>
      <p:sp>
        <p:nvSpPr>
          <p:cNvPr id="270" name="Google Shape;270;p36"/>
          <p:cNvSpPr txBox="1"/>
          <p:nvPr>
            <p:ph idx="2" type="body"/>
          </p:nvPr>
        </p:nvSpPr>
        <p:spPr>
          <a:xfrm>
            <a:off x="4643600" y="1237075"/>
            <a:ext cx="4170000" cy="3906300"/>
          </a:xfrm>
          <a:prstGeom prst="rect">
            <a:avLst/>
          </a:prstGeom>
        </p:spPr>
        <p:txBody>
          <a:bodyPr anchorCtr="0" anchor="t" bIns="91425" lIns="91425" spcFirstLastPara="1" rIns="91425" wrap="square" tIns="91425">
            <a:noAutofit/>
          </a:bodyPr>
          <a:lstStyle/>
          <a:p>
            <a:pPr indent="0" lvl="0" marL="0" rtl="0" algn="l">
              <a:lnSpc>
                <a:spcPct val="150000"/>
              </a:lnSpc>
              <a:spcBef>
                <a:spcPts val="1200"/>
              </a:spcBef>
              <a:spcAft>
                <a:spcPts val="0"/>
              </a:spcAft>
              <a:buNone/>
            </a:pPr>
            <a:r>
              <a:rPr lang="es">
                <a:solidFill>
                  <a:srgbClr val="000000"/>
                </a:solidFill>
              </a:rPr>
              <a:t>La función </a:t>
            </a:r>
            <a:r>
              <a:rPr lang="es">
                <a:solidFill>
                  <a:srgbClr val="188038"/>
                </a:solidFill>
              </a:rPr>
              <a:t>reduce()</a:t>
            </a:r>
            <a:r>
              <a:rPr lang="es">
                <a:solidFill>
                  <a:srgbClr val="000000"/>
                </a:solidFill>
              </a:rPr>
              <a:t> opera de la siguiente manera:</a:t>
            </a:r>
            <a:endParaRPr>
              <a:solidFill>
                <a:srgbClr val="000000"/>
              </a:solidFill>
            </a:endParaRPr>
          </a:p>
          <a:p>
            <a:pPr indent="-311150" lvl="0" marL="457200" rtl="0" algn="l">
              <a:lnSpc>
                <a:spcPct val="150000"/>
              </a:lnSpc>
              <a:spcBef>
                <a:spcPts val="1200"/>
              </a:spcBef>
              <a:spcAft>
                <a:spcPts val="0"/>
              </a:spcAft>
              <a:buClr>
                <a:srgbClr val="000000"/>
              </a:buClr>
              <a:buSzPts val="1300"/>
              <a:buFont typeface="Arial"/>
              <a:buChar char="●"/>
            </a:pPr>
            <a:r>
              <a:rPr lang="es">
                <a:solidFill>
                  <a:srgbClr val="000000"/>
                </a:solidFill>
              </a:rPr>
              <a:t>Toma los dos primeros elementos de la lista (</a:t>
            </a:r>
            <a:r>
              <a:rPr lang="es">
                <a:solidFill>
                  <a:srgbClr val="188038"/>
                </a:solidFill>
              </a:rPr>
              <a:t>1</a:t>
            </a:r>
            <a:r>
              <a:rPr lang="es">
                <a:solidFill>
                  <a:srgbClr val="000000"/>
                </a:solidFill>
              </a:rPr>
              <a:t> y </a:t>
            </a:r>
            <a:r>
              <a:rPr lang="es">
                <a:solidFill>
                  <a:srgbClr val="188038"/>
                </a:solidFill>
              </a:rPr>
              <a:t>2</a:t>
            </a:r>
            <a:r>
              <a:rPr lang="es">
                <a:solidFill>
                  <a:srgbClr val="000000"/>
                </a:solidFill>
              </a:rPr>
              <a:t>) y se los pasa a la función </a:t>
            </a:r>
            <a:r>
              <a:rPr lang="es">
                <a:solidFill>
                  <a:srgbClr val="188038"/>
                </a:solidFill>
              </a:rPr>
              <a:t>sumar</a:t>
            </a:r>
            <a:r>
              <a:rPr lang="es">
                <a:solidFill>
                  <a:srgbClr val="000000"/>
                </a:solidFill>
              </a:rPr>
              <a:t>. El resultado es </a:t>
            </a:r>
            <a:r>
              <a:rPr lang="es">
                <a:solidFill>
                  <a:srgbClr val="188038"/>
                </a:solidFill>
              </a:rPr>
              <a:t>3</a:t>
            </a:r>
            <a:r>
              <a:rPr lang="es">
                <a:solidFill>
                  <a:srgbClr val="000000"/>
                </a:solidFill>
              </a:rPr>
              <a:t>.</a:t>
            </a:r>
            <a:endParaRPr>
              <a:solidFill>
                <a:srgbClr val="000000"/>
              </a:solidFill>
            </a:endParaRPr>
          </a:p>
          <a:p>
            <a:pPr indent="-311150" lvl="0" marL="457200" rtl="0" algn="l">
              <a:lnSpc>
                <a:spcPct val="150000"/>
              </a:lnSpc>
              <a:spcBef>
                <a:spcPts val="0"/>
              </a:spcBef>
              <a:spcAft>
                <a:spcPts val="0"/>
              </a:spcAft>
              <a:buClr>
                <a:srgbClr val="000000"/>
              </a:buClr>
              <a:buSzPts val="1300"/>
              <a:buFont typeface="Arial"/>
              <a:buChar char="●"/>
            </a:pPr>
            <a:r>
              <a:rPr lang="es">
                <a:solidFill>
                  <a:srgbClr val="000000"/>
                </a:solidFill>
              </a:rPr>
              <a:t>El resultado (</a:t>
            </a:r>
            <a:r>
              <a:rPr lang="es">
                <a:solidFill>
                  <a:srgbClr val="188038"/>
                </a:solidFill>
              </a:rPr>
              <a:t>3</a:t>
            </a:r>
            <a:r>
              <a:rPr lang="es">
                <a:solidFill>
                  <a:srgbClr val="000000"/>
                </a:solidFill>
              </a:rPr>
              <a:t>) se convierte en el primer argumento para la siguiente llamada a </a:t>
            </a:r>
            <a:r>
              <a:rPr lang="es">
                <a:solidFill>
                  <a:srgbClr val="188038"/>
                </a:solidFill>
              </a:rPr>
              <a:t>sumar</a:t>
            </a:r>
            <a:r>
              <a:rPr lang="es">
                <a:solidFill>
                  <a:srgbClr val="000000"/>
                </a:solidFill>
              </a:rPr>
              <a:t>, y el siguiente elemento de la lista (</a:t>
            </a:r>
            <a:r>
              <a:rPr lang="es">
                <a:solidFill>
                  <a:srgbClr val="188038"/>
                </a:solidFill>
              </a:rPr>
              <a:t>3</a:t>
            </a:r>
            <a:r>
              <a:rPr lang="es">
                <a:solidFill>
                  <a:srgbClr val="000000"/>
                </a:solidFill>
              </a:rPr>
              <a:t>) se convierte en el segundo. El resultado es </a:t>
            </a:r>
            <a:r>
              <a:rPr lang="es">
                <a:solidFill>
                  <a:srgbClr val="188038"/>
                </a:solidFill>
              </a:rPr>
              <a:t>6</a:t>
            </a:r>
            <a:r>
              <a:rPr lang="es">
                <a:solidFill>
                  <a:srgbClr val="000000"/>
                </a:solidFill>
              </a:rPr>
              <a:t> (</a:t>
            </a:r>
            <a:r>
              <a:rPr lang="es">
                <a:solidFill>
                  <a:srgbClr val="188038"/>
                </a:solidFill>
              </a:rPr>
              <a:t>3 + 3</a:t>
            </a:r>
            <a:r>
              <a:rPr lang="es">
                <a:solidFill>
                  <a:srgbClr val="000000"/>
                </a:solidFill>
              </a:rPr>
              <a:t>).</a:t>
            </a:r>
            <a:endParaRPr>
              <a:solidFill>
                <a:srgbClr val="000000"/>
              </a:solidFill>
            </a:endParaRPr>
          </a:p>
          <a:p>
            <a:pPr indent="-311150" lvl="0" marL="457200" rtl="0" algn="l">
              <a:lnSpc>
                <a:spcPct val="150000"/>
              </a:lnSpc>
              <a:spcBef>
                <a:spcPts val="0"/>
              </a:spcBef>
              <a:spcAft>
                <a:spcPts val="0"/>
              </a:spcAft>
              <a:buClr>
                <a:srgbClr val="000000"/>
              </a:buClr>
              <a:buSzPts val="1300"/>
              <a:buFont typeface="Lato"/>
              <a:buChar char="●"/>
            </a:pPr>
            <a:r>
              <a:rPr lang="es">
                <a:solidFill>
                  <a:srgbClr val="000000"/>
                </a:solidFill>
              </a:rPr>
              <a:t>Este proceso continúa hasta que todos los elementos de la lista han sido procesados, </a:t>
            </a:r>
            <a:r>
              <a:rPr b="1" lang="es">
                <a:solidFill>
                  <a:srgbClr val="000000"/>
                </a:solidFill>
              </a:rPr>
              <a:t>"reduciendo" la lista a un solo valor final.</a:t>
            </a:r>
            <a:endParaRPr b="1">
              <a:solidFill>
                <a:srgbClr val="000000"/>
              </a:solidFill>
            </a:endParaRPr>
          </a:p>
          <a:p>
            <a:pPr indent="0" lvl="0" marL="0" rtl="0" algn="l">
              <a:lnSpc>
                <a:spcPct val="150000"/>
              </a:lnSpc>
              <a:spcBef>
                <a:spcPts val="1200"/>
              </a:spcBef>
              <a:spcAft>
                <a:spcPts val="1200"/>
              </a:spcAft>
              <a:buNone/>
            </a:pPr>
            <a:r>
              <a:t/>
            </a:r>
            <a:endParaRPr sz="1500"/>
          </a:p>
        </p:txBody>
      </p:sp>
      <p:pic>
        <p:nvPicPr>
          <p:cNvPr id="271" name="Google Shape;271;p36"/>
          <p:cNvPicPr preferRelativeResize="0"/>
          <p:nvPr/>
        </p:nvPicPr>
        <p:blipFill>
          <a:blip r:embed="rId3">
            <a:alphaModFix/>
          </a:blip>
          <a:stretch>
            <a:fillRect/>
          </a:stretch>
        </p:blipFill>
        <p:spPr>
          <a:xfrm>
            <a:off x="841096" y="2250900"/>
            <a:ext cx="3131075" cy="22873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7"/>
          <p:cNvSpPr txBox="1"/>
          <p:nvPr>
            <p:ph type="title"/>
          </p:nvPr>
        </p:nvSpPr>
        <p:spPr>
          <a:xfrm>
            <a:off x="830400" y="314375"/>
            <a:ext cx="7688400" cy="876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A</a:t>
            </a:r>
            <a:r>
              <a:rPr lang="es"/>
              <a:t>lgunos lenguajes de programación y sistemas que son reconocidos por su naturaleza declarativa,</a:t>
            </a:r>
            <a:endParaRPr/>
          </a:p>
        </p:txBody>
      </p:sp>
      <p:sp>
        <p:nvSpPr>
          <p:cNvPr id="277" name="Google Shape;277;p37"/>
          <p:cNvSpPr txBox="1"/>
          <p:nvPr>
            <p:ph idx="1" type="body"/>
          </p:nvPr>
        </p:nvSpPr>
        <p:spPr>
          <a:xfrm>
            <a:off x="365700" y="1237075"/>
            <a:ext cx="4137900" cy="3906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i="1" lang="es"/>
              <a:t>SQL </a:t>
            </a:r>
            <a:r>
              <a:rPr lang="es"/>
              <a:t>es un lenguaje declarativo de consulta para gestionar bases de datos relacionales. </a:t>
            </a:r>
            <a:endParaRPr/>
          </a:p>
          <a:p>
            <a:pPr indent="-311150" lvl="0" marL="457200" rtl="0" algn="l">
              <a:spcBef>
                <a:spcPts val="1200"/>
              </a:spcBef>
              <a:spcAft>
                <a:spcPts val="0"/>
              </a:spcAft>
              <a:buSzPts val="1300"/>
              <a:buChar char="●"/>
            </a:pPr>
            <a:r>
              <a:rPr lang="es"/>
              <a:t>En lugar de especificar cómo la base de datos debe encontrar los datos (por ejemplo, recorriendo un índice o una tabla), el usuario simplemente declara el resultado deseado (SELECT qué, FROM dónde, WHERE con qué condiciones). </a:t>
            </a:r>
            <a:endParaRPr/>
          </a:p>
          <a:p>
            <a:pPr indent="-311150" lvl="0" marL="457200" rtl="0" algn="l">
              <a:spcBef>
                <a:spcPts val="0"/>
              </a:spcBef>
              <a:spcAft>
                <a:spcPts val="0"/>
              </a:spcAft>
              <a:buSzPts val="1300"/>
              <a:buChar char="●"/>
            </a:pPr>
            <a:r>
              <a:rPr lang="es"/>
              <a:t>El motor de la base de datos se encarga de optimizar y ejecutar la consulta de la forma más eficiente posible.</a:t>
            </a:r>
            <a:endParaRPr/>
          </a:p>
          <a:p>
            <a:pPr indent="-311150" lvl="0" marL="457200" rtl="0" algn="l">
              <a:spcBef>
                <a:spcPts val="0"/>
              </a:spcBef>
              <a:spcAft>
                <a:spcPts val="0"/>
              </a:spcAft>
              <a:buSzPts val="1300"/>
              <a:buChar char="●"/>
            </a:pPr>
            <a:r>
              <a:rPr lang="es"/>
              <a:t>SQLite, SQL Server, Oracle, Postgres…</a:t>
            </a:r>
            <a:endParaRPr/>
          </a:p>
        </p:txBody>
      </p:sp>
      <p:sp>
        <p:nvSpPr>
          <p:cNvPr id="278" name="Google Shape;278;p37"/>
          <p:cNvSpPr txBox="1"/>
          <p:nvPr>
            <p:ph idx="2" type="body"/>
          </p:nvPr>
        </p:nvSpPr>
        <p:spPr>
          <a:xfrm>
            <a:off x="4643600" y="1237075"/>
            <a:ext cx="4191300" cy="39063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0"/>
              </a:spcAft>
              <a:buNone/>
            </a:pPr>
            <a:r>
              <a:rPr lang="es"/>
              <a:t>HTML es un lenguaje declarativo de marcado (NO es de Programación) utilizado para crear la estructura de las páginas web. </a:t>
            </a:r>
            <a:endParaRPr/>
          </a:p>
          <a:p>
            <a:pPr indent="-311150" lvl="0" marL="457200" rtl="0" algn="l">
              <a:lnSpc>
                <a:spcPct val="150000"/>
              </a:lnSpc>
              <a:spcBef>
                <a:spcPts val="1200"/>
              </a:spcBef>
              <a:spcAft>
                <a:spcPts val="0"/>
              </a:spcAft>
              <a:buSzPts val="1300"/>
              <a:buChar char="●"/>
            </a:pPr>
            <a:r>
              <a:rPr lang="es"/>
              <a:t>Se  declara la estructura del documento (títulos, párrafos, listas, imágenes, etc.).</a:t>
            </a:r>
            <a:endParaRPr/>
          </a:p>
          <a:p>
            <a:pPr indent="-311150" lvl="0" marL="457200" rtl="0" algn="l">
              <a:lnSpc>
                <a:spcPct val="150000"/>
              </a:lnSpc>
              <a:spcBef>
                <a:spcPts val="0"/>
              </a:spcBef>
              <a:spcAft>
                <a:spcPts val="0"/>
              </a:spcAft>
              <a:buSzPts val="1300"/>
              <a:buChar char="●"/>
            </a:pPr>
            <a:r>
              <a:rPr lang="es"/>
              <a:t>El navegador web interpreta esta declaración y renderiza la página visualmente sin que el programador tenga que escribir instrucciones sobre cómo dibujar cada elemento en la pantalla.</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38"/>
          <p:cNvSpPr txBox="1"/>
          <p:nvPr>
            <p:ph type="title"/>
          </p:nvPr>
        </p:nvSpPr>
        <p:spPr>
          <a:xfrm>
            <a:off x="798325" y="260375"/>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Sobre Prolog, otro lenguaje declarativo / paradigma lógico</a:t>
            </a:r>
            <a:endParaRPr/>
          </a:p>
        </p:txBody>
      </p:sp>
      <p:sp>
        <p:nvSpPr>
          <p:cNvPr id="284" name="Google Shape;284;p38"/>
          <p:cNvSpPr txBox="1"/>
          <p:nvPr>
            <p:ph idx="1" type="body"/>
          </p:nvPr>
        </p:nvSpPr>
        <p:spPr>
          <a:xfrm>
            <a:off x="0" y="1237075"/>
            <a:ext cx="4137900" cy="39063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0"/>
              </a:spcAft>
              <a:buNone/>
            </a:pPr>
            <a:r>
              <a:rPr lang="es"/>
              <a:t>E</a:t>
            </a:r>
            <a:r>
              <a:rPr lang="es"/>
              <a:t>s un lenguaje de programación lógica, un sub-paradigma del declarativo.</a:t>
            </a:r>
            <a:endParaRPr/>
          </a:p>
          <a:p>
            <a:pPr indent="-311150" lvl="0" marL="457200" rtl="0" algn="l">
              <a:lnSpc>
                <a:spcPct val="150000"/>
              </a:lnSpc>
              <a:spcBef>
                <a:spcPts val="1200"/>
              </a:spcBef>
              <a:spcAft>
                <a:spcPts val="0"/>
              </a:spcAft>
              <a:buSzPts val="1300"/>
              <a:buChar char="●"/>
            </a:pPr>
            <a:r>
              <a:rPr lang="es"/>
              <a:t>Se basa en la lógica formal y las relaciones. El programador define una serie de hechos y reglas, y luego le hace una consulta al sistema. </a:t>
            </a:r>
            <a:endParaRPr/>
          </a:p>
          <a:p>
            <a:pPr indent="-311150" lvl="0" marL="457200" rtl="0" algn="l">
              <a:lnSpc>
                <a:spcPct val="150000"/>
              </a:lnSpc>
              <a:spcBef>
                <a:spcPts val="0"/>
              </a:spcBef>
              <a:spcAft>
                <a:spcPts val="0"/>
              </a:spcAft>
              <a:buSzPts val="1300"/>
              <a:buChar char="●"/>
            </a:pPr>
            <a:r>
              <a:rPr lang="es"/>
              <a:t>El motor de inferencia de Prolog busca una respuesta que satisfaga las reglas, sin que el programador tenga que guiar el proceso de búsqueda paso a paso.</a:t>
            </a:r>
            <a:endParaRPr/>
          </a:p>
        </p:txBody>
      </p:sp>
      <p:sp>
        <p:nvSpPr>
          <p:cNvPr id="285" name="Google Shape;285;p38"/>
          <p:cNvSpPr txBox="1"/>
          <p:nvPr>
            <p:ph idx="2" type="body"/>
          </p:nvPr>
        </p:nvSpPr>
        <p:spPr>
          <a:xfrm>
            <a:off x="4643600" y="1237075"/>
            <a:ext cx="3774300" cy="3102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Imagina que quieres modelar una pequeña familia. Primero, necesitas definir las relaciones básicas, que son </a:t>
            </a:r>
            <a:r>
              <a:rPr b="1" lang="es"/>
              <a:t>tus hechos.</a:t>
            </a:r>
            <a:endParaRPr b="1"/>
          </a:p>
          <a:p>
            <a:pPr indent="0" lvl="0" marL="0" rtl="0" algn="l">
              <a:spcBef>
                <a:spcPts val="1200"/>
              </a:spcBef>
              <a:spcAft>
                <a:spcPts val="1200"/>
              </a:spcAft>
              <a:buNone/>
            </a:pPr>
            <a:r>
              <a:rPr b="1" lang="es"/>
              <a:t>Los hechos </a:t>
            </a:r>
            <a:r>
              <a:rPr lang="es"/>
              <a:t>son verdades simples sobre el mundo que estás describiendo. En Prolog, se representan como predicados</a:t>
            </a:r>
            <a:endParaRPr/>
          </a:p>
        </p:txBody>
      </p:sp>
      <p:pic>
        <p:nvPicPr>
          <p:cNvPr id="286" name="Google Shape;286;p38"/>
          <p:cNvPicPr preferRelativeResize="0"/>
          <p:nvPr/>
        </p:nvPicPr>
        <p:blipFill>
          <a:blip r:embed="rId3">
            <a:alphaModFix/>
          </a:blip>
          <a:stretch>
            <a:fillRect/>
          </a:stretch>
        </p:blipFill>
        <p:spPr>
          <a:xfrm>
            <a:off x="4148593" y="3048338"/>
            <a:ext cx="4878325" cy="12702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39"/>
          <p:cNvSpPr txBox="1"/>
          <p:nvPr>
            <p:ph type="title"/>
          </p:nvPr>
        </p:nvSpPr>
        <p:spPr>
          <a:xfrm>
            <a:off x="830400" y="6560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Continuando el ejemplo de prolog</a:t>
            </a:r>
            <a:endParaRPr/>
          </a:p>
        </p:txBody>
      </p:sp>
      <p:sp>
        <p:nvSpPr>
          <p:cNvPr id="292" name="Google Shape;292;p39"/>
          <p:cNvSpPr txBox="1"/>
          <p:nvPr>
            <p:ph idx="1" type="body"/>
          </p:nvPr>
        </p:nvSpPr>
        <p:spPr>
          <a:xfrm>
            <a:off x="344325" y="1237075"/>
            <a:ext cx="4475700" cy="3857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a:t>Las reglas </a:t>
            </a:r>
            <a:r>
              <a:rPr lang="es"/>
              <a:t>son la lógica que te permite inferir nuevas verdades a partir de los hechos. </a:t>
            </a:r>
            <a:endParaRPr/>
          </a:p>
          <a:p>
            <a:pPr indent="0" lvl="0" marL="0" rtl="0" algn="l">
              <a:spcBef>
                <a:spcPts val="1200"/>
              </a:spcBef>
              <a:spcAft>
                <a:spcPts val="0"/>
              </a:spcAft>
              <a:buNone/>
            </a:pPr>
            <a:r>
              <a:rPr lang="es"/>
              <a:t>Una regla tiene una "cabeza" (lo que quieres probar) y un "cuerpo" (las condiciones para que la cabeza sea verdadera).</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just">
              <a:spcBef>
                <a:spcPts val="1200"/>
              </a:spcBef>
              <a:spcAft>
                <a:spcPts val="1200"/>
              </a:spcAft>
              <a:buNone/>
            </a:pPr>
            <a:r>
              <a:rPr lang="es"/>
              <a:t>Prolog utiliza un motor de inferencia para buscar una respuesta que satisfaga tus preguntas, navegando por los hechos y las reglas.</a:t>
            </a:r>
            <a:endParaRPr/>
          </a:p>
        </p:txBody>
      </p:sp>
      <p:sp>
        <p:nvSpPr>
          <p:cNvPr id="293" name="Google Shape;293;p39"/>
          <p:cNvSpPr txBox="1"/>
          <p:nvPr>
            <p:ph idx="2" type="body"/>
          </p:nvPr>
        </p:nvSpPr>
        <p:spPr>
          <a:xfrm>
            <a:off x="5028000" y="1237075"/>
            <a:ext cx="3774900" cy="39063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s"/>
              <a:t>¿Es Pedro hijo de Juan?</a:t>
            </a:r>
            <a:endParaRPr/>
          </a:p>
          <a:p>
            <a:pPr indent="457200" lvl="0" marL="0" rtl="0" algn="l">
              <a:spcBef>
                <a:spcPts val="0"/>
              </a:spcBef>
              <a:spcAft>
                <a:spcPts val="0"/>
              </a:spcAft>
              <a:buNone/>
            </a:pPr>
            <a:r>
              <a:rPr b="1" lang="es">
                <a:latin typeface="Courier New"/>
                <a:ea typeface="Courier New"/>
                <a:cs typeface="Courier New"/>
                <a:sym typeface="Courier New"/>
              </a:rPr>
              <a:t>?- hijo(pedro, juan).</a:t>
            </a:r>
            <a:endParaRPr b="1">
              <a:latin typeface="Courier New"/>
              <a:ea typeface="Courier New"/>
              <a:cs typeface="Courier New"/>
              <a:sym typeface="Courier New"/>
            </a:endParaRPr>
          </a:p>
          <a:p>
            <a:pPr indent="0" lvl="0" marL="0" rtl="0" algn="just">
              <a:spcBef>
                <a:spcPts val="0"/>
              </a:spcBef>
              <a:spcAft>
                <a:spcPts val="0"/>
              </a:spcAft>
              <a:buNone/>
            </a:pPr>
            <a:r>
              <a:rPr lang="es"/>
              <a:t>El hecho progenitor(juan, pedro), y como esto satisface la regla hijo(pedro, juan), responde </a:t>
            </a:r>
            <a:r>
              <a:rPr b="1" lang="es">
                <a:latin typeface="Courier New"/>
                <a:ea typeface="Courier New"/>
                <a:cs typeface="Courier New"/>
                <a:sym typeface="Courier New"/>
              </a:rPr>
              <a:t>true </a:t>
            </a:r>
            <a:r>
              <a:rPr lang="es"/>
              <a:t>(verdadero).</a:t>
            </a:r>
            <a:endParaRPr/>
          </a:p>
          <a:p>
            <a:pPr indent="-311150" lvl="0" marL="457200" rtl="0" algn="l">
              <a:spcBef>
                <a:spcPts val="1200"/>
              </a:spcBef>
              <a:spcAft>
                <a:spcPts val="0"/>
              </a:spcAft>
              <a:buSzPts val="1300"/>
              <a:buChar char="●"/>
            </a:pPr>
            <a:r>
              <a:rPr lang="es"/>
              <a:t>¿Quiénes son los hijos de Ana?</a:t>
            </a:r>
            <a:endParaRPr/>
          </a:p>
          <a:p>
            <a:pPr indent="0" lvl="0" marL="457200" rtl="0" algn="l">
              <a:spcBef>
                <a:spcPts val="0"/>
              </a:spcBef>
              <a:spcAft>
                <a:spcPts val="0"/>
              </a:spcAft>
              <a:buNone/>
            </a:pPr>
            <a:r>
              <a:rPr b="1" lang="es">
                <a:latin typeface="Courier New"/>
                <a:ea typeface="Courier New"/>
                <a:cs typeface="Courier New"/>
                <a:sym typeface="Courier New"/>
              </a:rPr>
              <a:t>?- progenitor(ana, X).</a:t>
            </a:r>
            <a:endParaRPr/>
          </a:p>
          <a:p>
            <a:pPr indent="0" lvl="0" marL="0" rtl="0" algn="just">
              <a:spcBef>
                <a:spcPts val="0"/>
              </a:spcBef>
              <a:spcAft>
                <a:spcPts val="0"/>
              </a:spcAft>
              <a:buNone/>
            </a:pPr>
            <a:r>
              <a:rPr lang="es"/>
              <a:t>El valor de la variable</a:t>
            </a:r>
            <a:r>
              <a:rPr b="1" lang="es">
                <a:latin typeface="Courier New"/>
                <a:ea typeface="Courier New"/>
                <a:cs typeface="Courier New"/>
                <a:sym typeface="Courier New"/>
              </a:rPr>
              <a:t> X</a:t>
            </a:r>
            <a:r>
              <a:rPr lang="es"/>
              <a:t> que hace que el </a:t>
            </a:r>
            <a:r>
              <a:rPr b="1" lang="es"/>
              <a:t>predicado </a:t>
            </a:r>
            <a:r>
              <a:rPr b="1" lang="es">
                <a:latin typeface="Courier New"/>
                <a:ea typeface="Courier New"/>
                <a:cs typeface="Courier New"/>
                <a:sym typeface="Courier New"/>
              </a:rPr>
              <a:t>progenitor(ana, X) </a:t>
            </a:r>
            <a:r>
              <a:rPr lang="es"/>
              <a:t>sea verdadero. Prolog encuentra dos coincidencias: Pedro y María.</a:t>
            </a:r>
            <a:endParaRPr/>
          </a:p>
          <a:p>
            <a:pPr indent="0" lvl="0" marL="0" rtl="0" algn="just">
              <a:spcBef>
                <a:spcPts val="0"/>
              </a:spcBef>
              <a:spcAft>
                <a:spcPts val="0"/>
              </a:spcAft>
              <a:buNone/>
            </a:pPr>
            <a:r>
              <a:t/>
            </a:r>
            <a:endParaRPr/>
          </a:p>
          <a:p>
            <a:pPr indent="-311150" lvl="0" marL="457200" rtl="0" algn="just">
              <a:spcBef>
                <a:spcPts val="0"/>
              </a:spcBef>
              <a:spcAft>
                <a:spcPts val="0"/>
              </a:spcAft>
              <a:buSzPts val="1300"/>
              <a:buChar char="●"/>
            </a:pPr>
            <a:r>
              <a:rPr lang="es"/>
              <a:t>¿Quién es el abuelo de Luis?</a:t>
            </a:r>
            <a:endParaRPr/>
          </a:p>
          <a:p>
            <a:pPr indent="0" lvl="0" marL="457200" rtl="0" algn="just">
              <a:spcBef>
                <a:spcPts val="0"/>
              </a:spcBef>
              <a:spcAft>
                <a:spcPts val="0"/>
              </a:spcAft>
              <a:buNone/>
            </a:pPr>
            <a:r>
              <a:rPr b="1" lang="es">
                <a:latin typeface="Courier New"/>
                <a:ea typeface="Courier New"/>
                <a:cs typeface="Courier New"/>
                <a:sym typeface="Courier New"/>
              </a:rPr>
              <a:t>?- abuelo(X, luis).</a:t>
            </a:r>
            <a:endParaRPr/>
          </a:p>
        </p:txBody>
      </p:sp>
      <p:pic>
        <p:nvPicPr>
          <p:cNvPr id="294" name="Google Shape;294;p39"/>
          <p:cNvPicPr preferRelativeResize="0"/>
          <p:nvPr/>
        </p:nvPicPr>
        <p:blipFill>
          <a:blip r:embed="rId3">
            <a:alphaModFix/>
          </a:blip>
          <a:stretch>
            <a:fillRect/>
          </a:stretch>
        </p:blipFill>
        <p:spPr>
          <a:xfrm>
            <a:off x="-6" y="2571744"/>
            <a:ext cx="4820075" cy="8293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40"/>
          <p:cNvSpPr txBox="1"/>
          <p:nvPr>
            <p:ph type="ctrTitle"/>
          </p:nvPr>
        </p:nvSpPr>
        <p:spPr>
          <a:xfrm>
            <a:off x="729450" y="1322450"/>
            <a:ext cx="7688100" cy="1664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Continuamos donde lo dejamos el viernes 5 de septiembre.</a:t>
            </a:r>
            <a:endParaRPr/>
          </a:p>
        </p:txBody>
      </p:sp>
      <p:sp>
        <p:nvSpPr>
          <p:cNvPr id="300" name="Google Shape;300;p40"/>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41"/>
          <p:cNvSpPr txBox="1"/>
          <p:nvPr>
            <p:ph type="title"/>
          </p:nvPr>
        </p:nvSpPr>
        <p:spPr>
          <a:xfrm>
            <a:off x="830400" y="6560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 Paradigma Orientado a Objetos (POO)</a:t>
            </a:r>
            <a:endParaRPr/>
          </a:p>
        </p:txBody>
      </p:sp>
      <p:sp>
        <p:nvSpPr>
          <p:cNvPr id="306" name="Google Shape;306;p41"/>
          <p:cNvSpPr txBox="1"/>
          <p:nvPr>
            <p:ph idx="1" type="body"/>
          </p:nvPr>
        </p:nvSpPr>
        <p:spPr>
          <a:xfrm>
            <a:off x="0" y="1237075"/>
            <a:ext cx="2247600" cy="3102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Se </a:t>
            </a:r>
            <a:r>
              <a:rPr lang="es"/>
              <a:t>organiza el código en torno a abstracciones de objetos, que son estructuras de datos que combinan propiedades (atributos) y comportamientos (métodos).</a:t>
            </a:r>
            <a:endParaRPr/>
          </a:p>
          <a:p>
            <a:pPr indent="0" lvl="0" marL="0" rtl="0" algn="l">
              <a:spcBef>
                <a:spcPts val="1200"/>
              </a:spcBef>
              <a:spcAft>
                <a:spcPts val="1200"/>
              </a:spcAft>
              <a:buNone/>
            </a:pPr>
            <a:r>
              <a:rPr lang="es"/>
              <a:t>El foco está en el diseño y la interacción de estos objetos.</a:t>
            </a:r>
            <a:endParaRPr/>
          </a:p>
        </p:txBody>
      </p:sp>
      <p:sp>
        <p:nvSpPr>
          <p:cNvPr id="307" name="Google Shape;307;p41"/>
          <p:cNvSpPr txBox="1"/>
          <p:nvPr>
            <p:ph idx="2" type="body"/>
          </p:nvPr>
        </p:nvSpPr>
        <p:spPr>
          <a:xfrm>
            <a:off x="4643600" y="1237075"/>
            <a:ext cx="3774300" cy="3102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08" name="Google Shape;308;p41"/>
          <p:cNvPicPr preferRelativeResize="0"/>
          <p:nvPr/>
        </p:nvPicPr>
        <p:blipFill>
          <a:blip r:embed="rId3">
            <a:alphaModFix/>
          </a:blip>
          <a:stretch>
            <a:fillRect/>
          </a:stretch>
        </p:blipFill>
        <p:spPr>
          <a:xfrm>
            <a:off x="2305089" y="1237075"/>
            <a:ext cx="6838910" cy="390642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2"/>
          <p:cNvSpPr txBox="1"/>
          <p:nvPr>
            <p:ph type="title"/>
          </p:nvPr>
        </p:nvSpPr>
        <p:spPr>
          <a:xfrm>
            <a:off x="830400" y="6560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Versión en Java</a:t>
            </a:r>
            <a:endParaRPr/>
          </a:p>
        </p:txBody>
      </p:sp>
      <p:sp>
        <p:nvSpPr>
          <p:cNvPr id="314" name="Google Shape;314;p42"/>
          <p:cNvSpPr txBox="1"/>
          <p:nvPr>
            <p:ph idx="1" type="body"/>
          </p:nvPr>
        </p:nvSpPr>
        <p:spPr>
          <a:xfrm>
            <a:off x="729325" y="1237075"/>
            <a:ext cx="2940600" cy="3102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En Java, se utilizan clases y métodos explícitos, y se deben declarar los tipos de datos para las variables.</a:t>
            </a:r>
            <a:endParaRPr/>
          </a:p>
          <a:p>
            <a:pPr indent="0" lvl="0" marL="0" rtl="0" algn="l">
              <a:spcBef>
                <a:spcPts val="1200"/>
              </a:spcBef>
              <a:spcAft>
                <a:spcPts val="1200"/>
              </a:spcAft>
              <a:buNone/>
            </a:pPr>
            <a:r>
              <a:rPr lang="es"/>
              <a:t>La función principal (main) es el punto de entrada de la aplicación.</a:t>
            </a:r>
            <a:endParaRPr/>
          </a:p>
        </p:txBody>
      </p:sp>
      <p:sp>
        <p:nvSpPr>
          <p:cNvPr id="315" name="Google Shape;315;p42"/>
          <p:cNvSpPr txBox="1"/>
          <p:nvPr>
            <p:ph idx="2" type="body"/>
          </p:nvPr>
        </p:nvSpPr>
        <p:spPr>
          <a:xfrm>
            <a:off x="4643600" y="1237075"/>
            <a:ext cx="3774300" cy="3102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16" name="Google Shape;316;p42"/>
          <p:cNvPicPr preferRelativeResize="0"/>
          <p:nvPr/>
        </p:nvPicPr>
        <p:blipFill>
          <a:blip r:embed="rId3">
            <a:alphaModFix/>
          </a:blip>
          <a:stretch>
            <a:fillRect/>
          </a:stretch>
        </p:blipFill>
        <p:spPr>
          <a:xfrm>
            <a:off x="4217311" y="0"/>
            <a:ext cx="4926677" cy="5143499"/>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43"/>
          <p:cNvSpPr txBox="1"/>
          <p:nvPr>
            <p:ph type="title"/>
          </p:nvPr>
        </p:nvSpPr>
        <p:spPr>
          <a:xfrm>
            <a:off x="830400" y="6560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Versión en C#</a:t>
            </a:r>
            <a:endParaRPr/>
          </a:p>
        </p:txBody>
      </p:sp>
      <p:sp>
        <p:nvSpPr>
          <p:cNvPr id="322" name="Google Shape;322;p43"/>
          <p:cNvSpPr txBox="1"/>
          <p:nvPr>
            <p:ph idx="1" type="body"/>
          </p:nvPr>
        </p:nvSpPr>
        <p:spPr>
          <a:xfrm>
            <a:off x="729325" y="1237075"/>
            <a:ext cx="2491500" cy="3102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C# es muy similar a Java en su sintaxis y estructura orientada a objetos. También requiere tipos de datos explícitos y un método Main para la ejecución. </a:t>
            </a:r>
            <a:endParaRPr/>
          </a:p>
          <a:p>
            <a:pPr indent="0" lvl="0" marL="0" rtl="0" algn="l">
              <a:spcBef>
                <a:spcPts val="1200"/>
              </a:spcBef>
              <a:spcAft>
                <a:spcPts val="1200"/>
              </a:spcAft>
              <a:buNone/>
            </a:pPr>
            <a:r>
              <a:rPr lang="es"/>
              <a:t>La interpolación de cadenas de texto ($"") es muy parecida a la de Python, lo que hace el código más legible.</a:t>
            </a:r>
            <a:endParaRPr/>
          </a:p>
        </p:txBody>
      </p:sp>
      <p:sp>
        <p:nvSpPr>
          <p:cNvPr id="323" name="Google Shape;323;p43"/>
          <p:cNvSpPr txBox="1"/>
          <p:nvPr>
            <p:ph idx="2" type="body"/>
          </p:nvPr>
        </p:nvSpPr>
        <p:spPr>
          <a:xfrm>
            <a:off x="4643600" y="1237075"/>
            <a:ext cx="3774300" cy="3102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24" name="Google Shape;324;p43"/>
          <p:cNvPicPr preferRelativeResize="0"/>
          <p:nvPr/>
        </p:nvPicPr>
        <p:blipFill>
          <a:blip r:embed="rId3">
            <a:alphaModFix/>
          </a:blip>
          <a:stretch>
            <a:fillRect/>
          </a:stretch>
        </p:blipFill>
        <p:spPr>
          <a:xfrm>
            <a:off x="3385593" y="0"/>
            <a:ext cx="5758414" cy="51435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44"/>
          <p:cNvSpPr txBox="1"/>
          <p:nvPr>
            <p:ph type="title"/>
          </p:nvPr>
        </p:nvSpPr>
        <p:spPr>
          <a:xfrm>
            <a:off x="830400" y="656050"/>
            <a:ext cx="79296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Tabla Comparativa de C#, Java y Python en POO (1/2)</a:t>
            </a:r>
            <a:endParaRPr/>
          </a:p>
        </p:txBody>
      </p:sp>
      <p:graphicFrame>
        <p:nvGraphicFramePr>
          <p:cNvPr id="330" name="Google Shape;330;p44"/>
          <p:cNvGraphicFramePr/>
          <p:nvPr/>
        </p:nvGraphicFramePr>
        <p:xfrm>
          <a:off x="366225" y="1382125"/>
          <a:ext cx="3000000" cy="3000000"/>
        </p:xfrm>
        <a:graphic>
          <a:graphicData uri="http://schemas.openxmlformats.org/drawingml/2006/table">
            <a:tbl>
              <a:tblPr>
                <a:noFill/>
                <a:tableStyleId>{A93C4C41-8EF1-4E32-AC6D-5B815111848D}</a:tableStyleId>
              </a:tblPr>
              <a:tblGrid>
                <a:gridCol w="2115425"/>
                <a:gridCol w="2115425"/>
                <a:gridCol w="2115425"/>
                <a:gridCol w="2115425"/>
              </a:tblGrid>
              <a:tr h="202700">
                <a:tc>
                  <a:txBody>
                    <a:bodyPr/>
                    <a:lstStyle/>
                    <a:p>
                      <a:pPr indent="0" lvl="0" marL="0" rtl="0" algn="l">
                        <a:lnSpc>
                          <a:spcPct val="115000"/>
                        </a:lnSpc>
                        <a:spcBef>
                          <a:spcPts val="0"/>
                        </a:spcBef>
                        <a:spcAft>
                          <a:spcPts val="0"/>
                        </a:spcAft>
                        <a:buNone/>
                      </a:pPr>
                      <a:r>
                        <a:rPr b="1" lang="es" sz="1000">
                          <a:latin typeface="Lato"/>
                          <a:ea typeface="Lato"/>
                          <a:cs typeface="Lato"/>
                          <a:sym typeface="Lato"/>
                        </a:rPr>
                        <a:t>Característica</a:t>
                      </a:r>
                      <a:endParaRPr b="1" sz="1000">
                        <a:latin typeface="Lato"/>
                        <a:ea typeface="Lato"/>
                        <a:cs typeface="Lato"/>
                        <a:sym typeface="Lato"/>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latin typeface="Lato"/>
                          <a:ea typeface="Lato"/>
                          <a:cs typeface="Lato"/>
                          <a:sym typeface="Lato"/>
                        </a:rPr>
                        <a:t>C#</a:t>
                      </a:r>
                      <a:endParaRPr b="1" sz="1000">
                        <a:latin typeface="Lato"/>
                        <a:ea typeface="Lato"/>
                        <a:cs typeface="Lato"/>
                        <a:sym typeface="Lato"/>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latin typeface="Lato"/>
                          <a:ea typeface="Lato"/>
                          <a:cs typeface="Lato"/>
                          <a:sym typeface="Lato"/>
                        </a:rPr>
                        <a:t>Java</a:t>
                      </a:r>
                      <a:endParaRPr b="1" sz="1000">
                        <a:latin typeface="Lato"/>
                        <a:ea typeface="Lato"/>
                        <a:cs typeface="Lato"/>
                        <a:sym typeface="Lato"/>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latin typeface="Lato"/>
                          <a:ea typeface="Lato"/>
                          <a:cs typeface="Lato"/>
                          <a:sym typeface="Lato"/>
                        </a:rPr>
                        <a:t>Python</a:t>
                      </a:r>
                      <a:endParaRPr b="1" sz="1000">
                        <a:latin typeface="Lato"/>
                        <a:ea typeface="Lato"/>
                        <a:cs typeface="Lato"/>
                        <a:sym typeface="Lato"/>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707400">
                <a:tc>
                  <a:txBody>
                    <a:bodyPr/>
                    <a:lstStyle/>
                    <a:p>
                      <a:pPr indent="0" lvl="0" marL="0" rtl="0" algn="ctr">
                        <a:lnSpc>
                          <a:spcPct val="115000"/>
                        </a:lnSpc>
                        <a:spcBef>
                          <a:spcPts val="0"/>
                        </a:spcBef>
                        <a:spcAft>
                          <a:spcPts val="0"/>
                        </a:spcAft>
                        <a:buNone/>
                      </a:pPr>
                      <a:r>
                        <a:rPr lang="es" sz="1000">
                          <a:latin typeface="Lato"/>
                          <a:ea typeface="Lato"/>
                          <a:cs typeface="Lato"/>
                          <a:sym typeface="Lato"/>
                        </a:rPr>
                        <a:t>Sintaxis</a:t>
                      </a:r>
                      <a:endParaRPr sz="1000">
                        <a:latin typeface="Lato"/>
                        <a:ea typeface="Lato"/>
                        <a:cs typeface="Lato"/>
                        <a:sym typeface="Lato"/>
                      </a:endParaRPr>
                    </a:p>
                  </a:txBody>
                  <a:tcPr marT="19050" marB="19050" marR="28575" marL="28575"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latin typeface="Lato"/>
                          <a:ea typeface="Lato"/>
                          <a:cs typeface="Lato"/>
                          <a:sym typeface="Lato"/>
                        </a:rPr>
                        <a:t>Fuertemente tipado, estática. Sintaxis similar a Java y C++. Utiliza {}.</a:t>
                      </a:r>
                      <a:endParaRPr sz="1000">
                        <a:latin typeface="Lato"/>
                        <a:ea typeface="Lato"/>
                        <a:cs typeface="Lato"/>
                        <a:sym typeface="Lato"/>
                      </a:endParaRPr>
                    </a:p>
                  </a:txBody>
                  <a:tcPr marT="19050" marB="19050" marR="28575" marL="28575"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latin typeface="Lato"/>
                          <a:ea typeface="Lato"/>
                          <a:cs typeface="Lato"/>
                          <a:sym typeface="Lato"/>
                        </a:rPr>
                        <a:t>Fuertemente tipado, estática. Sintaxis similar a C++. Utiliza {}.</a:t>
                      </a:r>
                      <a:endParaRPr sz="1000">
                        <a:latin typeface="Lato"/>
                        <a:ea typeface="Lato"/>
                        <a:cs typeface="Lato"/>
                        <a:sym typeface="Lato"/>
                      </a:endParaRPr>
                    </a:p>
                  </a:txBody>
                  <a:tcPr marT="19050" marB="19050" marR="28575" marL="28575"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latin typeface="Lato"/>
                          <a:ea typeface="Lato"/>
                          <a:cs typeface="Lato"/>
                          <a:sym typeface="Lato"/>
                        </a:rPr>
                        <a:t>Tipado dinámico. Sintaxis más simple, utiliza indentación para bloques de código.</a:t>
                      </a:r>
                      <a:endParaRPr sz="1000">
                        <a:latin typeface="Lato"/>
                        <a:ea typeface="Lato"/>
                        <a:cs typeface="Lato"/>
                        <a:sym typeface="Lato"/>
                      </a:endParaRPr>
                    </a:p>
                  </a:txBody>
                  <a:tcPr marT="19050" marB="19050" marR="91425" marL="91425" anchor="ctr">
                    <a:lnL cap="flat" cmpd="sng" w="7625">
                      <a:solidFill>
                        <a:srgbClr val="CCCCCC"/>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707400">
                <a:tc>
                  <a:txBody>
                    <a:bodyPr/>
                    <a:lstStyle/>
                    <a:p>
                      <a:pPr indent="0" lvl="0" marL="0" rtl="0" algn="ctr">
                        <a:lnSpc>
                          <a:spcPct val="115000"/>
                        </a:lnSpc>
                        <a:spcBef>
                          <a:spcPts val="0"/>
                        </a:spcBef>
                        <a:spcAft>
                          <a:spcPts val="0"/>
                        </a:spcAft>
                        <a:buNone/>
                      </a:pPr>
                      <a:r>
                        <a:rPr lang="es" sz="1000">
                          <a:latin typeface="Lato"/>
                          <a:ea typeface="Lato"/>
                          <a:cs typeface="Lato"/>
                          <a:sym typeface="Lato"/>
                        </a:rPr>
                        <a:t>Clases y Objetos</a:t>
                      </a:r>
                      <a:endParaRPr sz="1000">
                        <a:latin typeface="Lato"/>
                        <a:ea typeface="Lato"/>
                        <a:cs typeface="Lato"/>
                        <a:sym typeface="Lato"/>
                      </a:endParaRPr>
                    </a:p>
                  </a:txBody>
                  <a:tcPr marT="19050" marB="19050" marR="28575" marL="28575"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latin typeface="Lato"/>
                          <a:ea typeface="Lato"/>
                          <a:cs typeface="Lato"/>
                          <a:sym typeface="Lato"/>
                        </a:rPr>
                        <a:t>Todas las variables y funciones deben estar dentro de una clase.</a:t>
                      </a:r>
                      <a:endParaRPr sz="1000">
                        <a:latin typeface="Lato"/>
                        <a:ea typeface="Lato"/>
                        <a:cs typeface="Lato"/>
                        <a:sym typeface="Lato"/>
                      </a:endParaRPr>
                    </a:p>
                  </a:txBody>
                  <a:tcPr marT="19050" marB="19050" marR="28575" marL="28575"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latin typeface="Lato"/>
                          <a:ea typeface="Lato"/>
                          <a:cs typeface="Lato"/>
                          <a:sym typeface="Lato"/>
                        </a:rPr>
                        <a:t>Todas las variables y funciones deben estar dentro de una clase.</a:t>
                      </a:r>
                      <a:endParaRPr sz="1000">
                        <a:latin typeface="Lato"/>
                        <a:ea typeface="Lato"/>
                        <a:cs typeface="Lato"/>
                        <a:sym typeface="Lato"/>
                      </a:endParaRPr>
                    </a:p>
                  </a:txBody>
                  <a:tcPr marT="19050" marB="19050" marR="28575" marL="28575"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latin typeface="Lato"/>
                          <a:ea typeface="Lato"/>
                          <a:cs typeface="Lato"/>
                          <a:sym typeface="Lato"/>
                        </a:rPr>
                        <a:t>La POO es opcional. Las clases son "ciudadanos de primera clase".</a:t>
                      </a:r>
                      <a:endParaRPr sz="1000">
                        <a:latin typeface="Lato"/>
                        <a:ea typeface="Lato"/>
                        <a:cs typeface="Lato"/>
                        <a:sym typeface="Lato"/>
                      </a:endParaRPr>
                    </a:p>
                  </a:txBody>
                  <a:tcPr marT="19050" marB="19050" marR="91425" marL="91425" anchor="ctr">
                    <a:lnL cap="flat" cmpd="sng" w="7625">
                      <a:solidFill>
                        <a:srgbClr val="CCCCCC"/>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931525">
                <a:tc>
                  <a:txBody>
                    <a:bodyPr/>
                    <a:lstStyle/>
                    <a:p>
                      <a:pPr indent="0" lvl="0" marL="0" rtl="0" algn="ctr">
                        <a:lnSpc>
                          <a:spcPct val="115000"/>
                        </a:lnSpc>
                        <a:spcBef>
                          <a:spcPts val="0"/>
                        </a:spcBef>
                        <a:spcAft>
                          <a:spcPts val="0"/>
                        </a:spcAft>
                        <a:buNone/>
                      </a:pPr>
                      <a:r>
                        <a:rPr lang="es" sz="1000">
                          <a:latin typeface="Lato"/>
                          <a:ea typeface="Lato"/>
                          <a:cs typeface="Lato"/>
                          <a:sym typeface="Lato"/>
                        </a:rPr>
                        <a:t>Herencia</a:t>
                      </a:r>
                      <a:endParaRPr sz="1000">
                        <a:latin typeface="Lato"/>
                        <a:ea typeface="Lato"/>
                        <a:cs typeface="Lato"/>
                        <a:sym typeface="Lato"/>
                      </a:endParaRPr>
                    </a:p>
                  </a:txBody>
                  <a:tcPr marT="19050" marB="19050" marR="28575" marL="28575"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latin typeface="Lato"/>
                          <a:ea typeface="Lato"/>
                          <a:cs typeface="Lato"/>
                          <a:sym typeface="Lato"/>
                        </a:rPr>
                        <a:t>Simple, pero con interfaces para herencia múltiple. Soporta base para llamar al constructor de la clase padre.</a:t>
                      </a:r>
                      <a:endParaRPr sz="1000">
                        <a:latin typeface="Lato"/>
                        <a:ea typeface="Lato"/>
                        <a:cs typeface="Lato"/>
                        <a:sym typeface="Lato"/>
                      </a:endParaRPr>
                    </a:p>
                  </a:txBody>
                  <a:tcPr marT="19050" marB="19050" marR="28575" marL="28575"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latin typeface="Lato"/>
                          <a:ea typeface="Lato"/>
                          <a:cs typeface="Lato"/>
                          <a:sym typeface="Lato"/>
                        </a:rPr>
                        <a:t>Simple, pero con interfaces para herencia múltiple. Soporta super() para llamar al constructor de la clase padre.</a:t>
                      </a:r>
                      <a:endParaRPr sz="1000">
                        <a:latin typeface="Lato"/>
                        <a:ea typeface="Lato"/>
                        <a:cs typeface="Lato"/>
                        <a:sym typeface="Lato"/>
                      </a:endParaRPr>
                    </a:p>
                  </a:txBody>
                  <a:tcPr marT="19050" marB="19050" marR="28575" marL="28575"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latin typeface="Lato"/>
                          <a:ea typeface="Lato"/>
                          <a:cs typeface="Lato"/>
                          <a:sym typeface="Lato"/>
                        </a:rPr>
                        <a:t>Múltiple. Una clase puede heredar de varias clases. Soporta super() para llamar al constructor de la clase padre.</a:t>
                      </a:r>
                      <a:endParaRPr sz="1000">
                        <a:latin typeface="Lato"/>
                        <a:ea typeface="Lato"/>
                        <a:cs typeface="Lato"/>
                        <a:sym typeface="Lato"/>
                      </a:endParaRPr>
                    </a:p>
                  </a:txBody>
                  <a:tcPr marT="19050" marB="19050" marR="91425" marL="91425" anchor="ctr">
                    <a:lnL cap="flat" cmpd="sng" w="7625">
                      <a:solidFill>
                        <a:srgbClr val="CCCCCC"/>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931525">
                <a:tc>
                  <a:txBody>
                    <a:bodyPr/>
                    <a:lstStyle/>
                    <a:p>
                      <a:pPr indent="0" lvl="0" marL="0" rtl="0" algn="ctr">
                        <a:lnSpc>
                          <a:spcPct val="115000"/>
                        </a:lnSpc>
                        <a:spcBef>
                          <a:spcPts val="0"/>
                        </a:spcBef>
                        <a:spcAft>
                          <a:spcPts val="0"/>
                        </a:spcAft>
                        <a:buNone/>
                      </a:pPr>
                      <a:r>
                        <a:rPr lang="es" sz="1000">
                          <a:latin typeface="Lato"/>
                          <a:ea typeface="Lato"/>
                          <a:cs typeface="Lato"/>
                          <a:sym typeface="Lato"/>
                        </a:rPr>
                        <a:t>Polimorfismo</a:t>
                      </a:r>
                      <a:endParaRPr sz="1000">
                        <a:latin typeface="Lato"/>
                        <a:ea typeface="Lato"/>
                        <a:cs typeface="Lato"/>
                        <a:sym typeface="Lato"/>
                      </a:endParaRPr>
                    </a:p>
                  </a:txBody>
                  <a:tcPr marT="19050" marB="19050" marR="28575" marL="28575"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latin typeface="Lato"/>
                          <a:ea typeface="Lato"/>
                          <a:cs typeface="Lato"/>
                          <a:sym typeface="Lato"/>
                        </a:rPr>
                        <a:t>Soportado a través de herencia, sobrecarga de métodos y override para redefinir métodos.</a:t>
                      </a:r>
                      <a:endParaRPr sz="1000">
                        <a:latin typeface="Lato"/>
                        <a:ea typeface="Lato"/>
                        <a:cs typeface="Lato"/>
                        <a:sym typeface="Lato"/>
                      </a:endParaRPr>
                    </a:p>
                  </a:txBody>
                  <a:tcPr marT="19050" marB="19050" marR="28575" marL="28575"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latin typeface="Lato"/>
                          <a:ea typeface="Lato"/>
                          <a:cs typeface="Lato"/>
                          <a:sym typeface="Lato"/>
                        </a:rPr>
                        <a:t>Soportado a través de herencia, sobrecarga de métodos y override para redefinir métodos.</a:t>
                      </a:r>
                      <a:endParaRPr sz="1000">
                        <a:latin typeface="Lato"/>
                        <a:ea typeface="Lato"/>
                        <a:cs typeface="Lato"/>
                        <a:sym typeface="Lato"/>
                      </a:endParaRPr>
                    </a:p>
                  </a:txBody>
                  <a:tcPr marT="19050" marB="19050" marR="28575" marL="28575"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latin typeface="Lato"/>
                          <a:ea typeface="Lato"/>
                          <a:cs typeface="Lato"/>
                          <a:sym typeface="Lato"/>
                        </a:rPr>
                        <a:t>Soportado a través de herencia. Utiliza el "tipado pato" (duck typing), donde la forma del objeto determina si puede ser usado de una manera particular.</a:t>
                      </a:r>
                      <a:endParaRPr sz="1000">
                        <a:latin typeface="Lato"/>
                        <a:ea typeface="Lato"/>
                        <a:cs typeface="Lato"/>
                        <a:sym typeface="Lato"/>
                      </a:endParaRPr>
                    </a:p>
                  </a:txBody>
                  <a:tcPr marT="19050" marB="19050" marR="91425" marL="91425" anchor="ctr">
                    <a:lnL cap="flat" cmpd="sng" w="7625">
                      <a:solidFill>
                        <a:srgbClr val="CCCCCC"/>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45"/>
          <p:cNvSpPr txBox="1"/>
          <p:nvPr>
            <p:ph type="title"/>
          </p:nvPr>
        </p:nvSpPr>
        <p:spPr>
          <a:xfrm>
            <a:off x="830400" y="656050"/>
            <a:ext cx="79296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Tabla Comparativa de C#, Java y Python en POO (2/2)</a:t>
            </a:r>
            <a:endParaRPr/>
          </a:p>
        </p:txBody>
      </p:sp>
      <p:graphicFrame>
        <p:nvGraphicFramePr>
          <p:cNvPr id="336" name="Google Shape;336;p45"/>
          <p:cNvGraphicFramePr/>
          <p:nvPr/>
        </p:nvGraphicFramePr>
        <p:xfrm>
          <a:off x="376900" y="1339350"/>
          <a:ext cx="3000000" cy="3000000"/>
        </p:xfrm>
        <a:graphic>
          <a:graphicData uri="http://schemas.openxmlformats.org/drawingml/2006/table">
            <a:tbl>
              <a:tblPr>
                <a:noFill/>
                <a:tableStyleId>{A93C4C41-8EF1-4E32-AC6D-5B815111848D}</a:tableStyleId>
              </a:tblPr>
              <a:tblGrid>
                <a:gridCol w="2110075"/>
                <a:gridCol w="2110075"/>
                <a:gridCol w="1853425"/>
                <a:gridCol w="2366725"/>
              </a:tblGrid>
              <a:tr h="316325">
                <a:tc>
                  <a:txBody>
                    <a:bodyPr/>
                    <a:lstStyle/>
                    <a:p>
                      <a:pPr indent="0" lvl="0" marL="0" rtl="0" algn="l">
                        <a:lnSpc>
                          <a:spcPct val="115000"/>
                        </a:lnSpc>
                        <a:spcBef>
                          <a:spcPts val="0"/>
                        </a:spcBef>
                        <a:spcAft>
                          <a:spcPts val="0"/>
                        </a:spcAft>
                        <a:buNone/>
                      </a:pPr>
                      <a:r>
                        <a:rPr b="1" lang="es" sz="1100">
                          <a:latin typeface="Lato"/>
                          <a:ea typeface="Lato"/>
                          <a:cs typeface="Lato"/>
                          <a:sym typeface="Lato"/>
                        </a:rPr>
                        <a:t>Característica</a:t>
                      </a:r>
                      <a:endParaRPr b="1" sz="1100">
                        <a:latin typeface="Lato"/>
                        <a:ea typeface="Lato"/>
                        <a:cs typeface="Lato"/>
                        <a:sym typeface="Lato"/>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100">
                          <a:latin typeface="Lato"/>
                          <a:ea typeface="Lato"/>
                          <a:cs typeface="Lato"/>
                          <a:sym typeface="Lato"/>
                        </a:rPr>
                        <a:t>C#</a:t>
                      </a:r>
                      <a:endParaRPr b="1" sz="1100">
                        <a:latin typeface="Lato"/>
                        <a:ea typeface="Lato"/>
                        <a:cs typeface="Lato"/>
                        <a:sym typeface="Lato"/>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100">
                          <a:latin typeface="Lato"/>
                          <a:ea typeface="Lato"/>
                          <a:cs typeface="Lato"/>
                          <a:sym typeface="Lato"/>
                        </a:rPr>
                        <a:t>Java</a:t>
                      </a:r>
                      <a:endParaRPr b="1" sz="1100">
                        <a:latin typeface="Lato"/>
                        <a:ea typeface="Lato"/>
                        <a:cs typeface="Lato"/>
                        <a:sym typeface="Lato"/>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100">
                          <a:latin typeface="Lato"/>
                          <a:ea typeface="Lato"/>
                          <a:cs typeface="Lato"/>
                          <a:sym typeface="Lato"/>
                        </a:rPr>
                        <a:t>Python</a:t>
                      </a:r>
                      <a:endParaRPr b="1" sz="1100">
                        <a:latin typeface="Lato"/>
                        <a:ea typeface="Lato"/>
                        <a:cs typeface="Lato"/>
                        <a:sym typeface="Lato"/>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1092775">
                <a:tc>
                  <a:txBody>
                    <a:bodyPr/>
                    <a:lstStyle/>
                    <a:p>
                      <a:pPr indent="0" lvl="0" marL="0" rtl="0" algn="ctr">
                        <a:lnSpc>
                          <a:spcPct val="115000"/>
                        </a:lnSpc>
                        <a:spcBef>
                          <a:spcPts val="0"/>
                        </a:spcBef>
                        <a:spcAft>
                          <a:spcPts val="0"/>
                        </a:spcAft>
                        <a:buNone/>
                      </a:pPr>
                      <a:r>
                        <a:rPr lang="es" sz="1100">
                          <a:latin typeface="Lato"/>
                          <a:ea typeface="Lato"/>
                          <a:cs typeface="Lato"/>
                          <a:sym typeface="Lato"/>
                        </a:rPr>
                        <a:t>Encapsulamiento</a:t>
                      </a:r>
                      <a:endParaRPr sz="1100">
                        <a:latin typeface="Lato"/>
                        <a:ea typeface="Lato"/>
                        <a:cs typeface="Lato"/>
                        <a:sym typeface="Lato"/>
                      </a:endParaRPr>
                    </a:p>
                  </a:txBody>
                  <a:tcPr marT="19050" marB="19050" marR="28575" marL="28575"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100">
                          <a:latin typeface="Lato"/>
                          <a:ea typeface="Lato"/>
                          <a:cs typeface="Lato"/>
                          <a:sym typeface="Lato"/>
                        </a:rPr>
                        <a:t>Se logra a través de modificadores de acceso (public, private, protected).</a:t>
                      </a:r>
                      <a:endParaRPr sz="1100">
                        <a:latin typeface="Lato"/>
                        <a:ea typeface="Lato"/>
                        <a:cs typeface="Lato"/>
                        <a:sym typeface="Lato"/>
                      </a:endParaRPr>
                    </a:p>
                  </a:txBody>
                  <a:tcPr marT="19050" marB="19050" marR="28575" marL="28575"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100">
                          <a:latin typeface="Lato"/>
                          <a:ea typeface="Lato"/>
                          <a:cs typeface="Lato"/>
                          <a:sym typeface="Lato"/>
                        </a:rPr>
                        <a:t>Se logra a través de modificadores de acceso (public, private, protected).</a:t>
                      </a:r>
                      <a:endParaRPr sz="1100">
                        <a:latin typeface="Lato"/>
                        <a:ea typeface="Lato"/>
                        <a:cs typeface="Lato"/>
                        <a:sym typeface="Lato"/>
                      </a:endParaRPr>
                    </a:p>
                  </a:txBody>
                  <a:tcPr marT="19050" marB="19050" marR="28575" marL="28575"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100">
                          <a:latin typeface="Lato"/>
                          <a:ea typeface="Lato"/>
                          <a:cs typeface="Lato"/>
                          <a:sym typeface="Lato"/>
                        </a:rPr>
                        <a:t>Se logra por convención, a través de guiones bajos en el nombre del atributo (_atributo). No hay un verdadero modificador de acceso.</a:t>
                      </a:r>
                      <a:endParaRPr sz="1100">
                        <a:latin typeface="Lato"/>
                        <a:ea typeface="Lato"/>
                        <a:cs typeface="Lato"/>
                        <a:sym typeface="Lato"/>
                      </a:endParaRPr>
                    </a:p>
                  </a:txBody>
                  <a:tcPr marT="19050" marB="19050" marR="91425" marL="91425" anchor="ctr">
                    <a:lnL cap="flat" cmpd="sng" w="7625">
                      <a:solidFill>
                        <a:srgbClr val="CCCCCC"/>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952325">
                <a:tc>
                  <a:txBody>
                    <a:bodyPr/>
                    <a:lstStyle/>
                    <a:p>
                      <a:pPr indent="0" lvl="0" marL="0" rtl="0" algn="ctr">
                        <a:lnSpc>
                          <a:spcPct val="115000"/>
                        </a:lnSpc>
                        <a:spcBef>
                          <a:spcPts val="0"/>
                        </a:spcBef>
                        <a:spcAft>
                          <a:spcPts val="0"/>
                        </a:spcAft>
                        <a:buNone/>
                      </a:pPr>
                      <a:r>
                        <a:rPr lang="es" sz="1100">
                          <a:latin typeface="Lato"/>
                          <a:ea typeface="Lato"/>
                          <a:cs typeface="Lato"/>
                          <a:sym typeface="Lato"/>
                        </a:rPr>
                        <a:t>Interfaces y Clases Abstractas</a:t>
                      </a:r>
                      <a:endParaRPr sz="1100">
                        <a:latin typeface="Lato"/>
                        <a:ea typeface="Lato"/>
                        <a:cs typeface="Lato"/>
                        <a:sym typeface="Lato"/>
                      </a:endParaRPr>
                    </a:p>
                  </a:txBody>
                  <a:tcPr marT="19050" marB="19050" marR="28575" marL="28575"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100">
                          <a:latin typeface="Lato"/>
                          <a:ea typeface="Lato"/>
                          <a:cs typeface="Lato"/>
                          <a:sym typeface="Lato"/>
                        </a:rPr>
                        <a:t>Ambos son compatibles. Las interfaces se definen con la palabra clave interface.</a:t>
                      </a:r>
                      <a:endParaRPr sz="1100">
                        <a:latin typeface="Lato"/>
                        <a:ea typeface="Lato"/>
                        <a:cs typeface="Lato"/>
                        <a:sym typeface="Lato"/>
                      </a:endParaRPr>
                    </a:p>
                  </a:txBody>
                  <a:tcPr marT="19050" marB="19050" marR="28575" marL="28575"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100">
                          <a:latin typeface="Lato"/>
                          <a:ea typeface="Lato"/>
                          <a:cs typeface="Lato"/>
                          <a:sym typeface="Lato"/>
                        </a:rPr>
                        <a:t>Ambos son compatibles. Las interfaces se definen con la palabra clave interface.</a:t>
                      </a:r>
                      <a:endParaRPr sz="1100">
                        <a:latin typeface="Lato"/>
                        <a:ea typeface="Lato"/>
                        <a:cs typeface="Lato"/>
                        <a:sym typeface="Lato"/>
                      </a:endParaRPr>
                    </a:p>
                  </a:txBody>
                  <a:tcPr marT="19050" marB="19050" marR="28575" marL="28575"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100">
                          <a:latin typeface="Lato"/>
                          <a:ea typeface="Lato"/>
                          <a:cs typeface="Lato"/>
                          <a:sym typeface="Lato"/>
                        </a:rPr>
                        <a:t>No tiene interfaces nativas. Se implementa a través del módulo abc (Abstract Base Classes).</a:t>
                      </a:r>
                      <a:endParaRPr sz="1100">
                        <a:latin typeface="Lato"/>
                        <a:ea typeface="Lato"/>
                        <a:cs typeface="Lato"/>
                        <a:sym typeface="Lato"/>
                      </a:endParaRPr>
                    </a:p>
                  </a:txBody>
                  <a:tcPr marT="19050" marB="19050" marR="91425" marL="91425" anchor="ctr">
                    <a:lnL cap="flat" cmpd="sng" w="7625">
                      <a:solidFill>
                        <a:srgbClr val="CCCCCC"/>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575150">
                <a:tc>
                  <a:txBody>
                    <a:bodyPr/>
                    <a:lstStyle/>
                    <a:p>
                      <a:pPr indent="0" lvl="0" marL="0" rtl="0" algn="ctr">
                        <a:lnSpc>
                          <a:spcPct val="115000"/>
                        </a:lnSpc>
                        <a:spcBef>
                          <a:spcPts val="0"/>
                        </a:spcBef>
                        <a:spcAft>
                          <a:spcPts val="0"/>
                        </a:spcAft>
                        <a:buNone/>
                      </a:pPr>
                      <a:r>
                        <a:rPr lang="es" sz="1100">
                          <a:latin typeface="Lato"/>
                          <a:ea typeface="Lato"/>
                          <a:cs typeface="Lato"/>
                          <a:sym typeface="Lato"/>
                        </a:rPr>
                        <a:t>Gestión de Memoria</a:t>
                      </a:r>
                      <a:endParaRPr sz="1100">
                        <a:latin typeface="Lato"/>
                        <a:ea typeface="Lato"/>
                        <a:cs typeface="Lato"/>
                        <a:sym typeface="Lato"/>
                      </a:endParaRPr>
                    </a:p>
                  </a:txBody>
                  <a:tcPr marT="19050" marB="19050" marR="28575" marL="28575"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100">
                          <a:latin typeface="Lato"/>
                          <a:ea typeface="Lato"/>
                          <a:cs typeface="Lato"/>
                          <a:sym typeface="Lato"/>
                        </a:rPr>
                        <a:t>Automática (recolector de basura).</a:t>
                      </a:r>
                      <a:endParaRPr sz="1100">
                        <a:latin typeface="Lato"/>
                        <a:ea typeface="Lato"/>
                        <a:cs typeface="Lato"/>
                        <a:sym typeface="Lato"/>
                      </a:endParaRPr>
                    </a:p>
                  </a:txBody>
                  <a:tcPr marT="19050" marB="19050" marR="28575" marL="28575"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100">
                          <a:latin typeface="Lato"/>
                          <a:ea typeface="Lato"/>
                          <a:cs typeface="Lato"/>
                          <a:sym typeface="Lato"/>
                        </a:rPr>
                        <a:t>Automática (recolector de basura).</a:t>
                      </a:r>
                      <a:endParaRPr sz="1100">
                        <a:latin typeface="Lato"/>
                        <a:ea typeface="Lato"/>
                        <a:cs typeface="Lato"/>
                        <a:sym typeface="Lato"/>
                      </a:endParaRPr>
                    </a:p>
                  </a:txBody>
                  <a:tcPr marT="19050" marB="19050" marR="28575" marL="28575"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100">
                          <a:latin typeface="Lato"/>
                          <a:ea typeface="Lato"/>
                          <a:cs typeface="Lato"/>
                          <a:sym typeface="Lato"/>
                        </a:rPr>
                        <a:t>Automática (recolector de basura).</a:t>
                      </a:r>
                      <a:endParaRPr sz="1100">
                        <a:latin typeface="Lato"/>
                        <a:ea typeface="Lato"/>
                        <a:cs typeface="Lato"/>
                        <a:sym typeface="Lato"/>
                      </a:endParaRPr>
                    </a:p>
                  </a:txBody>
                  <a:tcPr marT="19050" marB="19050" marR="91425" marL="91425" anchor="ctr">
                    <a:lnL cap="flat" cmpd="sng" w="7625">
                      <a:solidFill>
                        <a:srgbClr val="CCCCCC"/>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801475">
                <a:tc>
                  <a:txBody>
                    <a:bodyPr/>
                    <a:lstStyle/>
                    <a:p>
                      <a:pPr indent="0" lvl="0" marL="0" rtl="0" algn="ctr">
                        <a:lnSpc>
                          <a:spcPct val="115000"/>
                        </a:lnSpc>
                        <a:spcBef>
                          <a:spcPts val="0"/>
                        </a:spcBef>
                        <a:spcAft>
                          <a:spcPts val="0"/>
                        </a:spcAft>
                        <a:buNone/>
                      </a:pPr>
                      <a:r>
                        <a:rPr lang="es" sz="1100">
                          <a:latin typeface="Lato"/>
                          <a:ea typeface="Lato"/>
                          <a:cs typeface="Lato"/>
                          <a:sym typeface="Lato"/>
                        </a:rPr>
                        <a:t>Constructor</a:t>
                      </a:r>
                      <a:endParaRPr sz="1100">
                        <a:latin typeface="Lato"/>
                        <a:ea typeface="Lato"/>
                        <a:cs typeface="Lato"/>
                        <a:sym typeface="Lato"/>
                      </a:endParaRPr>
                    </a:p>
                  </a:txBody>
                  <a:tcPr marT="19050" marB="19050" marR="28575" marL="28575"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100">
                          <a:latin typeface="Lato"/>
                          <a:ea typeface="Lato"/>
                          <a:cs typeface="Lato"/>
                          <a:sym typeface="Lato"/>
                        </a:rPr>
                        <a:t>Se define con el nombre de la clase. Se puede sobrecargar.</a:t>
                      </a:r>
                      <a:endParaRPr sz="1100">
                        <a:latin typeface="Lato"/>
                        <a:ea typeface="Lato"/>
                        <a:cs typeface="Lato"/>
                        <a:sym typeface="Lato"/>
                      </a:endParaRPr>
                    </a:p>
                  </a:txBody>
                  <a:tcPr marT="19050" marB="19050" marR="28575" marL="28575"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100">
                          <a:latin typeface="Lato"/>
                          <a:ea typeface="Lato"/>
                          <a:cs typeface="Lato"/>
                          <a:sym typeface="Lato"/>
                        </a:rPr>
                        <a:t>Se define con el nombre de la clase. Se puede sobrecargar.</a:t>
                      </a:r>
                      <a:endParaRPr sz="1100">
                        <a:latin typeface="Lato"/>
                        <a:ea typeface="Lato"/>
                        <a:cs typeface="Lato"/>
                        <a:sym typeface="Lato"/>
                      </a:endParaRPr>
                    </a:p>
                  </a:txBody>
                  <a:tcPr marT="19050" marB="19050" marR="28575" marL="28575"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100">
                          <a:latin typeface="Lato"/>
                          <a:ea typeface="Lato"/>
                          <a:cs typeface="Lato"/>
                          <a:sym typeface="Lato"/>
                        </a:rPr>
                        <a:t>Se define con el método especial __init__.</a:t>
                      </a:r>
                      <a:endParaRPr sz="1100">
                        <a:latin typeface="Lato"/>
                        <a:ea typeface="Lato"/>
                        <a:cs typeface="Lato"/>
                        <a:sym typeface="Lato"/>
                      </a:endParaRPr>
                    </a:p>
                  </a:txBody>
                  <a:tcPr marT="19050" marB="19050" marR="91425" marL="91425" anchor="ctr">
                    <a:lnL cap="flat" cmpd="sng" w="7625">
                      <a:solidFill>
                        <a:srgbClr val="CCCCCC"/>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46"/>
          <p:cNvSpPr txBox="1"/>
          <p:nvPr>
            <p:ph type="title"/>
          </p:nvPr>
        </p:nvSpPr>
        <p:spPr>
          <a:xfrm>
            <a:off x="830400" y="6560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 y Java también son lenguajes multiparadigma.</a:t>
            </a:r>
            <a:endParaRPr/>
          </a:p>
        </p:txBody>
      </p:sp>
      <p:sp>
        <p:nvSpPr>
          <p:cNvPr id="342" name="Google Shape;342;p46"/>
          <p:cNvSpPr txBox="1"/>
          <p:nvPr>
            <p:ph idx="1" type="body"/>
          </p:nvPr>
        </p:nvSpPr>
        <p:spPr>
          <a:xfrm>
            <a:off x="365700" y="1237075"/>
            <a:ext cx="4137900" cy="3906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a:t>Imperativo: </a:t>
            </a:r>
            <a:r>
              <a:rPr lang="es"/>
              <a:t>Ambos lenguajes se basan en un modelo imperativo. Las instrucciones se ejecutan en una secuencia definida, y el estado del programa se puede modificar mediante variables. Todo el código de un método o función es, por naturaleza, imperativo.</a:t>
            </a:r>
            <a:endParaRPr/>
          </a:p>
          <a:p>
            <a:pPr indent="0" lvl="0" marL="0" rtl="0" algn="l">
              <a:spcBef>
                <a:spcPts val="1200"/>
              </a:spcBef>
              <a:spcAft>
                <a:spcPts val="0"/>
              </a:spcAft>
              <a:buNone/>
            </a:pPr>
            <a:r>
              <a:rPr b="1" lang="es"/>
              <a:t>Orientado a Objetos:</a:t>
            </a:r>
            <a:r>
              <a:rPr lang="es"/>
              <a:t> Este es el paradigma central de ambos. El código se organiza en torno a objetos que encapsulan datos y comportamiento, utilizando conceptos como clases, herencia y polimorfismo.</a:t>
            </a:r>
            <a:endParaRPr/>
          </a:p>
          <a:p>
            <a:pPr indent="0" lvl="0" marL="0" rtl="0" algn="l">
              <a:spcBef>
                <a:spcPts val="1200"/>
              </a:spcBef>
              <a:spcAft>
                <a:spcPts val="1200"/>
              </a:spcAft>
              <a:buNone/>
            </a:pPr>
            <a:r>
              <a:rPr b="1" lang="es"/>
              <a:t>Genérico:</a:t>
            </a:r>
            <a:r>
              <a:rPr lang="es"/>
              <a:t> Este paradigma permite escribir código que funciona con diferentes tipos de datos sin necesidad de repetirlo. En Java se implementa con las "generics" y en C# con los "generics" también. Esto promueve la reutilización y la seguridad de tipos.</a:t>
            </a:r>
            <a:endParaRPr/>
          </a:p>
        </p:txBody>
      </p:sp>
      <p:sp>
        <p:nvSpPr>
          <p:cNvPr id="343" name="Google Shape;343;p46"/>
          <p:cNvSpPr txBox="1"/>
          <p:nvPr>
            <p:ph idx="2" type="body"/>
          </p:nvPr>
        </p:nvSpPr>
        <p:spPr>
          <a:xfrm>
            <a:off x="4643600" y="1237075"/>
            <a:ext cx="4191300" cy="3906300"/>
          </a:xfrm>
          <a:prstGeom prst="rect">
            <a:avLst/>
          </a:prstGeom>
        </p:spPr>
        <p:txBody>
          <a:bodyPr anchorCtr="0" anchor="t" bIns="91425" lIns="91425" spcFirstLastPara="1" rIns="91425" wrap="square" tIns="91425">
            <a:normAutofit lnSpcReduction="10000"/>
          </a:bodyPr>
          <a:lstStyle/>
          <a:p>
            <a:pPr indent="0" lvl="0" marL="0" rtl="0" algn="l">
              <a:spcBef>
                <a:spcPts val="1200"/>
              </a:spcBef>
              <a:spcAft>
                <a:spcPts val="0"/>
              </a:spcAft>
              <a:buNone/>
            </a:pPr>
            <a:r>
              <a:rPr b="1" lang="es">
                <a:solidFill>
                  <a:srgbClr val="000000"/>
                </a:solidFill>
              </a:rPr>
              <a:t>Funcional:</a:t>
            </a:r>
            <a:r>
              <a:rPr lang="es">
                <a:solidFill>
                  <a:srgbClr val="000000"/>
                </a:solidFill>
              </a:rPr>
              <a:t> A partir de Java 8 y C# 3.0, ambos lenguajes han añadido características del paradigma funcional.</a:t>
            </a:r>
            <a:endParaRPr>
              <a:solidFill>
                <a:srgbClr val="000000"/>
              </a:solidFill>
            </a:endParaRPr>
          </a:p>
          <a:p>
            <a:pPr indent="-311150" lvl="0" marL="457200" rtl="0" algn="l">
              <a:spcBef>
                <a:spcPts val="1200"/>
              </a:spcBef>
              <a:spcAft>
                <a:spcPts val="0"/>
              </a:spcAft>
              <a:buClr>
                <a:srgbClr val="000000"/>
              </a:buClr>
              <a:buSzPts val="1300"/>
              <a:buFont typeface="Arial"/>
              <a:buChar char="●"/>
            </a:pPr>
            <a:r>
              <a:rPr b="1" lang="es">
                <a:solidFill>
                  <a:srgbClr val="000000"/>
                </a:solidFill>
              </a:rPr>
              <a:t>Java:</a:t>
            </a:r>
            <a:r>
              <a:rPr lang="es">
                <a:solidFill>
                  <a:srgbClr val="000000"/>
                </a:solidFill>
              </a:rPr>
              <a:t> Introdujo las </a:t>
            </a:r>
            <a:r>
              <a:rPr b="1" lang="es">
                <a:solidFill>
                  <a:srgbClr val="000000"/>
                </a:solidFill>
              </a:rPr>
              <a:t>expresiones lambda</a:t>
            </a:r>
            <a:r>
              <a:rPr lang="es">
                <a:solidFill>
                  <a:srgbClr val="000000"/>
                </a:solidFill>
              </a:rPr>
              <a:t> y la </a:t>
            </a:r>
            <a:r>
              <a:rPr b="1" lang="es">
                <a:solidFill>
                  <a:srgbClr val="000000"/>
                </a:solidFill>
              </a:rPr>
              <a:t>Stream API</a:t>
            </a:r>
            <a:r>
              <a:rPr lang="es">
                <a:solidFill>
                  <a:srgbClr val="000000"/>
                </a:solidFill>
              </a:rPr>
              <a:t>, que permiten procesar colecciones de datos de forma declarativa y funcional, utilizando funciones de orden superior como </a:t>
            </a:r>
            <a:r>
              <a:rPr lang="es">
                <a:solidFill>
                  <a:srgbClr val="188038"/>
                </a:solidFill>
              </a:rPr>
              <a:t>map()</a:t>
            </a:r>
            <a:r>
              <a:rPr lang="es">
                <a:solidFill>
                  <a:srgbClr val="000000"/>
                </a:solidFill>
              </a:rPr>
              <a:t>, </a:t>
            </a:r>
            <a:r>
              <a:rPr lang="es">
                <a:solidFill>
                  <a:srgbClr val="188038"/>
                </a:solidFill>
              </a:rPr>
              <a:t>filter()</a:t>
            </a:r>
            <a:r>
              <a:rPr lang="es">
                <a:solidFill>
                  <a:srgbClr val="000000"/>
                </a:solidFill>
              </a:rPr>
              <a:t> y </a:t>
            </a:r>
            <a:r>
              <a:rPr lang="es">
                <a:solidFill>
                  <a:srgbClr val="188038"/>
                </a:solidFill>
              </a:rPr>
              <a:t>reduce()</a:t>
            </a:r>
            <a:r>
              <a:rPr lang="es">
                <a:solidFill>
                  <a:srgbClr val="000000"/>
                </a:solidFill>
              </a:rPr>
              <a:t>.</a:t>
            </a:r>
            <a:endParaRPr>
              <a:solidFill>
                <a:srgbClr val="000000"/>
              </a:solidFill>
            </a:endParaRPr>
          </a:p>
          <a:p>
            <a:pPr indent="0" lvl="0" marL="457200" rtl="0" algn="l">
              <a:spcBef>
                <a:spcPts val="1200"/>
              </a:spcBef>
              <a:spcAft>
                <a:spcPts val="0"/>
              </a:spcAft>
              <a:buNone/>
            </a:pPr>
            <a:r>
              <a:t/>
            </a:r>
            <a:endParaRPr>
              <a:solidFill>
                <a:srgbClr val="000000"/>
              </a:solidFill>
            </a:endParaRPr>
          </a:p>
          <a:p>
            <a:pPr indent="-311150" lvl="0" marL="457200" rtl="0" algn="l">
              <a:spcBef>
                <a:spcPts val="1200"/>
              </a:spcBef>
              <a:spcAft>
                <a:spcPts val="0"/>
              </a:spcAft>
              <a:buClr>
                <a:srgbClr val="000000"/>
              </a:buClr>
              <a:buSzPts val="1300"/>
              <a:buFont typeface="Arial"/>
              <a:buChar char="●"/>
            </a:pPr>
            <a:r>
              <a:rPr b="1" lang="es">
                <a:solidFill>
                  <a:srgbClr val="000000"/>
                </a:solidFill>
              </a:rPr>
              <a:t>C#:</a:t>
            </a:r>
            <a:r>
              <a:rPr lang="es">
                <a:solidFill>
                  <a:srgbClr val="000000"/>
                </a:solidFill>
              </a:rPr>
              <a:t> Incorporó </a:t>
            </a:r>
            <a:r>
              <a:rPr b="1" lang="es">
                <a:solidFill>
                  <a:srgbClr val="000000"/>
                </a:solidFill>
              </a:rPr>
              <a:t>expresiones lambda</a:t>
            </a:r>
            <a:r>
              <a:rPr lang="es">
                <a:solidFill>
                  <a:srgbClr val="000000"/>
                </a:solidFill>
              </a:rPr>
              <a:t> y </a:t>
            </a:r>
            <a:r>
              <a:rPr b="1" lang="es">
                <a:solidFill>
                  <a:srgbClr val="000000"/>
                </a:solidFill>
              </a:rPr>
              <a:t>LINQ</a:t>
            </a:r>
            <a:r>
              <a:rPr lang="es">
                <a:solidFill>
                  <a:srgbClr val="000000"/>
                </a:solidFill>
              </a:rPr>
              <a:t> (Language-Integrated Query), una potente característica que permite escribir consultas declarativas sobre colecciones de datos, similar a SQL.</a:t>
            </a:r>
            <a:endParaRPr>
              <a:solidFill>
                <a:srgbClr val="000000"/>
              </a:solidFill>
            </a:endParaRPr>
          </a:p>
          <a:p>
            <a:pPr indent="0" lvl="0" marL="0" rtl="0" algn="l">
              <a:spcBef>
                <a:spcPts val="1200"/>
              </a:spcBef>
              <a:spcAft>
                <a:spcPts val="1200"/>
              </a:spcAft>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47"/>
          <p:cNvSpPr txBox="1"/>
          <p:nvPr>
            <p:ph type="title"/>
          </p:nvPr>
        </p:nvSpPr>
        <p:spPr>
          <a:xfrm>
            <a:off x="830400" y="6560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Otros lenguajes de </a:t>
            </a:r>
            <a:r>
              <a:rPr lang="es"/>
              <a:t>programación</a:t>
            </a:r>
            <a:r>
              <a:rPr lang="es"/>
              <a:t> que soportan POO</a:t>
            </a:r>
            <a:endParaRPr/>
          </a:p>
        </p:txBody>
      </p:sp>
      <p:sp>
        <p:nvSpPr>
          <p:cNvPr id="349" name="Google Shape;349;p47"/>
          <p:cNvSpPr txBox="1"/>
          <p:nvPr>
            <p:ph idx="1" type="body"/>
          </p:nvPr>
        </p:nvSpPr>
        <p:spPr>
          <a:xfrm>
            <a:off x="355025" y="1237075"/>
            <a:ext cx="4148700" cy="39063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s" sz="1100">
                <a:solidFill>
                  <a:srgbClr val="000000"/>
                </a:solidFill>
              </a:rPr>
              <a:t>C++</a:t>
            </a:r>
            <a:r>
              <a:rPr lang="es" sz="1100">
                <a:solidFill>
                  <a:srgbClr val="000000"/>
                </a:solidFill>
              </a:rPr>
              <a:t> es uno de los lenguajes de POO más influyentes y ampliamente utilizados. Es un superset de C, incluye el paradigma imperativo de C y añade conceptos clave de POO como </a:t>
            </a:r>
            <a:r>
              <a:rPr b="1" lang="es" sz="1100">
                <a:solidFill>
                  <a:srgbClr val="000000"/>
                </a:solidFill>
              </a:rPr>
              <a:t>clases</a:t>
            </a:r>
            <a:r>
              <a:rPr lang="es" sz="1100">
                <a:solidFill>
                  <a:srgbClr val="000000"/>
                </a:solidFill>
              </a:rPr>
              <a:t>, </a:t>
            </a:r>
            <a:r>
              <a:rPr b="1" lang="es" sz="1100">
                <a:solidFill>
                  <a:srgbClr val="000000"/>
                </a:solidFill>
              </a:rPr>
              <a:t>objetos</a:t>
            </a:r>
            <a:r>
              <a:rPr lang="es" sz="1100">
                <a:solidFill>
                  <a:srgbClr val="000000"/>
                </a:solidFill>
              </a:rPr>
              <a:t>, </a:t>
            </a:r>
            <a:r>
              <a:rPr b="1" lang="es" sz="1100">
                <a:solidFill>
                  <a:srgbClr val="000000"/>
                </a:solidFill>
              </a:rPr>
              <a:t>herencia</a:t>
            </a:r>
            <a:r>
              <a:rPr lang="es" sz="1100">
                <a:solidFill>
                  <a:srgbClr val="000000"/>
                </a:solidFill>
              </a:rPr>
              <a:t>, </a:t>
            </a:r>
            <a:r>
              <a:rPr b="1" lang="es" sz="1100">
                <a:solidFill>
                  <a:srgbClr val="000000"/>
                </a:solidFill>
              </a:rPr>
              <a:t>polimorfismo</a:t>
            </a:r>
            <a:r>
              <a:rPr lang="es" sz="1100">
                <a:solidFill>
                  <a:srgbClr val="000000"/>
                </a:solidFill>
              </a:rPr>
              <a:t> y </a:t>
            </a:r>
            <a:r>
              <a:rPr b="1" lang="es" sz="1100">
                <a:solidFill>
                  <a:srgbClr val="000000"/>
                </a:solidFill>
              </a:rPr>
              <a:t>encapsulamiento</a:t>
            </a:r>
            <a:r>
              <a:rPr lang="es" sz="1100">
                <a:solidFill>
                  <a:srgbClr val="000000"/>
                </a:solidFill>
              </a:rPr>
              <a:t>. Es especialmente popular en el desarrollo de software de alto rendimiento, como motores de videojuegos, sistemas operativos y aplicaciones de escritorio.</a:t>
            </a:r>
            <a:endParaRPr sz="1100">
              <a:solidFill>
                <a:srgbClr val="000000"/>
              </a:solidFill>
            </a:endParaRPr>
          </a:p>
          <a:p>
            <a:pPr indent="0" lvl="0" marL="0" rtl="0" algn="l">
              <a:spcBef>
                <a:spcPts val="1200"/>
              </a:spcBef>
              <a:spcAft>
                <a:spcPts val="0"/>
              </a:spcAft>
              <a:buNone/>
            </a:pPr>
            <a:r>
              <a:rPr b="1" lang="es" sz="1100">
                <a:solidFill>
                  <a:srgbClr val="000000"/>
                </a:solidFill>
              </a:rPr>
              <a:t>Ruby</a:t>
            </a:r>
            <a:r>
              <a:rPr lang="es" sz="1100">
                <a:solidFill>
                  <a:srgbClr val="000000"/>
                </a:solidFill>
              </a:rPr>
              <a:t> es un lenguaje de programación dinámico y de código abierto. Fue diseñado para que la programación fuera más productiva y divertida, con un fuerte enfoque en la POO. En Ruby, </a:t>
            </a:r>
            <a:r>
              <a:rPr b="1" lang="es" sz="1100">
                <a:solidFill>
                  <a:srgbClr val="000000"/>
                </a:solidFill>
              </a:rPr>
              <a:t>todo es un objeto</a:t>
            </a:r>
            <a:r>
              <a:rPr lang="es" sz="1100">
                <a:solidFill>
                  <a:srgbClr val="000000"/>
                </a:solidFill>
              </a:rPr>
              <a:t>, incluso tipos de datos primitivos como los números y las cadenas de texto. Su sintaxis elegante y expresiva facilita la implementación de patrones de diseño orientados a objetos.</a:t>
            </a:r>
            <a:endParaRPr sz="1100">
              <a:solidFill>
                <a:srgbClr val="000000"/>
              </a:solidFill>
            </a:endParaRPr>
          </a:p>
          <a:p>
            <a:pPr indent="0" lvl="0" marL="0" rtl="0" algn="l">
              <a:spcBef>
                <a:spcPts val="1200"/>
              </a:spcBef>
              <a:spcAft>
                <a:spcPts val="1200"/>
              </a:spcAft>
              <a:buNone/>
            </a:pPr>
            <a:r>
              <a:rPr b="1" lang="es" sz="1100">
                <a:solidFill>
                  <a:srgbClr val="000000"/>
                </a:solidFill>
              </a:rPr>
              <a:t>Swift</a:t>
            </a:r>
            <a:r>
              <a:rPr lang="es" sz="1100">
                <a:solidFill>
                  <a:srgbClr val="000000"/>
                </a:solidFill>
              </a:rPr>
              <a:t> es el lenguaje de programación de Apple para crear aplicaciones en iOS, macOS, watchOS y tvOS. Se diseñó para ser más seguro y moderno que su predecesor, Objective-C, con un fuerte enfoque en la POO. Combina las características de lenguajes como C y Python, y su sintaxis es limpia y concisa.</a:t>
            </a:r>
            <a:endParaRPr sz="1100">
              <a:solidFill>
                <a:srgbClr val="000000"/>
              </a:solidFill>
            </a:endParaRPr>
          </a:p>
        </p:txBody>
      </p:sp>
      <p:sp>
        <p:nvSpPr>
          <p:cNvPr id="350" name="Google Shape;350;p47"/>
          <p:cNvSpPr txBox="1"/>
          <p:nvPr>
            <p:ph idx="2" type="body"/>
          </p:nvPr>
        </p:nvSpPr>
        <p:spPr>
          <a:xfrm>
            <a:off x="4643600" y="1237075"/>
            <a:ext cx="4148700" cy="3906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sz="1100">
                <a:solidFill>
                  <a:srgbClr val="000000"/>
                </a:solidFill>
              </a:rPr>
              <a:t>Aunque PHP </a:t>
            </a:r>
            <a:r>
              <a:rPr lang="es" sz="1100">
                <a:solidFill>
                  <a:srgbClr val="000000"/>
                </a:solidFill>
              </a:rPr>
              <a:t>comenzó como un lenguaje de scripting simple, ha evolucionado significativamente para adoptar un modelo de POO completo y robusto. Las versiones modernas de </a:t>
            </a:r>
            <a:r>
              <a:rPr b="1" lang="es" sz="1100">
                <a:solidFill>
                  <a:srgbClr val="000000"/>
                </a:solidFill>
              </a:rPr>
              <a:t>PHP</a:t>
            </a:r>
            <a:r>
              <a:rPr lang="es" sz="1100">
                <a:solidFill>
                  <a:srgbClr val="000000"/>
                </a:solidFill>
              </a:rPr>
              <a:t> soportan clases, interfaces, herencia, polimorfismo y espacios de nombres. Es uno de los lenguajes más utilizados para el desarrollo web del lado del servidor.</a:t>
            </a:r>
            <a:endParaRPr sz="1100">
              <a:solidFill>
                <a:srgbClr val="000000"/>
              </a:solidFill>
            </a:endParaRPr>
          </a:p>
          <a:p>
            <a:pPr indent="0" lvl="0" marL="0" rtl="0" algn="l">
              <a:spcBef>
                <a:spcPts val="1200"/>
              </a:spcBef>
              <a:spcAft>
                <a:spcPts val="0"/>
              </a:spcAft>
              <a:buNone/>
            </a:pPr>
            <a:r>
              <a:rPr b="1" lang="es" sz="1100">
                <a:solidFill>
                  <a:srgbClr val="000000"/>
                </a:solidFill>
              </a:rPr>
              <a:t>Smalltalk</a:t>
            </a:r>
            <a:r>
              <a:rPr lang="es" sz="1100">
                <a:solidFill>
                  <a:srgbClr val="000000"/>
                </a:solidFill>
              </a:rPr>
              <a:t> es un lenguaje histórico y uno de los pioneros de la programación orientada a objetos. Su filosofía de que </a:t>
            </a:r>
            <a:r>
              <a:rPr b="1" lang="es" sz="1100">
                <a:solidFill>
                  <a:srgbClr val="000000"/>
                </a:solidFill>
              </a:rPr>
              <a:t>todo es un objeto</a:t>
            </a:r>
            <a:r>
              <a:rPr lang="es" sz="1100">
                <a:solidFill>
                  <a:srgbClr val="000000"/>
                </a:solidFill>
              </a:rPr>
              <a:t> influyó directamente en el diseño de lenguajes modernos como Ruby. Aunque no es tan popular hoy en día, su modelo de objetos sigue siendo una referencia importante para los programadores.</a:t>
            </a:r>
            <a:endParaRPr sz="1100">
              <a:solidFill>
                <a:srgbClr val="000000"/>
              </a:solidFill>
            </a:endParaRPr>
          </a:p>
          <a:p>
            <a:pPr indent="0" lvl="0" marL="0" rtl="0" algn="l">
              <a:spcBef>
                <a:spcPts val="1200"/>
              </a:spcBef>
              <a:spcAft>
                <a:spcPts val="1200"/>
              </a:spcAft>
              <a:buNone/>
            </a:pPr>
            <a:r>
              <a:rPr b="1" lang="es" sz="1100">
                <a:solidFill>
                  <a:srgbClr val="000000"/>
                </a:solidFill>
              </a:rPr>
              <a:t>JavaScript</a:t>
            </a:r>
            <a:r>
              <a:rPr lang="es" sz="1100">
                <a:solidFill>
                  <a:srgbClr val="000000"/>
                </a:solidFill>
              </a:rPr>
              <a:t> es un lenguaje de programación de alto nivel, dinámico y de multiparadigma. Es uno de los lenguajes fundamentales de la World Wide Web, junto con HTML y CSS.</a:t>
            </a:r>
            <a:endParaRPr sz="1100">
              <a:solidFill>
                <a:srgbClr val="000000"/>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48"/>
          <p:cNvSpPr txBox="1"/>
          <p:nvPr>
            <p:ph type="title"/>
          </p:nvPr>
        </p:nvSpPr>
        <p:spPr>
          <a:xfrm>
            <a:off x="830400" y="6560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Paradigma de Eventos</a:t>
            </a:r>
            <a:endParaRPr/>
          </a:p>
        </p:txBody>
      </p:sp>
      <p:sp>
        <p:nvSpPr>
          <p:cNvPr id="356" name="Google Shape;356;p48"/>
          <p:cNvSpPr txBox="1"/>
          <p:nvPr>
            <p:ph idx="1" type="body"/>
          </p:nvPr>
        </p:nvSpPr>
        <p:spPr>
          <a:xfrm>
            <a:off x="365700" y="1237075"/>
            <a:ext cx="4137900" cy="39063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0"/>
              </a:spcAft>
              <a:buNone/>
            </a:pPr>
            <a:r>
              <a:rPr lang="es"/>
              <a:t>La ejecución del programa está determinada por eventos externos, como clics del mouse, pulsaciones de teclas o mensajes del sistema. </a:t>
            </a:r>
            <a:endParaRPr/>
          </a:p>
          <a:p>
            <a:pPr indent="0" lvl="0" marL="0" rtl="0" algn="l">
              <a:lnSpc>
                <a:spcPct val="150000"/>
              </a:lnSpc>
              <a:spcBef>
                <a:spcPts val="1200"/>
              </a:spcBef>
              <a:spcAft>
                <a:spcPts val="0"/>
              </a:spcAft>
              <a:buNone/>
            </a:pPr>
            <a:r>
              <a:rPr lang="es"/>
              <a:t>El programa tiene un bucle principal que espera eventos y ejecuta las funciones (o "manejadores de eventos") correspondientes.</a:t>
            </a:r>
            <a:endParaRPr/>
          </a:p>
          <a:p>
            <a:pPr indent="0" lvl="0" marL="0" rtl="0" algn="l">
              <a:lnSpc>
                <a:spcPct val="150000"/>
              </a:lnSpc>
              <a:spcBef>
                <a:spcPts val="1200"/>
              </a:spcBef>
              <a:spcAft>
                <a:spcPts val="0"/>
              </a:spcAft>
              <a:buNone/>
            </a:pPr>
            <a:r>
              <a:rPr lang="es"/>
              <a:t>En este ejemplo, el código está "escuchando" pasivamente un evento de clic. </a:t>
            </a:r>
            <a:endParaRPr/>
          </a:p>
          <a:p>
            <a:pPr indent="0" lvl="0" marL="0" rtl="0" algn="l">
              <a:lnSpc>
                <a:spcPct val="150000"/>
              </a:lnSpc>
              <a:spcBef>
                <a:spcPts val="1200"/>
              </a:spcBef>
              <a:spcAft>
                <a:spcPts val="1200"/>
              </a:spcAft>
              <a:buNone/>
            </a:pPr>
            <a:r>
              <a:rPr lang="es"/>
              <a:t>La función anónima (el manejador de eventos) solo se ejecutará cuando el usuario haga clic en el botón.</a:t>
            </a:r>
            <a:endParaRPr/>
          </a:p>
        </p:txBody>
      </p:sp>
      <p:sp>
        <p:nvSpPr>
          <p:cNvPr id="357" name="Google Shape;357;p48"/>
          <p:cNvSpPr txBox="1"/>
          <p:nvPr>
            <p:ph idx="2" type="body"/>
          </p:nvPr>
        </p:nvSpPr>
        <p:spPr>
          <a:xfrm>
            <a:off x="4643600" y="1237075"/>
            <a:ext cx="3774300" cy="3102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JavaScript</a:t>
            </a:r>
            <a:endParaRPr/>
          </a:p>
        </p:txBody>
      </p:sp>
      <p:pic>
        <p:nvPicPr>
          <p:cNvPr id="358" name="Google Shape;358;p48"/>
          <p:cNvPicPr preferRelativeResize="0"/>
          <p:nvPr/>
        </p:nvPicPr>
        <p:blipFill>
          <a:blip r:embed="rId3">
            <a:alphaModFix/>
          </a:blip>
          <a:stretch>
            <a:fillRect/>
          </a:stretch>
        </p:blipFill>
        <p:spPr>
          <a:xfrm>
            <a:off x="4643600" y="1675525"/>
            <a:ext cx="4500401" cy="1993186"/>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49"/>
          <p:cNvSpPr txBox="1"/>
          <p:nvPr>
            <p:ph type="title"/>
          </p:nvPr>
        </p:nvSpPr>
        <p:spPr>
          <a:xfrm>
            <a:off x="55625" y="0"/>
            <a:ext cx="3710400" cy="1101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Java: Eventos en una Interfaz Gráfica (AWT/Swing)</a:t>
            </a:r>
            <a:endParaRPr/>
          </a:p>
        </p:txBody>
      </p:sp>
      <p:sp>
        <p:nvSpPr>
          <p:cNvPr id="364" name="Google Shape;364;p49"/>
          <p:cNvSpPr txBox="1"/>
          <p:nvPr>
            <p:ph idx="1" type="body"/>
          </p:nvPr>
        </p:nvSpPr>
        <p:spPr>
          <a:xfrm>
            <a:off x="141150" y="1237075"/>
            <a:ext cx="3624900" cy="39063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0"/>
              </a:spcAft>
              <a:buNone/>
            </a:pPr>
            <a:r>
              <a:rPr lang="es"/>
              <a:t>L</a:t>
            </a:r>
            <a:r>
              <a:rPr lang="es"/>
              <a:t>os eventos se gestionan con "listeners" o escuchadores, que son objetos que "esperan" un evento para ejecutar una acción.</a:t>
            </a:r>
            <a:endParaRPr/>
          </a:p>
          <a:p>
            <a:pPr indent="0" lvl="0" marL="0" rtl="0" algn="l">
              <a:lnSpc>
                <a:spcPct val="150000"/>
              </a:lnSpc>
              <a:spcBef>
                <a:spcPts val="1200"/>
              </a:spcBef>
              <a:spcAft>
                <a:spcPts val="0"/>
              </a:spcAft>
              <a:buNone/>
            </a:pPr>
            <a:r>
              <a:rPr lang="es"/>
              <a:t>Este ejemplo usa la librería AWT, que es la base de Swing.</a:t>
            </a:r>
            <a:endParaRPr/>
          </a:p>
          <a:p>
            <a:pPr indent="0" lvl="0" marL="0" rtl="0" algn="l">
              <a:lnSpc>
                <a:spcPct val="150000"/>
              </a:lnSpc>
              <a:spcBef>
                <a:spcPts val="1200"/>
              </a:spcBef>
              <a:spcAft>
                <a:spcPts val="0"/>
              </a:spcAft>
              <a:buNone/>
            </a:pPr>
            <a:r>
              <a:rPr lang="es">
                <a:solidFill>
                  <a:srgbClr val="000000"/>
                </a:solidFill>
              </a:rPr>
              <a:t>El método </a:t>
            </a:r>
            <a:r>
              <a:rPr lang="es">
                <a:solidFill>
                  <a:srgbClr val="188038"/>
                </a:solidFill>
              </a:rPr>
              <a:t>actionPerformed</a:t>
            </a:r>
            <a:r>
              <a:rPr lang="es">
                <a:solidFill>
                  <a:srgbClr val="000000"/>
                </a:solidFill>
              </a:rPr>
              <a:t> no se ejecuta inmediatamente. </a:t>
            </a:r>
            <a:endParaRPr>
              <a:solidFill>
                <a:srgbClr val="000000"/>
              </a:solidFill>
            </a:endParaRPr>
          </a:p>
          <a:p>
            <a:pPr indent="0" lvl="0" marL="0" rtl="0" algn="l">
              <a:lnSpc>
                <a:spcPct val="150000"/>
              </a:lnSpc>
              <a:spcBef>
                <a:spcPts val="1200"/>
              </a:spcBef>
              <a:spcAft>
                <a:spcPts val="1200"/>
              </a:spcAft>
              <a:buNone/>
            </a:pPr>
            <a:r>
              <a:rPr lang="es">
                <a:solidFill>
                  <a:srgbClr val="000000"/>
                </a:solidFill>
              </a:rPr>
              <a:t>En cambio, el </a:t>
            </a:r>
            <a:r>
              <a:rPr lang="es">
                <a:solidFill>
                  <a:srgbClr val="188038"/>
                </a:solidFill>
              </a:rPr>
              <a:t>ActionListener</a:t>
            </a:r>
            <a:r>
              <a:rPr lang="es">
                <a:solidFill>
                  <a:srgbClr val="000000"/>
                </a:solidFill>
              </a:rPr>
              <a:t> espera a que el evento de clic del botón ocurra. Cuando sucede, el sistema notifica al </a:t>
            </a:r>
            <a:r>
              <a:rPr lang="es">
                <a:solidFill>
                  <a:srgbClr val="188038"/>
                </a:solidFill>
              </a:rPr>
              <a:t>listener</a:t>
            </a:r>
            <a:r>
              <a:rPr lang="es">
                <a:solidFill>
                  <a:srgbClr val="000000"/>
                </a:solidFill>
              </a:rPr>
              <a:t> y el código dentro de </a:t>
            </a:r>
            <a:r>
              <a:rPr lang="es">
                <a:solidFill>
                  <a:srgbClr val="188038"/>
                </a:solidFill>
              </a:rPr>
              <a:t>actionPerformed</a:t>
            </a:r>
            <a:r>
              <a:rPr lang="es">
                <a:solidFill>
                  <a:srgbClr val="000000"/>
                </a:solidFill>
              </a:rPr>
              <a:t> se ejecuta.</a:t>
            </a:r>
            <a:endParaRPr/>
          </a:p>
        </p:txBody>
      </p:sp>
      <p:sp>
        <p:nvSpPr>
          <p:cNvPr id="365" name="Google Shape;365;p49"/>
          <p:cNvSpPr txBox="1"/>
          <p:nvPr>
            <p:ph idx="2" type="body"/>
          </p:nvPr>
        </p:nvSpPr>
        <p:spPr>
          <a:xfrm>
            <a:off x="4643600" y="1237075"/>
            <a:ext cx="3774300" cy="3102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66" name="Google Shape;366;p49"/>
          <p:cNvPicPr preferRelativeResize="0"/>
          <p:nvPr/>
        </p:nvPicPr>
        <p:blipFill>
          <a:blip r:embed="rId3">
            <a:alphaModFix/>
          </a:blip>
          <a:stretch>
            <a:fillRect/>
          </a:stretch>
        </p:blipFill>
        <p:spPr>
          <a:xfrm>
            <a:off x="3870547" y="0"/>
            <a:ext cx="5273455" cy="51435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50"/>
          <p:cNvSpPr txBox="1"/>
          <p:nvPr>
            <p:ph type="title"/>
          </p:nvPr>
        </p:nvSpPr>
        <p:spPr>
          <a:xfrm>
            <a:off x="830400" y="6560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Python: Eventos en una Interfaz Gráfica (Tkinter)</a:t>
            </a:r>
            <a:endParaRPr/>
          </a:p>
        </p:txBody>
      </p:sp>
      <p:sp>
        <p:nvSpPr>
          <p:cNvPr id="372" name="Google Shape;372;p50"/>
          <p:cNvSpPr txBox="1"/>
          <p:nvPr>
            <p:ph idx="1" type="body"/>
          </p:nvPr>
        </p:nvSpPr>
        <p:spPr>
          <a:xfrm>
            <a:off x="729325" y="1237075"/>
            <a:ext cx="7688400" cy="3102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T</a:t>
            </a:r>
            <a:r>
              <a:rPr lang="es"/>
              <a:t>ambién utiliza "listeners" o "callbacks" para la gestión de eventos, aunque la sintaxis es más concisa. Tkinter es la librería estándar de Python para crear interfaces gráficas de usuario.</a:t>
            </a:r>
            <a:endParaRPr/>
          </a:p>
        </p:txBody>
      </p:sp>
      <p:pic>
        <p:nvPicPr>
          <p:cNvPr id="373" name="Google Shape;373;p50"/>
          <p:cNvPicPr preferRelativeResize="0"/>
          <p:nvPr/>
        </p:nvPicPr>
        <p:blipFill>
          <a:blip r:embed="rId3">
            <a:alphaModFix/>
          </a:blip>
          <a:stretch>
            <a:fillRect/>
          </a:stretch>
        </p:blipFill>
        <p:spPr>
          <a:xfrm>
            <a:off x="103260" y="1874247"/>
            <a:ext cx="5737975" cy="3269251"/>
          </a:xfrm>
          <a:prstGeom prst="rect">
            <a:avLst/>
          </a:prstGeom>
          <a:noFill/>
          <a:ln>
            <a:noFill/>
          </a:ln>
        </p:spPr>
      </p:pic>
      <p:sp>
        <p:nvSpPr>
          <p:cNvPr id="374" name="Google Shape;374;p50"/>
          <p:cNvSpPr txBox="1"/>
          <p:nvPr/>
        </p:nvSpPr>
        <p:spPr>
          <a:xfrm>
            <a:off x="5966875" y="1869142"/>
            <a:ext cx="3000000" cy="33864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s" sz="1300">
                <a:latin typeface="Lato"/>
                <a:ea typeface="Lato"/>
                <a:cs typeface="Lato"/>
                <a:sym typeface="Lato"/>
              </a:rPr>
              <a:t>L</a:t>
            </a:r>
            <a:r>
              <a:rPr lang="es" sz="1300">
                <a:latin typeface="Lato"/>
                <a:ea typeface="Lato"/>
                <a:cs typeface="Lato"/>
                <a:sym typeface="Lato"/>
              </a:rPr>
              <a:t>a función </a:t>
            </a:r>
            <a:r>
              <a:rPr lang="es" sz="1300">
                <a:solidFill>
                  <a:srgbClr val="188038"/>
                </a:solidFill>
                <a:latin typeface="Lato"/>
                <a:ea typeface="Lato"/>
                <a:cs typeface="Lato"/>
                <a:sym typeface="Lato"/>
              </a:rPr>
              <a:t>manejar_clic</a:t>
            </a:r>
            <a:r>
              <a:rPr lang="es" sz="1300">
                <a:latin typeface="Lato"/>
                <a:ea typeface="Lato"/>
                <a:cs typeface="Lato"/>
                <a:sym typeface="Lato"/>
              </a:rPr>
              <a:t> es el </a:t>
            </a:r>
            <a:r>
              <a:rPr b="1" lang="es" sz="1300">
                <a:latin typeface="Lato"/>
                <a:ea typeface="Lato"/>
                <a:cs typeface="Lato"/>
                <a:sym typeface="Lato"/>
              </a:rPr>
              <a:t>manejador de eventos</a:t>
            </a:r>
            <a:r>
              <a:rPr lang="es" sz="1300">
                <a:latin typeface="Lato"/>
                <a:ea typeface="Lato"/>
                <a:cs typeface="Lato"/>
                <a:sym typeface="Lato"/>
              </a:rPr>
              <a:t>. La línea </a:t>
            </a:r>
            <a:r>
              <a:rPr lang="es" sz="1300">
                <a:solidFill>
                  <a:srgbClr val="188038"/>
                </a:solidFill>
                <a:latin typeface="Lato"/>
                <a:ea typeface="Lato"/>
                <a:cs typeface="Lato"/>
                <a:sym typeface="Lato"/>
              </a:rPr>
              <a:t>command=manejar_clic</a:t>
            </a:r>
            <a:r>
              <a:rPr lang="es" sz="1300">
                <a:latin typeface="Lato"/>
                <a:ea typeface="Lato"/>
                <a:cs typeface="Lato"/>
                <a:sym typeface="Lato"/>
              </a:rPr>
              <a:t> asocia la función con el evento de clic del botón. El método </a:t>
            </a:r>
            <a:r>
              <a:rPr lang="es" sz="1300">
                <a:solidFill>
                  <a:srgbClr val="188038"/>
                </a:solidFill>
                <a:latin typeface="Lato"/>
                <a:ea typeface="Lato"/>
                <a:cs typeface="Lato"/>
                <a:sym typeface="Lato"/>
              </a:rPr>
              <a:t>mainloop()</a:t>
            </a:r>
            <a:r>
              <a:rPr lang="es" sz="1300">
                <a:latin typeface="Lato"/>
                <a:ea typeface="Lato"/>
                <a:cs typeface="Lato"/>
                <a:sym typeface="Lato"/>
              </a:rPr>
              <a:t> pone la aplicación en un bucle que monitorea los eventos del usuario (como clics de ratón o pulsaciones de teclado) y despacha la ejecución a las funciones correspondientes cuando un evento ocurre.</a:t>
            </a:r>
            <a:endParaRPr sz="1300">
              <a:latin typeface="Lato"/>
              <a:ea typeface="Lato"/>
              <a:cs typeface="Lato"/>
              <a:sym typeface="Lato"/>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51"/>
          <p:cNvSpPr txBox="1"/>
          <p:nvPr>
            <p:ph type="title"/>
          </p:nvPr>
        </p:nvSpPr>
        <p:spPr>
          <a:xfrm>
            <a:off x="830400" y="6560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Paradigma Reactivo</a:t>
            </a:r>
            <a:endParaRPr/>
          </a:p>
        </p:txBody>
      </p:sp>
      <p:sp>
        <p:nvSpPr>
          <p:cNvPr id="380" name="Google Shape;380;p51"/>
          <p:cNvSpPr txBox="1"/>
          <p:nvPr>
            <p:ph idx="1" type="body"/>
          </p:nvPr>
        </p:nvSpPr>
        <p:spPr>
          <a:xfrm>
            <a:off x="355025" y="1237075"/>
            <a:ext cx="3892500" cy="37881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s" sz="1200">
                <a:solidFill>
                  <a:srgbClr val="000000"/>
                </a:solidFill>
              </a:rPr>
              <a:t>Se enfoca en el manejo de flujos de datos asíncronos. </a:t>
            </a:r>
            <a:endParaRPr sz="1200">
              <a:solidFill>
                <a:srgbClr val="000000"/>
              </a:solidFill>
            </a:endParaRPr>
          </a:p>
          <a:p>
            <a:pPr indent="0" lvl="0" marL="0" rtl="0" algn="l">
              <a:spcBef>
                <a:spcPts val="1200"/>
              </a:spcBef>
              <a:spcAft>
                <a:spcPts val="0"/>
              </a:spcAft>
              <a:buNone/>
            </a:pPr>
            <a:r>
              <a:rPr lang="es" sz="1200">
                <a:solidFill>
                  <a:srgbClr val="000000"/>
                </a:solidFill>
              </a:rPr>
              <a:t>En lugar de ejecutar una secuencia de pasos, el código "reacciona" a los cambios en los datos. </a:t>
            </a:r>
            <a:endParaRPr sz="1200">
              <a:solidFill>
                <a:srgbClr val="000000"/>
              </a:solidFill>
            </a:endParaRPr>
          </a:p>
          <a:p>
            <a:pPr indent="0" lvl="0" marL="0" rtl="0" algn="l">
              <a:spcBef>
                <a:spcPts val="1200"/>
              </a:spcBef>
              <a:spcAft>
                <a:spcPts val="0"/>
              </a:spcAft>
              <a:buNone/>
            </a:pPr>
            <a:r>
              <a:rPr lang="es" sz="1200">
                <a:solidFill>
                  <a:srgbClr val="000000"/>
                </a:solidFill>
              </a:rPr>
              <a:t>Un componente clave es el </a:t>
            </a:r>
            <a:r>
              <a:rPr b="1" lang="es" sz="1200">
                <a:solidFill>
                  <a:srgbClr val="000000"/>
                </a:solidFill>
              </a:rPr>
              <a:t>flujo de datos</a:t>
            </a:r>
            <a:r>
              <a:rPr lang="es" sz="1200">
                <a:solidFill>
                  <a:srgbClr val="000000"/>
                </a:solidFill>
              </a:rPr>
              <a:t> o </a:t>
            </a:r>
            <a:r>
              <a:rPr i="1" lang="es" sz="1200">
                <a:solidFill>
                  <a:srgbClr val="000000"/>
                </a:solidFill>
              </a:rPr>
              <a:t>stream</a:t>
            </a:r>
            <a:r>
              <a:rPr lang="es" sz="1200">
                <a:solidFill>
                  <a:srgbClr val="000000"/>
                </a:solidFill>
              </a:rPr>
              <a:t>, que puede emitir valores, errores y señales de que ha finalizado.</a:t>
            </a:r>
            <a:endParaRPr sz="1200">
              <a:solidFill>
                <a:srgbClr val="000000"/>
              </a:solidFill>
            </a:endParaRPr>
          </a:p>
          <a:p>
            <a:pPr indent="0" lvl="0" marL="0" rtl="0" algn="l">
              <a:spcBef>
                <a:spcPts val="1200"/>
              </a:spcBef>
              <a:spcAft>
                <a:spcPts val="0"/>
              </a:spcAft>
              <a:buNone/>
            </a:pPr>
            <a:r>
              <a:rPr lang="es" sz="1200">
                <a:solidFill>
                  <a:srgbClr val="000000"/>
                </a:solidFill>
              </a:rPr>
              <a:t>Este paradigma es ideal para aplicaciones que necesitan </a:t>
            </a:r>
            <a:r>
              <a:rPr b="1" lang="es" sz="1200">
                <a:solidFill>
                  <a:srgbClr val="000000"/>
                </a:solidFill>
              </a:rPr>
              <a:t>responder a eventos externos en tiempo real,</a:t>
            </a:r>
            <a:r>
              <a:rPr lang="es" sz="1200">
                <a:solidFill>
                  <a:srgbClr val="000000"/>
                </a:solidFill>
              </a:rPr>
              <a:t> como cambios en la interfaz de usuario, actualizaciones de bases de datos, o respuestas de servidores.</a:t>
            </a:r>
            <a:endParaRPr sz="1200">
              <a:solidFill>
                <a:srgbClr val="000000"/>
              </a:solidFill>
            </a:endParaRPr>
          </a:p>
          <a:p>
            <a:pPr indent="0" lvl="0" marL="0" rtl="0" algn="l">
              <a:spcBef>
                <a:spcPts val="1200"/>
              </a:spcBef>
              <a:spcAft>
                <a:spcPts val="1200"/>
              </a:spcAft>
              <a:buNone/>
            </a:pPr>
            <a:r>
              <a:rPr lang="es" sz="1200">
                <a:solidFill>
                  <a:srgbClr val="000000"/>
                </a:solidFill>
              </a:rPr>
              <a:t>Es uno de los pilares del desarrollo de videojuegos en línea.</a:t>
            </a:r>
            <a:endParaRPr sz="1400"/>
          </a:p>
        </p:txBody>
      </p:sp>
      <p:sp>
        <p:nvSpPr>
          <p:cNvPr id="381" name="Google Shape;381;p51"/>
          <p:cNvSpPr txBox="1"/>
          <p:nvPr>
            <p:ph idx="2" type="body"/>
          </p:nvPr>
        </p:nvSpPr>
        <p:spPr>
          <a:xfrm>
            <a:off x="4643600" y="1237075"/>
            <a:ext cx="3774300" cy="3102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82" name="Google Shape;382;p51"/>
          <p:cNvPicPr preferRelativeResize="0"/>
          <p:nvPr/>
        </p:nvPicPr>
        <p:blipFill>
          <a:blip r:embed="rId3">
            <a:alphaModFix/>
          </a:blip>
          <a:stretch>
            <a:fillRect/>
          </a:stretch>
        </p:blipFill>
        <p:spPr>
          <a:xfrm>
            <a:off x="4411850" y="953325"/>
            <a:ext cx="4732150" cy="3788099"/>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52"/>
          <p:cNvSpPr txBox="1"/>
          <p:nvPr>
            <p:ph type="title"/>
          </p:nvPr>
        </p:nvSpPr>
        <p:spPr>
          <a:xfrm>
            <a:off x="830400" y="6560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Paradigma de Programación Concurrente</a:t>
            </a:r>
            <a:endParaRPr/>
          </a:p>
        </p:txBody>
      </p:sp>
      <p:sp>
        <p:nvSpPr>
          <p:cNvPr id="388" name="Google Shape;388;p52"/>
          <p:cNvSpPr txBox="1"/>
          <p:nvPr>
            <p:ph idx="1" type="body"/>
          </p:nvPr>
        </p:nvSpPr>
        <p:spPr>
          <a:xfrm>
            <a:off x="365700" y="1237075"/>
            <a:ext cx="4137900" cy="3906300"/>
          </a:xfrm>
          <a:prstGeom prst="rect">
            <a:avLst/>
          </a:prstGeom>
        </p:spPr>
        <p:txBody>
          <a:bodyPr anchorCtr="0" anchor="t" bIns="91425" lIns="91425" spcFirstLastPara="1" rIns="91425" wrap="square" tIns="91425">
            <a:normAutofit lnSpcReduction="10000"/>
          </a:bodyPr>
          <a:lstStyle/>
          <a:p>
            <a:pPr indent="0" lvl="0" marL="0" rtl="0" algn="l">
              <a:lnSpc>
                <a:spcPct val="150000"/>
              </a:lnSpc>
              <a:spcBef>
                <a:spcPts val="0"/>
              </a:spcBef>
              <a:spcAft>
                <a:spcPts val="0"/>
              </a:spcAft>
              <a:buNone/>
            </a:pPr>
            <a:r>
              <a:rPr lang="es">
                <a:solidFill>
                  <a:srgbClr val="000000"/>
                </a:solidFill>
              </a:rPr>
              <a:t>Se centra en el diseño de programas donde varias tareas se pueden ejecutar </a:t>
            </a:r>
            <a:r>
              <a:rPr b="1" lang="es">
                <a:solidFill>
                  <a:srgbClr val="000000"/>
                </a:solidFill>
              </a:rPr>
              <a:t>simultáneamente</a:t>
            </a:r>
            <a:r>
              <a:rPr lang="es">
                <a:solidFill>
                  <a:srgbClr val="000000"/>
                </a:solidFill>
              </a:rPr>
              <a:t> o de forma superpuesta. </a:t>
            </a:r>
            <a:endParaRPr>
              <a:solidFill>
                <a:srgbClr val="000000"/>
              </a:solidFill>
            </a:endParaRPr>
          </a:p>
          <a:p>
            <a:pPr indent="0" lvl="0" marL="0" rtl="0" algn="l">
              <a:lnSpc>
                <a:spcPct val="150000"/>
              </a:lnSpc>
              <a:spcBef>
                <a:spcPts val="1200"/>
              </a:spcBef>
              <a:spcAft>
                <a:spcPts val="0"/>
              </a:spcAft>
              <a:buNone/>
            </a:pPr>
            <a:r>
              <a:rPr lang="es">
                <a:solidFill>
                  <a:srgbClr val="000000"/>
                </a:solidFill>
              </a:rPr>
              <a:t>Su objetivo es gestionar eficientemente múltiples flujos de ejecución para mejorar el rendimiento o la capacidad de respuesta, especialmente en sistemas que tienen que manejar muchas operaciones a la vez (como servidores web o aplicaciones de procesamiento paralelo, videojuegos).</a:t>
            </a:r>
            <a:endParaRPr>
              <a:solidFill>
                <a:srgbClr val="000000"/>
              </a:solidFill>
            </a:endParaRPr>
          </a:p>
          <a:p>
            <a:pPr indent="0" lvl="0" marL="0" rtl="0" algn="l">
              <a:lnSpc>
                <a:spcPct val="150000"/>
              </a:lnSpc>
              <a:spcBef>
                <a:spcPts val="1200"/>
              </a:spcBef>
              <a:spcAft>
                <a:spcPts val="1200"/>
              </a:spcAft>
              <a:buNone/>
            </a:pPr>
            <a:r>
              <a:rPr b="1" lang="es">
                <a:solidFill>
                  <a:srgbClr val="000000"/>
                </a:solidFill>
              </a:rPr>
              <a:t>Los paradigmas no son mutuamente excluyentes</a:t>
            </a:r>
            <a:r>
              <a:rPr lang="es">
                <a:solidFill>
                  <a:srgbClr val="000000"/>
                </a:solidFill>
              </a:rPr>
              <a:t>; de hecho, muchos lenguajes modernos son multi-paradigma y permiten combinar varios enfoques</a:t>
            </a:r>
            <a:endParaRPr>
              <a:solidFill>
                <a:srgbClr val="000000"/>
              </a:solidFill>
            </a:endParaRPr>
          </a:p>
        </p:txBody>
      </p:sp>
      <p:pic>
        <p:nvPicPr>
          <p:cNvPr id="389" name="Google Shape;389;p52"/>
          <p:cNvPicPr preferRelativeResize="0"/>
          <p:nvPr/>
        </p:nvPicPr>
        <p:blipFill>
          <a:blip r:embed="rId3">
            <a:alphaModFix/>
          </a:blip>
          <a:stretch>
            <a:fillRect/>
          </a:stretch>
        </p:blipFill>
        <p:spPr>
          <a:xfrm>
            <a:off x="4743100" y="1161117"/>
            <a:ext cx="4316133" cy="39063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53"/>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Hasta aquí el 2025/09/10</a:t>
            </a:r>
            <a:endParaRPr/>
          </a:p>
        </p:txBody>
      </p:sp>
      <p:sp>
        <p:nvSpPr>
          <p:cNvPr id="395" name="Google Shape;395;p53"/>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54"/>
          <p:cNvSpPr txBox="1"/>
          <p:nvPr>
            <p:ph type="title"/>
          </p:nvPr>
        </p:nvSpPr>
        <p:spPr>
          <a:xfrm>
            <a:off x="830400" y="6560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Realicemos un pequeño taller</a:t>
            </a:r>
            <a:endParaRPr/>
          </a:p>
        </p:txBody>
      </p:sp>
      <p:sp>
        <p:nvSpPr>
          <p:cNvPr id="401" name="Google Shape;401;p54"/>
          <p:cNvSpPr txBox="1"/>
          <p:nvPr/>
        </p:nvSpPr>
        <p:spPr>
          <a:xfrm>
            <a:off x="100500" y="1328350"/>
            <a:ext cx="4471500" cy="365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300">
                <a:solidFill>
                  <a:schemeClr val="dk2"/>
                </a:solidFill>
                <a:latin typeface="Lato"/>
                <a:ea typeface="Lato"/>
                <a:cs typeface="Lato"/>
                <a:sym typeface="Lato"/>
              </a:rPr>
              <a:t>El objetivo principal de esta talle</a:t>
            </a:r>
            <a:r>
              <a:rPr lang="es" sz="1300">
                <a:solidFill>
                  <a:schemeClr val="dk2"/>
                </a:solidFill>
                <a:latin typeface="Lato"/>
                <a:ea typeface="Lato"/>
                <a:cs typeface="Lato"/>
                <a:sym typeface="Lato"/>
              </a:rPr>
              <a:t>r es cerrar la brecha entre la teoría de lenguajes de programación y sus aplicaciones prácticas en el mundo de la ingeniería de software. </a:t>
            </a:r>
            <a:endParaRPr sz="1300">
              <a:solidFill>
                <a:schemeClr val="dk2"/>
              </a:solidFill>
              <a:latin typeface="Lato"/>
              <a:ea typeface="Lato"/>
              <a:cs typeface="Lato"/>
              <a:sym typeface="Lato"/>
            </a:endParaRPr>
          </a:p>
          <a:p>
            <a:pPr indent="0" lvl="0" marL="0" rtl="0" algn="l">
              <a:spcBef>
                <a:spcPts val="0"/>
              </a:spcBef>
              <a:spcAft>
                <a:spcPts val="0"/>
              </a:spcAft>
              <a:buNone/>
            </a:pPr>
            <a:r>
              <a:t/>
            </a:r>
            <a:endParaRPr sz="1300">
              <a:solidFill>
                <a:schemeClr val="dk2"/>
              </a:solidFill>
              <a:latin typeface="Lato"/>
              <a:ea typeface="Lato"/>
              <a:cs typeface="Lato"/>
              <a:sym typeface="Lato"/>
            </a:endParaRPr>
          </a:p>
          <a:p>
            <a:pPr indent="0" lvl="0" marL="0" rtl="0" algn="l">
              <a:spcBef>
                <a:spcPts val="0"/>
              </a:spcBef>
              <a:spcAft>
                <a:spcPts val="0"/>
              </a:spcAft>
              <a:buNone/>
            </a:pPr>
            <a:r>
              <a:rPr b="1" lang="es" sz="1300">
                <a:solidFill>
                  <a:schemeClr val="dk2"/>
                </a:solidFill>
                <a:latin typeface="Lato"/>
                <a:ea typeface="Lato"/>
                <a:cs typeface="Lato"/>
                <a:sym typeface="Lato"/>
              </a:rPr>
              <a:t>Utilizando la IA y SQLite</a:t>
            </a:r>
            <a:r>
              <a:rPr lang="es" sz="1300">
                <a:solidFill>
                  <a:schemeClr val="dk2"/>
                </a:solidFill>
                <a:latin typeface="Lato"/>
                <a:ea typeface="Lato"/>
                <a:cs typeface="Lato"/>
                <a:sym typeface="Lato"/>
              </a:rPr>
              <a:t>, los estudiantes pueden explorar cómo los conceptos formales se manifiestan en un entorno de la vida real.</a:t>
            </a:r>
            <a:endParaRPr sz="1300">
              <a:solidFill>
                <a:schemeClr val="dk2"/>
              </a:solidFill>
              <a:latin typeface="Lato"/>
              <a:ea typeface="Lato"/>
              <a:cs typeface="Lato"/>
              <a:sym typeface="Lato"/>
            </a:endParaRPr>
          </a:p>
          <a:p>
            <a:pPr indent="0" lvl="0" marL="0" rtl="0" algn="l">
              <a:spcBef>
                <a:spcPts val="0"/>
              </a:spcBef>
              <a:spcAft>
                <a:spcPts val="0"/>
              </a:spcAft>
              <a:buNone/>
            </a:pPr>
            <a:r>
              <a:t/>
            </a:r>
            <a:endParaRPr sz="1300">
              <a:solidFill>
                <a:schemeClr val="dk2"/>
              </a:solidFill>
              <a:latin typeface="Lato"/>
              <a:ea typeface="Lato"/>
              <a:cs typeface="Lato"/>
              <a:sym typeface="Lato"/>
            </a:endParaRPr>
          </a:p>
          <a:p>
            <a:pPr indent="0" lvl="0" marL="0" rtl="0" algn="l">
              <a:spcBef>
                <a:spcPts val="0"/>
              </a:spcBef>
              <a:spcAft>
                <a:spcPts val="0"/>
              </a:spcAft>
              <a:buNone/>
            </a:pPr>
            <a:r>
              <a:rPr b="1" lang="es" sz="1300">
                <a:solidFill>
                  <a:schemeClr val="dk2"/>
                </a:solidFill>
                <a:latin typeface="Lato"/>
                <a:ea typeface="Lato"/>
                <a:cs typeface="Lato"/>
                <a:sym typeface="Lato"/>
              </a:rPr>
              <a:t>Aterriza la teoría: </a:t>
            </a:r>
            <a:r>
              <a:rPr lang="es" sz="1300">
                <a:solidFill>
                  <a:schemeClr val="dk2"/>
                </a:solidFill>
                <a:latin typeface="Lato"/>
                <a:ea typeface="Lato"/>
                <a:cs typeface="Lato"/>
                <a:sym typeface="Lato"/>
              </a:rPr>
              <a:t>Convierte conceptos abstractos como autómatas o gramáticas en algo tangible, mostrando su utilidad en una herramienta real como SQLite.</a:t>
            </a:r>
            <a:endParaRPr sz="1300">
              <a:solidFill>
                <a:schemeClr val="dk2"/>
              </a:solidFill>
              <a:latin typeface="Lato"/>
              <a:ea typeface="Lato"/>
              <a:cs typeface="Lato"/>
              <a:sym typeface="Lato"/>
            </a:endParaRPr>
          </a:p>
          <a:p>
            <a:pPr indent="0" lvl="0" marL="0" rtl="0" algn="l">
              <a:spcBef>
                <a:spcPts val="0"/>
              </a:spcBef>
              <a:spcAft>
                <a:spcPts val="0"/>
              </a:spcAft>
              <a:buNone/>
            </a:pPr>
            <a:r>
              <a:t/>
            </a:r>
            <a:endParaRPr sz="1300">
              <a:solidFill>
                <a:schemeClr val="dk2"/>
              </a:solidFill>
              <a:latin typeface="Lato"/>
              <a:ea typeface="Lato"/>
              <a:cs typeface="Lato"/>
              <a:sym typeface="Lato"/>
            </a:endParaRPr>
          </a:p>
          <a:p>
            <a:pPr indent="0" lvl="0" marL="0" rtl="0" algn="l">
              <a:spcBef>
                <a:spcPts val="0"/>
              </a:spcBef>
              <a:spcAft>
                <a:spcPts val="0"/>
              </a:spcAft>
              <a:buNone/>
            </a:pPr>
            <a:r>
              <a:rPr b="1" lang="es" sz="1300">
                <a:solidFill>
                  <a:schemeClr val="dk2"/>
                </a:solidFill>
                <a:latin typeface="Lato"/>
                <a:ea typeface="Lato"/>
                <a:cs typeface="Lato"/>
                <a:sym typeface="Lato"/>
              </a:rPr>
              <a:t>Conexión con el desarrollo moderno:</a:t>
            </a:r>
            <a:r>
              <a:rPr lang="es" sz="1300">
                <a:solidFill>
                  <a:schemeClr val="dk2"/>
                </a:solidFill>
                <a:latin typeface="Lato"/>
                <a:ea typeface="Lato"/>
                <a:cs typeface="Lato"/>
                <a:sym typeface="Lato"/>
              </a:rPr>
              <a:t> Integrar la inteligencia artificial, en la asignatura, lo que lo hace más atractivo y evidencia su aplicabilidad en el campo laboral actual.</a:t>
            </a:r>
            <a:endParaRPr sz="1300">
              <a:solidFill>
                <a:schemeClr val="dk2"/>
              </a:solidFill>
              <a:latin typeface="Lato"/>
              <a:ea typeface="Lato"/>
              <a:cs typeface="Lato"/>
              <a:sym typeface="Lato"/>
            </a:endParaRPr>
          </a:p>
          <a:p>
            <a:pPr indent="0" lvl="0" marL="0" rtl="0" algn="l">
              <a:spcBef>
                <a:spcPts val="0"/>
              </a:spcBef>
              <a:spcAft>
                <a:spcPts val="0"/>
              </a:spcAft>
              <a:buNone/>
            </a:pPr>
            <a:r>
              <a:t/>
            </a:r>
            <a:endParaRPr sz="1300">
              <a:solidFill>
                <a:schemeClr val="dk2"/>
              </a:solidFill>
              <a:latin typeface="Lato"/>
              <a:ea typeface="Lato"/>
              <a:cs typeface="Lato"/>
              <a:sym typeface="Lato"/>
            </a:endParaRPr>
          </a:p>
        </p:txBody>
      </p:sp>
      <p:sp>
        <p:nvSpPr>
          <p:cNvPr id="402" name="Google Shape;402;p54"/>
          <p:cNvSpPr txBox="1"/>
          <p:nvPr/>
        </p:nvSpPr>
        <p:spPr>
          <a:xfrm>
            <a:off x="4680025" y="1328350"/>
            <a:ext cx="4471500" cy="365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300">
                <a:solidFill>
                  <a:schemeClr val="dk2"/>
                </a:solidFill>
                <a:latin typeface="Lato"/>
                <a:ea typeface="Lato"/>
                <a:cs typeface="Lato"/>
                <a:sym typeface="Lato"/>
              </a:rPr>
              <a:t>Fomenta el pensamiento crítico: </a:t>
            </a:r>
            <a:r>
              <a:rPr lang="es" sz="1300">
                <a:solidFill>
                  <a:schemeClr val="dk2"/>
                </a:solidFill>
                <a:latin typeface="Lato"/>
                <a:ea typeface="Lato"/>
                <a:cs typeface="Lato"/>
                <a:sym typeface="Lato"/>
              </a:rPr>
              <a:t>Obliga a los estudiantes a razonar sobre la estructura de un lenguaje y sus limitaciones, más allá de simplemente memorizar reglas sintácticas.</a:t>
            </a:r>
            <a:endParaRPr sz="1300">
              <a:solidFill>
                <a:schemeClr val="dk2"/>
              </a:solidFill>
              <a:latin typeface="Lato"/>
              <a:ea typeface="Lato"/>
              <a:cs typeface="Lato"/>
              <a:sym typeface="Lato"/>
            </a:endParaRPr>
          </a:p>
          <a:p>
            <a:pPr indent="0" lvl="0" marL="0" rtl="0" algn="l">
              <a:spcBef>
                <a:spcPts val="0"/>
              </a:spcBef>
              <a:spcAft>
                <a:spcPts val="0"/>
              </a:spcAft>
              <a:buNone/>
            </a:pPr>
            <a:r>
              <a:t/>
            </a:r>
            <a:endParaRPr sz="1300">
              <a:solidFill>
                <a:schemeClr val="dk2"/>
              </a:solidFill>
              <a:latin typeface="Lato"/>
              <a:ea typeface="Lato"/>
              <a:cs typeface="Lato"/>
              <a:sym typeface="Lato"/>
            </a:endParaRPr>
          </a:p>
          <a:p>
            <a:pPr indent="0" lvl="0" marL="0" rtl="0" algn="l">
              <a:spcBef>
                <a:spcPts val="0"/>
              </a:spcBef>
              <a:spcAft>
                <a:spcPts val="0"/>
              </a:spcAft>
              <a:buNone/>
            </a:pPr>
            <a:r>
              <a:rPr lang="es" sz="1300">
                <a:solidFill>
                  <a:schemeClr val="dk2"/>
                </a:solidFill>
                <a:latin typeface="Lato"/>
                <a:ea typeface="Lato"/>
                <a:cs typeface="Lato"/>
                <a:sym typeface="Lato"/>
              </a:rPr>
              <a:t>Obtengamos algunos datos de Data in Brief.</a:t>
            </a:r>
            <a:endParaRPr sz="1300">
              <a:solidFill>
                <a:schemeClr val="dk2"/>
              </a:solidFill>
              <a:latin typeface="Lato"/>
              <a:ea typeface="Lato"/>
              <a:cs typeface="Lato"/>
              <a:sym typeface="Lato"/>
            </a:endParaRPr>
          </a:p>
          <a:p>
            <a:pPr indent="0" lvl="0" marL="0" rtl="0" algn="l">
              <a:spcBef>
                <a:spcPts val="0"/>
              </a:spcBef>
              <a:spcAft>
                <a:spcPts val="0"/>
              </a:spcAft>
              <a:buNone/>
            </a:pPr>
            <a:r>
              <a:rPr lang="es" sz="1300" u="sng">
                <a:solidFill>
                  <a:schemeClr val="hlink"/>
                </a:solidFill>
                <a:latin typeface="Lato"/>
                <a:ea typeface="Lato"/>
                <a:cs typeface="Lato"/>
                <a:sym typeface="Lato"/>
                <a:hlinkClick r:id="rId3"/>
              </a:rPr>
              <a:t>https://www.sciencedirect.com/science/article/pii/S2352340924012046</a:t>
            </a:r>
            <a:endParaRPr sz="1300">
              <a:solidFill>
                <a:schemeClr val="dk2"/>
              </a:solidFill>
              <a:latin typeface="Lato"/>
              <a:ea typeface="Lato"/>
              <a:cs typeface="Lato"/>
              <a:sym typeface="Lato"/>
            </a:endParaRPr>
          </a:p>
          <a:p>
            <a:pPr indent="0" lvl="0" marL="0" rtl="0" algn="l">
              <a:spcBef>
                <a:spcPts val="0"/>
              </a:spcBef>
              <a:spcAft>
                <a:spcPts val="0"/>
              </a:spcAft>
              <a:buNone/>
            </a:pPr>
            <a:r>
              <a:t/>
            </a:r>
            <a:endParaRPr sz="1300">
              <a:solidFill>
                <a:schemeClr val="dk2"/>
              </a:solidFill>
              <a:latin typeface="Lato"/>
              <a:ea typeface="Lato"/>
              <a:cs typeface="Lato"/>
              <a:sym typeface="Lato"/>
            </a:endParaRPr>
          </a:p>
          <a:p>
            <a:pPr indent="0" lvl="0" marL="0" rtl="0" algn="l">
              <a:spcBef>
                <a:spcPts val="0"/>
              </a:spcBef>
              <a:spcAft>
                <a:spcPts val="0"/>
              </a:spcAft>
              <a:buNone/>
            </a:pPr>
            <a:r>
              <a:rPr lang="es" sz="1300">
                <a:solidFill>
                  <a:schemeClr val="dk2"/>
                </a:solidFill>
                <a:latin typeface="Lato"/>
                <a:ea typeface="Lato"/>
                <a:cs typeface="Lato"/>
                <a:sym typeface="Lato"/>
              </a:rPr>
              <a:t>Descarguemos un gestor para SQLite</a:t>
            </a:r>
            <a:endParaRPr sz="1300">
              <a:solidFill>
                <a:schemeClr val="dk2"/>
              </a:solidFill>
              <a:latin typeface="Lato"/>
              <a:ea typeface="Lato"/>
              <a:cs typeface="Lato"/>
              <a:sym typeface="Lato"/>
            </a:endParaRPr>
          </a:p>
          <a:p>
            <a:pPr indent="0" lvl="0" marL="0" rtl="0" algn="l">
              <a:spcBef>
                <a:spcPts val="0"/>
              </a:spcBef>
              <a:spcAft>
                <a:spcPts val="0"/>
              </a:spcAft>
              <a:buNone/>
            </a:pPr>
            <a:r>
              <a:rPr lang="es" sz="1300" u="sng">
                <a:solidFill>
                  <a:schemeClr val="hlink"/>
                </a:solidFill>
                <a:latin typeface="Lato"/>
                <a:ea typeface="Lato"/>
                <a:cs typeface="Lato"/>
                <a:sym typeface="Lato"/>
                <a:hlinkClick r:id="rId4"/>
              </a:rPr>
              <a:t>https://sqlitebrowser.org/dl/</a:t>
            </a:r>
            <a:endParaRPr sz="1300">
              <a:solidFill>
                <a:schemeClr val="dk2"/>
              </a:solidFill>
              <a:latin typeface="Lato"/>
              <a:ea typeface="Lato"/>
              <a:cs typeface="Lato"/>
              <a:sym typeface="Lato"/>
            </a:endParaRPr>
          </a:p>
          <a:p>
            <a:pPr indent="0" lvl="0" marL="0" rtl="0" algn="l">
              <a:spcBef>
                <a:spcPts val="0"/>
              </a:spcBef>
              <a:spcAft>
                <a:spcPts val="0"/>
              </a:spcAft>
              <a:buNone/>
            </a:pPr>
            <a:r>
              <a:t/>
            </a:r>
            <a:endParaRPr sz="1300">
              <a:solidFill>
                <a:schemeClr val="dk2"/>
              </a:solidFill>
              <a:latin typeface="Lato"/>
              <a:ea typeface="Lato"/>
              <a:cs typeface="Lato"/>
              <a:sym typeface="Lato"/>
            </a:endParaRPr>
          </a:p>
          <a:p>
            <a:pPr indent="0" lvl="0" marL="0" rtl="0" algn="l">
              <a:spcBef>
                <a:spcPts val="0"/>
              </a:spcBef>
              <a:spcAft>
                <a:spcPts val="0"/>
              </a:spcAft>
              <a:buNone/>
            </a:pPr>
            <a:r>
              <a:rPr lang="es" sz="1300">
                <a:solidFill>
                  <a:schemeClr val="dk2"/>
                </a:solidFill>
                <a:latin typeface="Lato"/>
                <a:ea typeface="Lato"/>
                <a:cs typeface="Lato"/>
                <a:sym typeface="Lato"/>
              </a:rPr>
              <a:t>Una vez finalizado el taller cargar la evidencia en </a:t>
            </a:r>
            <a:endParaRPr sz="1300">
              <a:solidFill>
                <a:schemeClr val="dk2"/>
              </a:solidFill>
              <a:latin typeface="Lato"/>
              <a:ea typeface="Lato"/>
              <a:cs typeface="Lato"/>
              <a:sym typeface="Lato"/>
            </a:endParaRPr>
          </a:p>
          <a:p>
            <a:pPr indent="0" lvl="0" marL="0" rtl="0" algn="l">
              <a:spcBef>
                <a:spcPts val="0"/>
              </a:spcBef>
              <a:spcAft>
                <a:spcPts val="0"/>
              </a:spcAft>
              <a:buNone/>
            </a:pPr>
            <a:r>
              <a:rPr lang="es" sz="1300" u="sng">
                <a:solidFill>
                  <a:schemeClr val="hlink"/>
                </a:solidFill>
                <a:latin typeface="Lato"/>
                <a:ea typeface="Lato"/>
                <a:cs typeface="Lato"/>
                <a:sym typeface="Lato"/>
                <a:hlinkClick r:id="rId5"/>
              </a:rPr>
              <a:t>https://forms.gle/3UicvcmuGAteTjwV9</a:t>
            </a:r>
            <a:r>
              <a:rPr lang="es" sz="1300">
                <a:solidFill>
                  <a:schemeClr val="dk2"/>
                </a:solidFill>
                <a:latin typeface="Lato"/>
                <a:ea typeface="Lato"/>
                <a:cs typeface="Lato"/>
                <a:sym typeface="Lato"/>
              </a:rPr>
              <a:t>  </a:t>
            </a:r>
            <a:endParaRPr sz="1300">
              <a:solidFill>
                <a:schemeClr val="dk2"/>
              </a:solidFill>
              <a:latin typeface="Lato"/>
              <a:ea typeface="Lato"/>
              <a:cs typeface="Lato"/>
              <a:sym typeface="Lato"/>
            </a:endParaRPr>
          </a:p>
          <a:p>
            <a:pPr indent="0" lvl="0" marL="0" rtl="0" algn="l">
              <a:spcBef>
                <a:spcPts val="0"/>
              </a:spcBef>
              <a:spcAft>
                <a:spcPts val="0"/>
              </a:spcAft>
              <a:buNone/>
            </a:pPr>
            <a:r>
              <a:t/>
            </a:r>
            <a:endParaRPr sz="1300">
              <a:solidFill>
                <a:schemeClr val="dk2"/>
              </a:solidFill>
              <a:latin typeface="Lato"/>
              <a:ea typeface="Lato"/>
              <a:cs typeface="Lato"/>
              <a:sym typeface="Lato"/>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55"/>
          <p:cNvSpPr txBox="1"/>
          <p:nvPr>
            <p:ph type="title"/>
          </p:nvPr>
        </p:nvSpPr>
        <p:spPr>
          <a:xfrm>
            <a:off x="830400" y="6560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Lenguajes que tienen sublenguajes (SQL/DML)</a:t>
            </a:r>
            <a:endParaRPr/>
          </a:p>
        </p:txBody>
      </p:sp>
      <p:sp>
        <p:nvSpPr>
          <p:cNvPr id="408" name="Google Shape;408;p55"/>
          <p:cNvSpPr txBox="1"/>
          <p:nvPr>
            <p:ph idx="1" type="body"/>
          </p:nvPr>
        </p:nvSpPr>
        <p:spPr>
          <a:xfrm>
            <a:off x="359200" y="1237075"/>
            <a:ext cx="4144500" cy="38028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0"/>
              </a:spcAft>
              <a:buNone/>
            </a:pPr>
            <a:r>
              <a:rPr lang="es"/>
              <a:t>Las operaciones CRUD son las cuatro funciones básicas que un lenguaje de base de datos como SQL debe tener para manipular los datos. </a:t>
            </a:r>
            <a:endParaRPr/>
          </a:p>
          <a:p>
            <a:pPr indent="0" lvl="0" marL="0" rtl="0" algn="l">
              <a:lnSpc>
                <a:spcPct val="150000"/>
              </a:lnSpc>
              <a:spcBef>
                <a:spcPts val="1200"/>
              </a:spcBef>
              <a:spcAft>
                <a:spcPts val="0"/>
              </a:spcAft>
              <a:buNone/>
            </a:pPr>
            <a:r>
              <a:rPr lang="es"/>
              <a:t>CRUD es el acrónimo de Create, Read, Update y Delete. En SQL, estas operaciones se realizan con las sentencias DML (Data Manipulation Language).</a:t>
            </a:r>
            <a:endParaRPr/>
          </a:p>
          <a:p>
            <a:pPr indent="0" lvl="0" marL="0" rtl="0" algn="l">
              <a:spcBef>
                <a:spcPts val="1200"/>
              </a:spcBef>
              <a:spcAft>
                <a:spcPts val="0"/>
              </a:spcAft>
              <a:buNone/>
            </a:pPr>
            <a:r>
              <a:rPr lang="es"/>
              <a:t>1. CREATE (Crear). La operación para crear nuevos registros se realiza con la sentencia INSERT.</a:t>
            </a:r>
            <a:endParaRPr/>
          </a:p>
          <a:p>
            <a:pPr indent="0" lvl="0" marL="0" rtl="0" algn="l">
              <a:lnSpc>
                <a:spcPct val="100000"/>
              </a:lnSpc>
              <a:spcBef>
                <a:spcPts val="1200"/>
              </a:spcBef>
              <a:spcAft>
                <a:spcPts val="0"/>
              </a:spcAft>
              <a:buNone/>
            </a:pPr>
            <a:r>
              <a:rPr lang="es" sz="1050">
                <a:solidFill>
                  <a:srgbClr val="569CD6"/>
                </a:solidFill>
                <a:highlight>
                  <a:srgbClr val="1F1F1F"/>
                </a:highlight>
                <a:latin typeface="Courier New"/>
                <a:ea typeface="Courier New"/>
                <a:cs typeface="Courier New"/>
                <a:sym typeface="Courier New"/>
              </a:rPr>
              <a:t>INSERT INTO </a:t>
            </a:r>
            <a:r>
              <a:rPr lang="es" sz="1050">
                <a:solidFill>
                  <a:srgbClr val="CCCCCC"/>
                </a:solidFill>
                <a:highlight>
                  <a:srgbClr val="1F1F1F"/>
                </a:highlight>
                <a:latin typeface="Courier New"/>
                <a:ea typeface="Courier New"/>
                <a:cs typeface="Courier New"/>
                <a:sym typeface="Courier New"/>
              </a:rPr>
              <a:t>empleados </a:t>
            </a:r>
            <a:endParaRPr sz="1050">
              <a:solidFill>
                <a:srgbClr val="CCCCCC"/>
              </a:solidFill>
              <a:highlight>
                <a:srgbClr val="1F1F1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s" sz="1050">
                <a:solidFill>
                  <a:srgbClr val="CCCCCC"/>
                </a:solidFill>
                <a:highlight>
                  <a:srgbClr val="1F1F1F"/>
                </a:highlight>
                <a:latin typeface="Courier New"/>
                <a:ea typeface="Courier New"/>
                <a:cs typeface="Courier New"/>
                <a:sym typeface="Courier New"/>
              </a:rPr>
              <a:t>(id, nombre, salario, departamento_id)</a:t>
            </a:r>
            <a:endParaRPr sz="1050">
              <a:solidFill>
                <a:srgbClr val="CCCCCC"/>
              </a:solidFill>
              <a:highlight>
                <a:srgbClr val="1F1F1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s" sz="1050">
                <a:solidFill>
                  <a:srgbClr val="569CD6"/>
                </a:solidFill>
                <a:highlight>
                  <a:srgbClr val="1F1F1F"/>
                </a:highlight>
                <a:latin typeface="Courier New"/>
                <a:ea typeface="Courier New"/>
                <a:cs typeface="Courier New"/>
                <a:sym typeface="Courier New"/>
              </a:rPr>
              <a:t>VALUES</a:t>
            </a:r>
            <a:r>
              <a:rPr lang="es" sz="1050">
                <a:solidFill>
                  <a:srgbClr val="CCCCCC"/>
                </a:solidFill>
                <a:highlight>
                  <a:srgbClr val="1F1F1F"/>
                </a:highlight>
                <a:latin typeface="Courier New"/>
                <a:ea typeface="Courier New"/>
                <a:cs typeface="Courier New"/>
                <a:sym typeface="Courier New"/>
              </a:rPr>
              <a:t> (</a:t>
            </a:r>
            <a:r>
              <a:rPr lang="es" sz="1050">
                <a:solidFill>
                  <a:srgbClr val="B5CEA8"/>
                </a:solidFill>
                <a:highlight>
                  <a:srgbClr val="1F1F1F"/>
                </a:highlight>
                <a:latin typeface="Courier New"/>
                <a:ea typeface="Courier New"/>
                <a:cs typeface="Courier New"/>
                <a:sym typeface="Courier New"/>
              </a:rPr>
              <a:t>101</a:t>
            </a:r>
            <a:r>
              <a:rPr lang="es" sz="1050">
                <a:solidFill>
                  <a:srgbClr val="CCCCCC"/>
                </a:solidFill>
                <a:highlight>
                  <a:srgbClr val="1F1F1F"/>
                </a:highlight>
                <a:latin typeface="Courier New"/>
                <a:ea typeface="Courier New"/>
                <a:cs typeface="Courier New"/>
                <a:sym typeface="Courier New"/>
              </a:rPr>
              <a:t>, </a:t>
            </a:r>
            <a:r>
              <a:rPr lang="es" sz="1050">
                <a:solidFill>
                  <a:srgbClr val="CE9178"/>
                </a:solidFill>
                <a:highlight>
                  <a:srgbClr val="1F1F1F"/>
                </a:highlight>
                <a:latin typeface="Courier New"/>
                <a:ea typeface="Courier New"/>
                <a:cs typeface="Courier New"/>
                <a:sym typeface="Courier New"/>
              </a:rPr>
              <a:t>'Ana Pérez'</a:t>
            </a:r>
            <a:r>
              <a:rPr lang="es" sz="1050">
                <a:solidFill>
                  <a:srgbClr val="CCCCCC"/>
                </a:solidFill>
                <a:highlight>
                  <a:srgbClr val="1F1F1F"/>
                </a:highlight>
                <a:latin typeface="Courier New"/>
                <a:ea typeface="Courier New"/>
                <a:cs typeface="Courier New"/>
                <a:sym typeface="Courier New"/>
              </a:rPr>
              <a:t>, </a:t>
            </a:r>
            <a:r>
              <a:rPr lang="es" sz="1050">
                <a:solidFill>
                  <a:srgbClr val="B5CEA8"/>
                </a:solidFill>
                <a:highlight>
                  <a:srgbClr val="1F1F1F"/>
                </a:highlight>
                <a:latin typeface="Courier New"/>
                <a:ea typeface="Courier New"/>
                <a:cs typeface="Courier New"/>
                <a:sym typeface="Courier New"/>
              </a:rPr>
              <a:t>65000</a:t>
            </a:r>
            <a:r>
              <a:rPr lang="es" sz="1050">
                <a:solidFill>
                  <a:srgbClr val="CCCCCC"/>
                </a:solidFill>
                <a:highlight>
                  <a:srgbClr val="1F1F1F"/>
                </a:highlight>
                <a:latin typeface="Courier New"/>
                <a:ea typeface="Courier New"/>
                <a:cs typeface="Courier New"/>
                <a:sym typeface="Courier New"/>
              </a:rPr>
              <a:t>, </a:t>
            </a:r>
            <a:r>
              <a:rPr lang="es" sz="1050">
                <a:solidFill>
                  <a:srgbClr val="B5CEA8"/>
                </a:solidFill>
                <a:highlight>
                  <a:srgbClr val="1F1F1F"/>
                </a:highlight>
                <a:latin typeface="Courier New"/>
                <a:ea typeface="Courier New"/>
                <a:cs typeface="Courier New"/>
                <a:sym typeface="Courier New"/>
              </a:rPr>
              <a:t>50</a:t>
            </a:r>
            <a:r>
              <a:rPr lang="es" sz="1050">
                <a:solidFill>
                  <a:srgbClr val="CCCCCC"/>
                </a:solidFill>
                <a:highlight>
                  <a:srgbClr val="1F1F1F"/>
                </a:highlight>
                <a:latin typeface="Courier New"/>
                <a:ea typeface="Courier New"/>
                <a:cs typeface="Courier New"/>
                <a:sym typeface="Courier New"/>
              </a:rPr>
              <a:t>);</a:t>
            </a:r>
            <a:endParaRPr sz="1050">
              <a:solidFill>
                <a:srgbClr val="CCCCCC"/>
              </a:solidFill>
              <a:highlight>
                <a:srgbClr val="1F1F1F"/>
              </a:highlight>
              <a:latin typeface="Courier New"/>
              <a:ea typeface="Courier New"/>
              <a:cs typeface="Courier New"/>
              <a:sym typeface="Courier New"/>
            </a:endParaRPr>
          </a:p>
          <a:p>
            <a:pPr indent="0" lvl="0" marL="0" rtl="0" algn="l">
              <a:spcBef>
                <a:spcPts val="0"/>
              </a:spcBef>
              <a:spcAft>
                <a:spcPts val="1200"/>
              </a:spcAft>
              <a:buNone/>
            </a:pPr>
            <a:r>
              <a:t/>
            </a:r>
            <a:endParaRPr/>
          </a:p>
        </p:txBody>
      </p:sp>
      <p:sp>
        <p:nvSpPr>
          <p:cNvPr id="409" name="Google Shape;409;p55"/>
          <p:cNvSpPr txBox="1"/>
          <p:nvPr>
            <p:ph idx="2" type="body"/>
          </p:nvPr>
        </p:nvSpPr>
        <p:spPr>
          <a:xfrm>
            <a:off x="4643600" y="1237075"/>
            <a:ext cx="4191900" cy="38028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es"/>
              <a:t>2. READ (Leer). La operación para leer o consultar datos se realiza con la sentencia SELECT.</a:t>
            </a:r>
            <a:endParaRPr/>
          </a:p>
          <a:p>
            <a:pPr indent="0" lvl="0" marL="0" rtl="0" algn="l">
              <a:lnSpc>
                <a:spcPct val="100000"/>
              </a:lnSpc>
              <a:spcBef>
                <a:spcPts val="1200"/>
              </a:spcBef>
              <a:spcAft>
                <a:spcPts val="0"/>
              </a:spcAft>
              <a:buNone/>
            </a:pPr>
            <a:r>
              <a:rPr lang="es" sz="1050">
                <a:solidFill>
                  <a:srgbClr val="569CD6"/>
                </a:solidFill>
                <a:highlight>
                  <a:srgbClr val="1F1F1F"/>
                </a:highlight>
                <a:latin typeface="Courier New"/>
                <a:ea typeface="Courier New"/>
                <a:cs typeface="Courier New"/>
                <a:sym typeface="Courier New"/>
              </a:rPr>
              <a:t>SELECT</a:t>
            </a:r>
            <a:r>
              <a:rPr lang="es" sz="1050">
                <a:solidFill>
                  <a:srgbClr val="CCCCCC"/>
                </a:solidFill>
                <a:highlight>
                  <a:srgbClr val="1F1F1F"/>
                </a:highlight>
                <a:latin typeface="Courier New"/>
                <a:ea typeface="Courier New"/>
                <a:cs typeface="Courier New"/>
                <a:sym typeface="Courier New"/>
              </a:rPr>
              <a:t> nombre, salario</a:t>
            </a:r>
            <a:endParaRPr sz="1050">
              <a:solidFill>
                <a:srgbClr val="CCCCCC"/>
              </a:solidFill>
              <a:highlight>
                <a:srgbClr val="1F1F1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s" sz="1050">
                <a:solidFill>
                  <a:srgbClr val="569CD6"/>
                </a:solidFill>
                <a:highlight>
                  <a:srgbClr val="1F1F1F"/>
                </a:highlight>
                <a:latin typeface="Courier New"/>
                <a:ea typeface="Courier New"/>
                <a:cs typeface="Courier New"/>
                <a:sym typeface="Courier New"/>
              </a:rPr>
              <a:t>FROM</a:t>
            </a:r>
            <a:r>
              <a:rPr lang="es" sz="1050">
                <a:solidFill>
                  <a:srgbClr val="CCCCCC"/>
                </a:solidFill>
                <a:highlight>
                  <a:srgbClr val="1F1F1F"/>
                </a:highlight>
                <a:latin typeface="Courier New"/>
                <a:ea typeface="Courier New"/>
                <a:cs typeface="Courier New"/>
                <a:sym typeface="Courier New"/>
              </a:rPr>
              <a:t> empleados</a:t>
            </a:r>
            <a:endParaRPr sz="1050">
              <a:solidFill>
                <a:srgbClr val="CCCCCC"/>
              </a:solidFill>
              <a:highlight>
                <a:srgbClr val="1F1F1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s" sz="1050">
                <a:solidFill>
                  <a:srgbClr val="569CD6"/>
                </a:solidFill>
                <a:highlight>
                  <a:srgbClr val="1F1F1F"/>
                </a:highlight>
                <a:latin typeface="Courier New"/>
                <a:ea typeface="Courier New"/>
                <a:cs typeface="Courier New"/>
                <a:sym typeface="Courier New"/>
              </a:rPr>
              <a:t>WHERE</a:t>
            </a:r>
            <a:r>
              <a:rPr lang="es" sz="1050">
                <a:solidFill>
                  <a:srgbClr val="CCCCCC"/>
                </a:solidFill>
                <a:highlight>
                  <a:srgbClr val="1F1F1F"/>
                </a:highlight>
                <a:latin typeface="Courier New"/>
                <a:ea typeface="Courier New"/>
                <a:cs typeface="Courier New"/>
                <a:sym typeface="Courier New"/>
              </a:rPr>
              <a:t> departamento_id </a:t>
            </a:r>
            <a:r>
              <a:rPr lang="es" sz="1050">
                <a:solidFill>
                  <a:srgbClr val="D4D4D4"/>
                </a:solidFill>
                <a:highlight>
                  <a:srgbClr val="1F1F1F"/>
                </a:highlight>
                <a:latin typeface="Courier New"/>
                <a:ea typeface="Courier New"/>
                <a:cs typeface="Courier New"/>
                <a:sym typeface="Courier New"/>
              </a:rPr>
              <a:t>=</a:t>
            </a:r>
            <a:r>
              <a:rPr lang="es" sz="1050">
                <a:solidFill>
                  <a:srgbClr val="CCCCCC"/>
                </a:solidFill>
                <a:highlight>
                  <a:srgbClr val="1F1F1F"/>
                </a:highlight>
                <a:latin typeface="Courier New"/>
                <a:ea typeface="Courier New"/>
                <a:cs typeface="Courier New"/>
                <a:sym typeface="Courier New"/>
              </a:rPr>
              <a:t> </a:t>
            </a:r>
            <a:r>
              <a:rPr lang="es" sz="1050">
                <a:solidFill>
                  <a:srgbClr val="B5CEA8"/>
                </a:solidFill>
                <a:highlight>
                  <a:srgbClr val="1F1F1F"/>
                </a:highlight>
                <a:latin typeface="Courier New"/>
                <a:ea typeface="Courier New"/>
                <a:cs typeface="Courier New"/>
                <a:sym typeface="Courier New"/>
              </a:rPr>
              <a:t>50</a:t>
            </a:r>
            <a:r>
              <a:rPr lang="es" sz="1050">
                <a:solidFill>
                  <a:srgbClr val="CCCCCC"/>
                </a:solidFill>
                <a:highlight>
                  <a:srgbClr val="1F1F1F"/>
                </a:highlight>
                <a:latin typeface="Courier New"/>
                <a:ea typeface="Courier New"/>
                <a:cs typeface="Courier New"/>
                <a:sym typeface="Courier New"/>
              </a:rPr>
              <a:t>;</a:t>
            </a:r>
            <a:endParaRPr sz="1050">
              <a:solidFill>
                <a:srgbClr val="CCCCCC"/>
              </a:solidFill>
              <a:highlight>
                <a:srgbClr val="1F1F1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1050">
              <a:solidFill>
                <a:srgbClr val="CCCCCC"/>
              </a:solidFill>
              <a:highlight>
                <a:srgbClr val="1F1F1F"/>
              </a:highlight>
              <a:latin typeface="Courier New"/>
              <a:ea typeface="Courier New"/>
              <a:cs typeface="Courier New"/>
              <a:sym typeface="Courier New"/>
            </a:endParaRPr>
          </a:p>
          <a:p>
            <a:pPr indent="0" lvl="0" marL="0" rtl="0" algn="l">
              <a:spcBef>
                <a:spcPts val="0"/>
              </a:spcBef>
              <a:spcAft>
                <a:spcPts val="0"/>
              </a:spcAft>
              <a:buNone/>
            </a:pPr>
            <a:r>
              <a:rPr lang="es"/>
              <a:t>3. UPDATE (Actualizar). La operación para modificar registros existentes se realiza con la sentencia UPDATE.</a:t>
            </a:r>
            <a:endParaRPr/>
          </a:p>
          <a:p>
            <a:pPr indent="0" lvl="0" marL="0" rtl="0" algn="l">
              <a:lnSpc>
                <a:spcPct val="100000"/>
              </a:lnSpc>
              <a:spcBef>
                <a:spcPts val="1200"/>
              </a:spcBef>
              <a:spcAft>
                <a:spcPts val="0"/>
              </a:spcAft>
              <a:buNone/>
            </a:pPr>
            <a:r>
              <a:rPr lang="es" sz="1050">
                <a:solidFill>
                  <a:srgbClr val="569CD6"/>
                </a:solidFill>
                <a:highlight>
                  <a:srgbClr val="1F1F1F"/>
                </a:highlight>
                <a:latin typeface="Courier New"/>
                <a:ea typeface="Courier New"/>
                <a:cs typeface="Courier New"/>
                <a:sym typeface="Courier New"/>
              </a:rPr>
              <a:t>UPDATE</a:t>
            </a:r>
            <a:r>
              <a:rPr lang="es" sz="1050">
                <a:solidFill>
                  <a:srgbClr val="CCCCCC"/>
                </a:solidFill>
                <a:highlight>
                  <a:srgbClr val="1F1F1F"/>
                </a:highlight>
                <a:latin typeface="Courier New"/>
                <a:ea typeface="Courier New"/>
                <a:cs typeface="Courier New"/>
                <a:sym typeface="Courier New"/>
              </a:rPr>
              <a:t> empleados</a:t>
            </a:r>
            <a:endParaRPr sz="1050">
              <a:solidFill>
                <a:srgbClr val="CCCCCC"/>
              </a:solidFill>
              <a:highlight>
                <a:srgbClr val="1F1F1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s" sz="1050">
                <a:solidFill>
                  <a:srgbClr val="569CD6"/>
                </a:solidFill>
                <a:highlight>
                  <a:srgbClr val="1F1F1F"/>
                </a:highlight>
                <a:latin typeface="Courier New"/>
                <a:ea typeface="Courier New"/>
                <a:cs typeface="Courier New"/>
                <a:sym typeface="Courier New"/>
              </a:rPr>
              <a:t>SET</a:t>
            </a:r>
            <a:r>
              <a:rPr lang="es" sz="1050">
                <a:solidFill>
                  <a:srgbClr val="CCCCCC"/>
                </a:solidFill>
                <a:highlight>
                  <a:srgbClr val="1F1F1F"/>
                </a:highlight>
                <a:latin typeface="Courier New"/>
                <a:ea typeface="Courier New"/>
                <a:cs typeface="Courier New"/>
                <a:sym typeface="Courier New"/>
              </a:rPr>
              <a:t> salario </a:t>
            </a:r>
            <a:r>
              <a:rPr lang="es" sz="1050">
                <a:solidFill>
                  <a:srgbClr val="D4D4D4"/>
                </a:solidFill>
                <a:highlight>
                  <a:srgbClr val="1F1F1F"/>
                </a:highlight>
                <a:latin typeface="Courier New"/>
                <a:ea typeface="Courier New"/>
                <a:cs typeface="Courier New"/>
                <a:sym typeface="Courier New"/>
              </a:rPr>
              <a:t>=</a:t>
            </a:r>
            <a:r>
              <a:rPr lang="es" sz="1050">
                <a:solidFill>
                  <a:srgbClr val="CCCCCC"/>
                </a:solidFill>
                <a:highlight>
                  <a:srgbClr val="1F1F1F"/>
                </a:highlight>
                <a:latin typeface="Courier New"/>
                <a:ea typeface="Courier New"/>
                <a:cs typeface="Courier New"/>
                <a:sym typeface="Courier New"/>
              </a:rPr>
              <a:t> </a:t>
            </a:r>
            <a:r>
              <a:rPr lang="es" sz="1050">
                <a:solidFill>
                  <a:srgbClr val="B5CEA8"/>
                </a:solidFill>
                <a:highlight>
                  <a:srgbClr val="1F1F1F"/>
                </a:highlight>
                <a:latin typeface="Courier New"/>
                <a:ea typeface="Courier New"/>
                <a:cs typeface="Courier New"/>
                <a:sym typeface="Courier New"/>
              </a:rPr>
              <a:t>70000</a:t>
            </a:r>
            <a:endParaRPr sz="1050">
              <a:solidFill>
                <a:srgbClr val="B5CEA8"/>
              </a:solidFill>
              <a:highlight>
                <a:srgbClr val="1F1F1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s" sz="1050">
                <a:solidFill>
                  <a:srgbClr val="569CD6"/>
                </a:solidFill>
                <a:highlight>
                  <a:srgbClr val="1F1F1F"/>
                </a:highlight>
                <a:latin typeface="Courier New"/>
                <a:ea typeface="Courier New"/>
                <a:cs typeface="Courier New"/>
                <a:sym typeface="Courier New"/>
              </a:rPr>
              <a:t>WHERE</a:t>
            </a:r>
            <a:r>
              <a:rPr lang="es" sz="1050">
                <a:solidFill>
                  <a:srgbClr val="CCCCCC"/>
                </a:solidFill>
                <a:highlight>
                  <a:srgbClr val="1F1F1F"/>
                </a:highlight>
                <a:latin typeface="Courier New"/>
                <a:ea typeface="Courier New"/>
                <a:cs typeface="Courier New"/>
                <a:sym typeface="Courier New"/>
              </a:rPr>
              <a:t> id </a:t>
            </a:r>
            <a:r>
              <a:rPr lang="es" sz="1050">
                <a:solidFill>
                  <a:srgbClr val="D4D4D4"/>
                </a:solidFill>
                <a:highlight>
                  <a:srgbClr val="1F1F1F"/>
                </a:highlight>
                <a:latin typeface="Courier New"/>
                <a:ea typeface="Courier New"/>
                <a:cs typeface="Courier New"/>
                <a:sym typeface="Courier New"/>
              </a:rPr>
              <a:t>=</a:t>
            </a:r>
            <a:r>
              <a:rPr lang="es" sz="1050">
                <a:solidFill>
                  <a:srgbClr val="CCCCCC"/>
                </a:solidFill>
                <a:highlight>
                  <a:srgbClr val="1F1F1F"/>
                </a:highlight>
                <a:latin typeface="Courier New"/>
                <a:ea typeface="Courier New"/>
                <a:cs typeface="Courier New"/>
                <a:sym typeface="Courier New"/>
              </a:rPr>
              <a:t> </a:t>
            </a:r>
            <a:r>
              <a:rPr lang="es" sz="1050">
                <a:solidFill>
                  <a:srgbClr val="B5CEA8"/>
                </a:solidFill>
                <a:highlight>
                  <a:srgbClr val="1F1F1F"/>
                </a:highlight>
                <a:latin typeface="Courier New"/>
                <a:ea typeface="Courier New"/>
                <a:cs typeface="Courier New"/>
                <a:sym typeface="Courier New"/>
              </a:rPr>
              <a:t>101</a:t>
            </a:r>
            <a:r>
              <a:rPr lang="es" sz="1050">
                <a:solidFill>
                  <a:srgbClr val="CCCCCC"/>
                </a:solidFill>
                <a:highlight>
                  <a:srgbClr val="1F1F1F"/>
                </a:highlight>
                <a:latin typeface="Courier New"/>
                <a:ea typeface="Courier New"/>
                <a:cs typeface="Courier New"/>
                <a:sym typeface="Courier New"/>
              </a:rPr>
              <a:t>;</a:t>
            </a:r>
            <a:endParaRPr sz="1050">
              <a:solidFill>
                <a:srgbClr val="CCCCCC"/>
              </a:solidFill>
              <a:highlight>
                <a:srgbClr val="1F1F1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1050">
              <a:solidFill>
                <a:srgbClr val="CCCCCC"/>
              </a:solidFill>
              <a:highlight>
                <a:srgbClr val="1F1F1F"/>
              </a:highlight>
              <a:latin typeface="Courier New"/>
              <a:ea typeface="Courier New"/>
              <a:cs typeface="Courier New"/>
              <a:sym typeface="Courier New"/>
            </a:endParaRPr>
          </a:p>
          <a:p>
            <a:pPr indent="0" lvl="0" marL="0" rtl="0" algn="l">
              <a:spcBef>
                <a:spcPts val="0"/>
              </a:spcBef>
              <a:spcAft>
                <a:spcPts val="0"/>
              </a:spcAft>
              <a:buNone/>
            </a:pPr>
            <a:r>
              <a:rPr lang="es"/>
              <a:t>4. DELETE (Eliminar). La operación para eliminar registros se realiza con la sentencia DELETE.</a:t>
            </a:r>
            <a:endParaRPr/>
          </a:p>
          <a:p>
            <a:pPr indent="0" lvl="0" marL="0" rtl="0" algn="l">
              <a:lnSpc>
                <a:spcPct val="100000"/>
              </a:lnSpc>
              <a:spcBef>
                <a:spcPts val="1200"/>
              </a:spcBef>
              <a:spcAft>
                <a:spcPts val="0"/>
              </a:spcAft>
              <a:buNone/>
            </a:pPr>
            <a:r>
              <a:rPr lang="es" sz="1050">
                <a:solidFill>
                  <a:srgbClr val="569CD6"/>
                </a:solidFill>
                <a:highlight>
                  <a:srgbClr val="1F1F1F"/>
                </a:highlight>
                <a:latin typeface="Courier New"/>
                <a:ea typeface="Courier New"/>
                <a:cs typeface="Courier New"/>
                <a:sym typeface="Courier New"/>
              </a:rPr>
              <a:t>DELETE</a:t>
            </a:r>
            <a:r>
              <a:rPr lang="es" sz="1050">
                <a:solidFill>
                  <a:srgbClr val="CCCCCC"/>
                </a:solidFill>
                <a:highlight>
                  <a:srgbClr val="1F1F1F"/>
                </a:highlight>
                <a:latin typeface="Courier New"/>
                <a:ea typeface="Courier New"/>
                <a:cs typeface="Courier New"/>
                <a:sym typeface="Courier New"/>
              </a:rPr>
              <a:t> </a:t>
            </a:r>
            <a:r>
              <a:rPr lang="es" sz="1050">
                <a:solidFill>
                  <a:srgbClr val="569CD6"/>
                </a:solidFill>
                <a:highlight>
                  <a:srgbClr val="1F1F1F"/>
                </a:highlight>
                <a:latin typeface="Courier New"/>
                <a:ea typeface="Courier New"/>
                <a:cs typeface="Courier New"/>
                <a:sym typeface="Courier New"/>
              </a:rPr>
              <a:t>FROM</a:t>
            </a:r>
            <a:r>
              <a:rPr lang="es" sz="1050">
                <a:solidFill>
                  <a:srgbClr val="CCCCCC"/>
                </a:solidFill>
                <a:highlight>
                  <a:srgbClr val="1F1F1F"/>
                </a:highlight>
                <a:latin typeface="Courier New"/>
                <a:ea typeface="Courier New"/>
                <a:cs typeface="Courier New"/>
                <a:sym typeface="Courier New"/>
              </a:rPr>
              <a:t> empleados</a:t>
            </a:r>
            <a:endParaRPr sz="1050">
              <a:solidFill>
                <a:srgbClr val="CCCCCC"/>
              </a:solidFill>
              <a:highlight>
                <a:srgbClr val="1F1F1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s" sz="1050">
                <a:solidFill>
                  <a:srgbClr val="569CD6"/>
                </a:solidFill>
                <a:highlight>
                  <a:srgbClr val="1F1F1F"/>
                </a:highlight>
                <a:latin typeface="Courier New"/>
                <a:ea typeface="Courier New"/>
                <a:cs typeface="Courier New"/>
                <a:sym typeface="Courier New"/>
              </a:rPr>
              <a:t>WHERE</a:t>
            </a:r>
            <a:r>
              <a:rPr lang="es" sz="1050">
                <a:solidFill>
                  <a:srgbClr val="CCCCCC"/>
                </a:solidFill>
                <a:highlight>
                  <a:srgbClr val="1F1F1F"/>
                </a:highlight>
                <a:latin typeface="Courier New"/>
                <a:ea typeface="Courier New"/>
                <a:cs typeface="Courier New"/>
                <a:sym typeface="Courier New"/>
              </a:rPr>
              <a:t> id </a:t>
            </a:r>
            <a:r>
              <a:rPr lang="es" sz="1050">
                <a:solidFill>
                  <a:srgbClr val="D4D4D4"/>
                </a:solidFill>
                <a:highlight>
                  <a:srgbClr val="1F1F1F"/>
                </a:highlight>
                <a:latin typeface="Courier New"/>
                <a:ea typeface="Courier New"/>
                <a:cs typeface="Courier New"/>
                <a:sym typeface="Courier New"/>
              </a:rPr>
              <a:t>=</a:t>
            </a:r>
            <a:r>
              <a:rPr lang="es" sz="1050">
                <a:solidFill>
                  <a:srgbClr val="CCCCCC"/>
                </a:solidFill>
                <a:highlight>
                  <a:srgbClr val="1F1F1F"/>
                </a:highlight>
                <a:latin typeface="Courier New"/>
                <a:ea typeface="Courier New"/>
                <a:cs typeface="Courier New"/>
                <a:sym typeface="Courier New"/>
              </a:rPr>
              <a:t> </a:t>
            </a:r>
            <a:r>
              <a:rPr lang="es" sz="1050">
                <a:solidFill>
                  <a:srgbClr val="B5CEA8"/>
                </a:solidFill>
                <a:highlight>
                  <a:srgbClr val="1F1F1F"/>
                </a:highlight>
                <a:latin typeface="Courier New"/>
                <a:ea typeface="Courier New"/>
                <a:cs typeface="Courier New"/>
                <a:sym typeface="Courier New"/>
              </a:rPr>
              <a:t>101</a:t>
            </a:r>
            <a:r>
              <a:rPr lang="es" sz="1050">
                <a:solidFill>
                  <a:srgbClr val="CCCCCC"/>
                </a:solidFill>
                <a:highlight>
                  <a:srgbClr val="1F1F1F"/>
                </a:highlight>
                <a:latin typeface="Courier New"/>
                <a:ea typeface="Courier New"/>
                <a:cs typeface="Courier New"/>
                <a:sym typeface="Courier New"/>
              </a:rPr>
              <a:t>;</a:t>
            </a:r>
            <a:endParaRPr sz="1050">
              <a:solidFill>
                <a:srgbClr val="CCCCCC"/>
              </a:solidFill>
              <a:highlight>
                <a:srgbClr val="1F1F1F"/>
              </a:highlight>
              <a:latin typeface="Courier New"/>
              <a:ea typeface="Courier New"/>
              <a:cs typeface="Courier New"/>
              <a:sym typeface="Courier New"/>
            </a:endParaRPr>
          </a:p>
          <a:p>
            <a:pPr indent="0" lvl="0" marL="0" rtl="0" algn="l">
              <a:spcBef>
                <a:spcPts val="0"/>
              </a:spcBef>
              <a:spcAft>
                <a:spcPts val="1200"/>
              </a:spcAft>
              <a:buNone/>
            </a:pPr>
            <a:r>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56"/>
          <p:cNvSpPr txBox="1"/>
          <p:nvPr>
            <p:ph type="title"/>
          </p:nvPr>
        </p:nvSpPr>
        <p:spPr>
          <a:xfrm>
            <a:off x="830400" y="6560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Lenguajes que tienen sublenguajes (SQL/DDL)</a:t>
            </a:r>
            <a:endParaRPr/>
          </a:p>
        </p:txBody>
      </p:sp>
      <p:sp>
        <p:nvSpPr>
          <p:cNvPr id="415" name="Google Shape;415;p56"/>
          <p:cNvSpPr txBox="1"/>
          <p:nvPr>
            <p:ph idx="1" type="body"/>
          </p:nvPr>
        </p:nvSpPr>
        <p:spPr>
          <a:xfrm>
            <a:off x="359200" y="1237075"/>
            <a:ext cx="4144500" cy="38028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es"/>
              <a:t>Las sentencias DDL (Data Definition Language) se usan para definir y gestionar la estructura de la base de datos y sus objetos (tablas, índices, vistas, etc.). </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s"/>
              <a:t>A diferencia de las DML (que manipulan los datos), las DDL trabajan con la "forma" o el "diseño" de la base de datos.</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s"/>
              <a:t>1. CREATE (Crear), se utiliza para crear nuevos objetos en la base de datos.</a:t>
            </a:r>
            <a:endParaRPr/>
          </a:p>
          <a:p>
            <a:pPr indent="0" lvl="0" marL="0" rtl="0" algn="l">
              <a:lnSpc>
                <a:spcPct val="100000"/>
              </a:lnSpc>
              <a:spcBef>
                <a:spcPts val="0"/>
              </a:spcBef>
              <a:spcAft>
                <a:spcPts val="0"/>
              </a:spcAft>
              <a:buNone/>
            </a:pPr>
            <a:r>
              <a:rPr lang="es" sz="1050">
                <a:solidFill>
                  <a:srgbClr val="6A9955"/>
                </a:solidFill>
                <a:highlight>
                  <a:srgbClr val="1F1F1F"/>
                </a:highlight>
                <a:latin typeface="Courier New"/>
                <a:ea typeface="Courier New"/>
                <a:cs typeface="Courier New"/>
                <a:sym typeface="Courier New"/>
              </a:rPr>
              <a:t>--Crear una nueva tabla llamada 'empleados'</a:t>
            </a:r>
            <a:endParaRPr sz="1050">
              <a:solidFill>
                <a:srgbClr val="6A9955"/>
              </a:solidFill>
              <a:highlight>
                <a:srgbClr val="1F1F1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s" sz="1050">
                <a:solidFill>
                  <a:srgbClr val="569CD6"/>
                </a:solidFill>
                <a:highlight>
                  <a:srgbClr val="1F1F1F"/>
                </a:highlight>
                <a:latin typeface="Courier New"/>
                <a:ea typeface="Courier New"/>
                <a:cs typeface="Courier New"/>
                <a:sym typeface="Courier New"/>
              </a:rPr>
              <a:t>CREATE</a:t>
            </a:r>
            <a:r>
              <a:rPr lang="es" sz="1050">
                <a:solidFill>
                  <a:srgbClr val="CCCCCC"/>
                </a:solidFill>
                <a:highlight>
                  <a:srgbClr val="1F1F1F"/>
                </a:highlight>
                <a:latin typeface="Courier New"/>
                <a:ea typeface="Courier New"/>
                <a:cs typeface="Courier New"/>
                <a:sym typeface="Courier New"/>
              </a:rPr>
              <a:t> </a:t>
            </a:r>
            <a:r>
              <a:rPr lang="es" sz="1050">
                <a:solidFill>
                  <a:srgbClr val="569CD6"/>
                </a:solidFill>
                <a:highlight>
                  <a:srgbClr val="1F1F1F"/>
                </a:highlight>
                <a:latin typeface="Courier New"/>
                <a:ea typeface="Courier New"/>
                <a:cs typeface="Courier New"/>
                <a:sym typeface="Courier New"/>
              </a:rPr>
              <a:t>TABLE</a:t>
            </a:r>
            <a:r>
              <a:rPr lang="es" sz="1050">
                <a:solidFill>
                  <a:srgbClr val="CCCCCC"/>
                </a:solidFill>
                <a:highlight>
                  <a:srgbClr val="1F1F1F"/>
                </a:highlight>
                <a:latin typeface="Courier New"/>
                <a:ea typeface="Courier New"/>
                <a:cs typeface="Courier New"/>
                <a:sym typeface="Courier New"/>
              </a:rPr>
              <a:t> </a:t>
            </a:r>
            <a:r>
              <a:rPr lang="es" sz="1050">
                <a:solidFill>
                  <a:srgbClr val="DCDCAA"/>
                </a:solidFill>
                <a:highlight>
                  <a:srgbClr val="1F1F1F"/>
                </a:highlight>
                <a:latin typeface="Courier New"/>
                <a:ea typeface="Courier New"/>
                <a:cs typeface="Courier New"/>
                <a:sym typeface="Courier New"/>
              </a:rPr>
              <a:t>empleados</a:t>
            </a:r>
            <a:r>
              <a:rPr lang="es" sz="1050">
                <a:solidFill>
                  <a:srgbClr val="CCCCCC"/>
                </a:solidFill>
                <a:highlight>
                  <a:srgbClr val="1F1F1F"/>
                </a:highlight>
                <a:latin typeface="Courier New"/>
                <a:ea typeface="Courier New"/>
                <a:cs typeface="Courier New"/>
                <a:sym typeface="Courier New"/>
              </a:rPr>
              <a:t> (</a:t>
            </a:r>
            <a:endParaRPr sz="1050">
              <a:solidFill>
                <a:srgbClr val="CCCCCC"/>
              </a:solidFill>
              <a:highlight>
                <a:srgbClr val="1F1F1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s" sz="1050">
                <a:solidFill>
                  <a:srgbClr val="CCCCCC"/>
                </a:solidFill>
                <a:highlight>
                  <a:srgbClr val="1F1F1F"/>
                </a:highlight>
                <a:latin typeface="Courier New"/>
                <a:ea typeface="Courier New"/>
                <a:cs typeface="Courier New"/>
                <a:sym typeface="Courier New"/>
              </a:rPr>
              <a:t>    id </a:t>
            </a:r>
            <a:r>
              <a:rPr lang="es" sz="1050">
                <a:solidFill>
                  <a:srgbClr val="569CD6"/>
                </a:solidFill>
                <a:highlight>
                  <a:srgbClr val="1F1F1F"/>
                </a:highlight>
                <a:latin typeface="Courier New"/>
                <a:ea typeface="Courier New"/>
                <a:cs typeface="Courier New"/>
                <a:sym typeface="Courier New"/>
              </a:rPr>
              <a:t>INT</a:t>
            </a:r>
            <a:r>
              <a:rPr lang="es" sz="1050">
                <a:solidFill>
                  <a:srgbClr val="CCCCCC"/>
                </a:solidFill>
                <a:highlight>
                  <a:srgbClr val="1F1F1F"/>
                </a:highlight>
                <a:latin typeface="Courier New"/>
                <a:ea typeface="Courier New"/>
                <a:cs typeface="Courier New"/>
                <a:sym typeface="Courier New"/>
              </a:rPr>
              <a:t> </a:t>
            </a:r>
            <a:r>
              <a:rPr lang="es" sz="1050">
                <a:solidFill>
                  <a:srgbClr val="569CD6"/>
                </a:solidFill>
                <a:highlight>
                  <a:srgbClr val="1F1F1F"/>
                </a:highlight>
                <a:latin typeface="Courier New"/>
                <a:ea typeface="Courier New"/>
                <a:cs typeface="Courier New"/>
                <a:sym typeface="Courier New"/>
              </a:rPr>
              <a:t>PRIMARY KEY</a:t>
            </a:r>
            <a:r>
              <a:rPr lang="es" sz="1050">
                <a:solidFill>
                  <a:srgbClr val="CCCCCC"/>
                </a:solidFill>
                <a:highlight>
                  <a:srgbClr val="1F1F1F"/>
                </a:highlight>
                <a:latin typeface="Courier New"/>
                <a:ea typeface="Courier New"/>
                <a:cs typeface="Courier New"/>
                <a:sym typeface="Courier New"/>
              </a:rPr>
              <a:t>,</a:t>
            </a:r>
            <a:endParaRPr sz="1050">
              <a:solidFill>
                <a:srgbClr val="CCCCCC"/>
              </a:solidFill>
              <a:highlight>
                <a:srgbClr val="1F1F1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s" sz="1050">
                <a:solidFill>
                  <a:srgbClr val="CCCCCC"/>
                </a:solidFill>
                <a:highlight>
                  <a:srgbClr val="1F1F1F"/>
                </a:highlight>
                <a:latin typeface="Courier New"/>
                <a:ea typeface="Courier New"/>
                <a:cs typeface="Courier New"/>
                <a:sym typeface="Courier New"/>
              </a:rPr>
              <a:t>    nombre </a:t>
            </a:r>
            <a:r>
              <a:rPr lang="es" sz="1050">
                <a:solidFill>
                  <a:srgbClr val="569CD6"/>
                </a:solidFill>
                <a:highlight>
                  <a:srgbClr val="1F1F1F"/>
                </a:highlight>
                <a:latin typeface="Courier New"/>
                <a:ea typeface="Courier New"/>
                <a:cs typeface="Courier New"/>
                <a:sym typeface="Courier New"/>
              </a:rPr>
              <a:t>VARCHAR</a:t>
            </a:r>
            <a:r>
              <a:rPr lang="es" sz="1050">
                <a:solidFill>
                  <a:srgbClr val="CCCCCC"/>
                </a:solidFill>
                <a:highlight>
                  <a:srgbClr val="1F1F1F"/>
                </a:highlight>
                <a:latin typeface="Courier New"/>
                <a:ea typeface="Courier New"/>
                <a:cs typeface="Courier New"/>
                <a:sym typeface="Courier New"/>
              </a:rPr>
              <a:t>(</a:t>
            </a:r>
            <a:r>
              <a:rPr lang="es" sz="1050">
                <a:solidFill>
                  <a:srgbClr val="B5CEA8"/>
                </a:solidFill>
                <a:highlight>
                  <a:srgbClr val="1F1F1F"/>
                </a:highlight>
                <a:latin typeface="Courier New"/>
                <a:ea typeface="Courier New"/>
                <a:cs typeface="Courier New"/>
                <a:sym typeface="Courier New"/>
              </a:rPr>
              <a:t>100</a:t>
            </a:r>
            <a:r>
              <a:rPr lang="es" sz="1050">
                <a:solidFill>
                  <a:srgbClr val="CCCCCC"/>
                </a:solidFill>
                <a:highlight>
                  <a:srgbClr val="1F1F1F"/>
                </a:highlight>
                <a:latin typeface="Courier New"/>
                <a:ea typeface="Courier New"/>
                <a:cs typeface="Courier New"/>
                <a:sym typeface="Courier New"/>
              </a:rPr>
              <a:t>) </a:t>
            </a:r>
            <a:r>
              <a:rPr lang="es" sz="1050">
                <a:solidFill>
                  <a:srgbClr val="569CD6"/>
                </a:solidFill>
                <a:highlight>
                  <a:srgbClr val="1F1F1F"/>
                </a:highlight>
                <a:latin typeface="Courier New"/>
                <a:ea typeface="Courier New"/>
                <a:cs typeface="Courier New"/>
                <a:sym typeface="Courier New"/>
              </a:rPr>
              <a:t>NOT NULL</a:t>
            </a:r>
            <a:r>
              <a:rPr lang="es" sz="1050">
                <a:solidFill>
                  <a:srgbClr val="CCCCCC"/>
                </a:solidFill>
                <a:highlight>
                  <a:srgbClr val="1F1F1F"/>
                </a:highlight>
                <a:latin typeface="Courier New"/>
                <a:ea typeface="Courier New"/>
                <a:cs typeface="Courier New"/>
                <a:sym typeface="Courier New"/>
              </a:rPr>
              <a:t>,</a:t>
            </a:r>
            <a:endParaRPr sz="1050">
              <a:solidFill>
                <a:srgbClr val="CCCCCC"/>
              </a:solidFill>
              <a:highlight>
                <a:srgbClr val="1F1F1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s" sz="1050">
                <a:solidFill>
                  <a:srgbClr val="CCCCCC"/>
                </a:solidFill>
                <a:highlight>
                  <a:srgbClr val="1F1F1F"/>
                </a:highlight>
                <a:latin typeface="Courier New"/>
                <a:ea typeface="Courier New"/>
                <a:cs typeface="Courier New"/>
                <a:sym typeface="Courier New"/>
              </a:rPr>
              <a:t>    salario </a:t>
            </a:r>
            <a:r>
              <a:rPr lang="es" sz="1050">
                <a:solidFill>
                  <a:srgbClr val="569CD6"/>
                </a:solidFill>
                <a:highlight>
                  <a:srgbClr val="1F1F1F"/>
                </a:highlight>
                <a:latin typeface="Courier New"/>
                <a:ea typeface="Courier New"/>
                <a:cs typeface="Courier New"/>
                <a:sym typeface="Courier New"/>
              </a:rPr>
              <a:t>DECIMAL</a:t>
            </a:r>
            <a:r>
              <a:rPr lang="es" sz="1050">
                <a:solidFill>
                  <a:srgbClr val="CCCCCC"/>
                </a:solidFill>
                <a:highlight>
                  <a:srgbClr val="1F1F1F"/>
                </a:highlight>
                <a:latin typeface="Courier New"/>
                <a:ea typeface="Courier New"/>
                <a:cs typeface="Courier New"/>
                <a:sym typeface="Courier New"/>
              </a:rPr>
              <a:t>(</a:t>
            </a:r>
            <a:r>
              <a:rPr lang="es" sz="1050">
                <a:solidFill>
                  <a:srgbClr val="B5CEA8"/>
                </a:solidFill>
                <a:highlight>
                  <a:srgbClr val="1F1F1F"/>
                </a:highlight>
                <a:latin typeface="Courier New"/>
                <a:ea typeface="Courier New"/>
                <a:cs typeface="Courier New"/>
                <a:sym typeface="Courier New"/>
              </a:rPr>
              <a:t>10</a:t>
            </a:r>
            <a:r>
              <a:rPr lang="es" sz="1050">
                <a:solidFill>
                  <a:srgbClr val="CCCCCC"/>
                </a:solidFill>
                <a:highlight>
                  <a:srgbClr val="1F1F1F"/>
                </a:highlight>
                <a:latin typeface="Courier New"/>
                <a:ea typeface="Courier New"/>
                <a:cs typeface="Courier New"/>
                <a:sym typeface="Courier New"/>
              </a:rPr>
              <a:t>, </a:t>
            </a:r>
            <a:r>
              <a:rPr lang="es" sz="1050">
                <a:solidFill>
                  <a:srgbClr val="B5CEA8"/>
                </a:solidFill>
                <a:highlight>
                  <a:srgbClr val="1F1F1F"/>
                </a:highlight>
                <a:latin typeface="Courier New"/>
                <a:ea typeface="Courier New"/>
                <a:cs typeface="Courier New"/>
                <a:sym typeface="Courier New"/>
              </a:rPr>
              <a:t>2</a:t>
            </a:r>
            <a:r>
              <a:rPr lang="es" sz="1050">
                <a:solidFill>
                  <a:srgbClr val="CCCCCC"/>
                </a:solidFill>
                <a:highlight>
                  <a:srgbClr val="1F1F1F"/>
                </a:highlight>
                <a:latin typeface="Courier New"/>
                <a:ea typeface="Courier New"/>
                <a:cs typeface="Courier New"/>
                <a:sym typeface="Courier New"/>
              </a:rPr>
              <a:t>),</a:t>
            </a:r>
            <a:endParaRPr sz="1050">
              <a:solidFill>
                <a:srgbClr val="CCCCCC"/>
              </a:solidFill>
              <a:highlight>
                <a:srgbClr val="1F1F1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s" sz="1050">
                <a:solidFill>
                  <a:srgbClr val="CCCCCC"/>
                </a:solidFill>
                <a:highlight>
                  <a:srgbClr val="1F1F1F"/>
                </a:highlight>
                <a:latin typeface="Courier New"/>
                <a:ea typeface="Courier New"/>
                <a:cs typeface="Courier New"/>
                <a:sym typeface="Courier New"/>
              </a:rPr>
              <a:t>    departamento_id </a:t>
            </a:r>
            <a:r>
              <a:rPr lang="es" sz="1050">
                <a:solidFill>
                  <a:srgbClr val="569CD6"/>
                </a:solidFill>
                <a:highlight>
                  <a:srgbClr val="1F1F1F"/>
                </a:highlight>
                <a:latin typeface="Courier New"/>
                <a:ea typeface="Courier New"/>
                <a:cs typeface="Courier New"/>
                <a:sym typeface="Courier New"/>
              </a:rPr>
              <a:t>INT</a:t>
            </a:r>
            <a:r>
              <a:rPr lang="es" sz="1050">
                <a:solidFill>
                  <a:srgbClr val="CCCCCC"/>
                </a:solidFill>
                <a:highlight>
                  <a:srgbClr val="1F1F1F"/>
                </a:highlight>
                <a:latin typeface="Courier New"/>
                <a:ea typeface="Courier New"/>
                <a:cs typeface="Courier New"/>
                <a:sym typeface="Courier New"/>
              </a:rPr>
              <a:t>,</a:t>
            </a:r>
            <a:endParaRPr sz="1050">
              <a:solidFill>
                <a:srgbClr val="CCCCCC"/>
              </a:solidFill>
              <a:highlight>
                <a:srgbClr val="1F1F1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s" sz="1050">
                <a:solidFill>
                  <a:srgbClr val="CCCCCC"/>
                </a:solidFill>
                <a:highlight>
                  <a:srgbClr val="1F1F1F"/>
                </a:highlight>
                <a:latin typeface="Courier New"/>
                <a:ea typeface="Courier New"/>
                <a:cs typeface="Courier New"/>
                <a:sym typeface="Courier New"/>
              </a:rPr>
              <a:t>    fecha_contratacion </a:t>
            </a:r>
            <a:r>
              <a:rPr lang="es" sz="1050">
                <a:solidFill>
                  <a:srgbClr val="569CD6"/>
                </a:solidFill>
                <a:highlight>
                  <a:srgbClr val="1F1F1F"/>
                </a:highlight>
                <a:latin typeface="Courier New"/>
                <a:ea typeface="Courier New"/>
                <a:cs typeface="Courier New"/>
                <a:sym typeface="Courier New"/>
              </a:rPr>
              <a:t>DATE</a:t>
            </a:r>
            <a:r>
              <a:rPr lang="es" sz="1050">
                <a:solidFill>
                  <a:srgbClr val="CCCCCC"/>
                </a:solidFill>
                <a:highlight>
                  <a:srgbClr val="1F1F1F"/>
                </a:highlight>
                <a:latin typeface="Courier New"/>
                <a:ea typeface="Courier New"/>
                <a:cs typeface="Courier New"/>
                <a:sym typeface="Courier New"/>
              </a:rPr>
              <a:t> </a:t>
            </a:r>
            <a:r>
              <a:rPr lang="es" sz="1050">
                <a:solidFill>
                  <a:srgbClr val="569CD6"/>
                </a:solidFill>
                <a:highlight>
                  <a:srgbClr val="1F1F1F"/>
                </a:highlight>
                <a:latin typeface="Courier New"/>
                <a:ea typeface="Courier New"/>
                <a:cs typeface="Courier New"/>
                <a:sym typeface="Courier New"/>
              </a:rPr>
              <a:t>DEFAULT</a:t>
            </a:r>
            <a:r>
              <a:rPr lang="es" sz="1050">
                <a:solidFill>
                  <a:srgbClr val="CCCCCC"/>
                </a:solidFill>
                <a:highlight>
                  <a:srgbClr val="1F1F1F"/>
                </a:highlight>
                <a:latin typeface="Courier New"/>
                <a:ea typeface="Courier New"/>
                <a:cs typeface="Courier New"/>
                <a:sym typeface="Courier New"/>
              </a:rPr>
              <a:t> </a:t>
            </a:r>
            <a:r>
              <a:rPr lang="es" sz="1050">
                <a:solidFill>
                  <a:srgbClr val="569CD6"/>
                </a:solidFill>
                <a:highlight>
                  <a:srgbClr val="1F1F1F"/>
                </a:highlight>
                <a:latin typeface="Courier New"/>
                <a:ea typeface="Courier New"/>
                <a:cs typeface="Courier New"/>
                <a:sym typeface="Courier New"/>
              </a:rPr>
              <a:t>SYSDATE</a:t>
            </a:r>
            <a:endParaRPr sz="1050">
              <a:solidFill>
                <a:srgbClr val="569CD6"/>
              </a:solidFill>
              <a:highlight>
                <a:srgbClr val="1F1F1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s" sz="1050">
                <a:solidFill>
                  <a:srgbClr val="CCCCCC"/>
                </a:solidFill>
                <a:highlight>
                  <a:srgbClr val="1F1F1F"/>
                </a:highlight>
                <a:latin typeface="Courier New"/>
                <a:ea typeface="Courier New"/>
                <a:cs typeface="Courier New"/>
                <a:sym typeface="Courier New"/>
              </a:rPr>
              <a:t>);</a:t>
            </a:r>
            <a:endParaRPr sz="1050">
              <a:solidFill>
                <a:srgbClr val="CCCCCC"/>
              </a:solidFill>
              <a:highlight>
                <a:srgbClr val="1F1F1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1050">
              <a:solidFill>
                <a:srgbClr val="CCCCCC"/>
              </a:solidFill>
              <a:highlight>
                <a:srgbClr val="1F1F1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s">
                <a:solidFill>
                  <a:srgbClr val="FF0000"/>
                </a:solidFill>
              </a:rPr>
              <a:t>Nótese cómo se tipan las variables</a:t>
            </a:r>
            <a:endParaRPr b="1" sz="1050">
              <a:solidFill>
                <a:srgbClr val="FF0000"/>
              </a:solidFill>
              <a:highlight>
                <a:srgbClr val="1F1F1F"/>
              </a:highlight>
              <a:latin typeface="Courier New"/>
              <a:ea typeface="Courier New"/>
              <a:cs typeface="Courier New"/>
              <a:sym typeface="Courier New"/>
            </a:endParaRPr>
          </a:p>
        </p:txBody>
      </p:sp>
      <p:sp>
        <p:nvSpPr>
          <p:cNvPr id="416" name="Google Shape;416;p56"/>
          <p:cNvSpPr txBox="1"/>
          <p:nvPr>
            <p:ph idx="2" type="body"/>
          </p:nvPr>
        </p:nvSpPr>
        <p:spPr>
          <a:xfrm>
            <a:off x="4643600" y="1237075"/>
            <a:ext cx="4391700" cy="38028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es"/>
              <a:t>2. ALTER (Modificar), se usa para modificar la estructura de un objeto existente en la base de datos.</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s" sz="1050">
                <a:solidFill>
                  <a:srgbClr val="6A9955"/>
                </a:solidFill>
                <a:highlight>
                  <a:srgbClr val="1F1F1F"/>
                </a:highlight>
                <a:latin typeface="Courier New"/>
                <a:ea typeface="Courier New"/>
                <a:cs typeface="Courier New"/>
                <a:sym typeface="Courier New"/>
              </a:rPr>
              <a:t>--Añadir una nueva columna a la tabla 'empleados'</a:t>
            </a:r>
            <a:endParaRPr sz="1050">
              <a:solidFill>
                <a:srgbClr val="6A9955"/>
              </a:solidFill>
              <a:highlight>
                <a:srgbClr val="1F1F1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s" sz="1050">
                <a:solidFill>
                  <a:srgbClr val="569CD6"/>
                </a:solidFill>
                <a:highlight>
                  <a:srgbClr val="1F1F1F"/>
                </a:highlight>
                <a:latin typeface="Courier New"/>
                <a:ea typeface="Courier New"/>
                <a:cs typeface="Courier New"/>
                <a:sym typeface="Courier New"/>
              </a:rPr>
              <a:t>ALTER</a:t>
            </a:r>
            <a:r>
              <a:rPr lang="es" sz="1050">
                <a:solidFill>
                  <a:srgbClr val="CCCCCC"/>
                </a:solidFill>
                <a:highlight>
                  <a:srgbClr val="1F1F1F"/>
                </a:highlight>
                <a:latin typeface="Courier New"/>
                <a:ea typeface="Courier New"/>
                <a:cs typeface="Courier New"/>
                <a:sym typeface="Courier New"/>
              </a:rPr>
              <a:t> </a:t>
            </a:r>
            <a:r>
              <a:rPr lang="es" sz="1050">
                <a:solidFill>
                  <a:srgbClr val="569CD6"/>
                </a:solidFill>
                <a:highlight>
                  <a:srgbClr val="1F1F1F"/>
                </a:highlight>
                <a:latin typeface="Courier New"/>
                <a:ea typeface="Courier New"/>
                <a:cs typeface="Courier New"/>
                <a:sym typeface="Courier New"/>
              </a:rPr>
              <a:t>TABLE</a:t>
            </a:r>
            <a:r>
              <a:rPr lang="es" sz="1050">
                <a:solidFill>
                  <a:srgbClr val="CCCCCC"/>
                </a:solidFill>
                <a:highlight>
                  <a:srgbClr val="1F1F1F"/>
                </a:highlight>
                <a:latin typeface="Courier New"/>
                <a:ea typeface="Courier New"/>
                <a:cs typeface="Courier New"/>
                <a:sym typeface="Courier New"/>
              </a:rPr>
              <a:t> empleados </a:t>
            </a:r>
            <a:r>
              <a:rPr lang="es" sz="1050">
                <a:solidFill>
                  <a:srgbClr val="569CD6"/>
                </a:solidFill>
                <a:highlight>
                  <a:srgbClr val="1F1F1F"/>
                </a:highlight>
                <a:latin typeface="Courier New"/>
                <a:ea typeface="Courier New"/>
                <a:cs typeface="Courier New"/>
                <a:sym typeface="Courier New"/>
              </a:rPr>
              <a:t>ADD</a:t>
            </a:r>
            <a:r>
              <a:rPr lang="es" sz="1050">
                <a:solidFill>
                  <a:srgbClr val="CCCCCC"/>
                </a:solidFill>
                <a:highlight>
                  <a:srgbClr val="1F1F1F"/>
                </a:highlight>
                <a:latin typeface="Courier New"/>
                <a:ea typeface="Courier New"/>
                <a:cs typeface="Courier New"/>
                <a:sym typeface="Courier New"/>
              </a:rPr>
              <a:t> email </a:t>
            </a:r>
            <a:r>
              <a:rPr lang="es" sz="1050">
                <a:solidFill>
                  <a:srgbClr val="569CD6"/>
                </a:solidFill>
                <a:highlight>
                  <a:srgbClr val="1F1F1F"/>
                </a:highlight>
                <a:latin typeface="Courier New"/>
                <a:ea typeface="Courier New"/>
                <a:cs typeface="Courier New"/>
                <a:sym typeface="Courier New"/>
              </a:rPr>
              <a:t>VARCHAR</a:t>
            </a:r>
            <a:r>
              <a:rPr lang="es" sz="1050">
                <a:solidFill>
                  <a:srgbClr val="CCCCCC"/>
                </a:solidFill>
                <a:highlight>
                  <a:srgbClr val="1F1F1F"/>
                </a:highlight>
                <a:latin typeface="Courier New"/>
                <a:ea typeface="Courier New"/>
                <a:cs typeface="Courier New"/>
                <a:sym typeface="Courier New"/>
              </a:rPr>
              <a:t>(</a:t>
            </a:r>
            <a:r>
              <a:rPr lang="es" sz="1050">
                <a:solidFill>
                  <a:srgbClr val="B5CEA8"/>
                </a:solidFill>
                <a:highlight>
                  <a:srgbClr val="1F1F1F"/>
                </a:highlight>
                <a:latin typeface="Courier New"/>
                <a:ea typeface="Courier New"/>
                <a:cs typeface="Courier New"/>
                <a:sym typeface="Courier New"/>
              </a:rPr>
              <a:t>255</a:t>
            </a:r>
            <a:r>
              <a:rPr lang="es" sz="1050">
                <a:solidFill>
                  <a:srgbClr val="CCCCCC"/>
                </a:solidFill>
                <a:highlight>
                  <a:srgbClr val="1F1F1F"/>
                </a:highlight>
                <a:latin typeface="Courier New"/>
                <a:ea typeface="Courier New"/>
                <a:cs typeface="Courier New"/>
                <a:sym typeface="Courier New"/>
              </a:rPr>
              <a:t>);</a:t>
            </a:r>
            <a:endParaRPr sz="1050">
              <a:solidFill>
                <a:srgbClr val="CCCCCC"/>
              </a:solidFill>
              <a:highlight>
                <a:srgbClr val="1F1F1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1050">
              <a:solidFill>
                <a:srgbClr val="CCCCCC"/>
              </a:solidFill>
              <a:highlight>
                <a:srgbClr val="1F1F1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s" sz="1050">
                <a:solidFill>
                  <a:srgbClr val="6A9955"/>
                </a:solidFill>
                <a:highlight>
                  <a:srgbClr val="1F1F1F"/>
                </a:highlight>
                <a:latin typeface="Courier New"/>
                <a:ea typeface="Courier New"/>
                <a:cs typeface="Courier New"/>
                <a:sym typeface="Courier New"/>
              </a:rPr>
              <a:t>--Modificar el tipo de dato de una columna existente</a:t>
            </a:r>
            <a:endParaRPr sz="1050">
              <a:solidFill>
                <a:srgbClr val="6A9955"/>
              </a:solidFill>
              <a:highlight>
                <a:srgbClr val="1F1F1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s" sz="1050">
                <a:solidFill>
                  <a:srgbClr val="569CD6"/>
                </a:solidFill>
                <a:highlight>
                  <a:srgbClr val="1F1F1F"/>
                </a:highlight>
                <a:latin typeface="Courier New"/>
                <a:ea typeface="Courier New"/>
                <a:cs typeface="Courier New"/>
                <a:sym typeface="Courier New"/>
              </a:rPr>
              <a:t>ALTER</a:t>
            </a:r>
            <a:r>
              <a:rPr lang="es" sz="1050">
                <a:solidFill>
                  <a:srgbClr val="CCCCCC"/>
                </a:solidFill>
                <a:highlight>
                  <a:srgbClr val="1F1F1F"/>
                </a:highlight>
                <a:latin typeface="Courier New"/>
                <a:ea typeface="Courier New"/>
                <a:cs typeface="Courier New"/>
                <a:sym typeface="Courier New"/>
              </a:rPr>
              <a:t> </a:t>
            </a:r>
            <a:r>
              <a:rPr lang="es" sz="1050">
                <a:solidFill>
                  <a:srgbClr val="569CD6"/>
                </a:solidFill>
                <a:highlight>
                  <a:srgbClr val="1F1F1F"/>
                </a:highlight>
                <a:latin typeface="Courier New"/>
                <a:ea typeface="Courier New"/>
                <a:cs typeface="Courier New"/>
                <a:sym typeface="Courier New"/>
              </a:rPr>
              <a:t>TABLE</a:t>
            </a:r>
            <a:r>
              <a:rPr lang="es" sz="1050">
                <a:solidFill>
                  <a:srgbClr val="CCCCCC"/>
                </a:solidFill>
                <a:highlight>
                  <a:srgbClr val="1F1F1F"/>
                </a:highlight>
                <a:latin typeface="Courier New"/>
                <a:ea typeface="Courier New"/>
                <a:cs typeface="Courier New"/>
                <a:sym typeface="Courier New"/>
              </a:rPr>
              <a:t> empleados </a:t>
            </a:r>
            <a:endParaRPr sz="1050">
              <a:solidFill>
                <a:srgbClr val="CCCCCC"/>
              </a:solidFill>
              <a:highlight>
                <a:srgbClr val="1F1F1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s" sz="1050">
                <a:solidFill>
                  <a:srgbClr val="569CD6"/>
                </a:solidFill>
                <a:highlight>
                  <a:srgbClr val="1F1F1F"/>
                </a:highlight>
                <a:latin typeface="Courier New"/>
                <a:ea typeface="Courier New"/>
                <a:cs typeface="Courier New"/>
                <a:sym typeface="Courier New"/>
              </a:rPr>
              <a:t>MODIFY</a:t>
            </a:r>
            <a:r>
              <a:rPr lang="es" sz="1050">
                <a:solidFill>
                  <a:srgbClr val="CCCCCC"/>
                </a:solidFill>
                <a:highlight>
                  <a:srgbClr val="1F1F1F"/>
                </a:highlight>
                <a:latin typeface="Courier New"/>
                <a:ea typeface="Courier New"/>
                <a:cs typeface="Courier New"/>
                <a:sym typeface="Courier New"/>
              </a:rPr>
              <a:t> email </a:t>
            </a:r>
            <a:r>
              <a:rPr lang="es" sz="1050">
                <a:solidFill>
                  <a:srgbClr val="569CD6"/>
                </a:solidFill>
                <a:highlight>
                  <a:srgbClr val="1F1F1F"/>
                </a:highlight>
                <a:latin typeface="Courier New"/>
                <a:ea typeface="Courier New"/>
                <a:cs typeface="Courier New"/>
                <a:sym typeface="Courier New"/>
              </a:rPr>
              <a:t>VARCHAR</a:t>
            </a:r>
            <a:r>
              <a:rPr lang="es" sz="1050">
                <a:solidFill>
                  <a:srgbClr val="CCCCCC"/>
                </a:solidFill>
                <a:highlight>
                  <a:srgbClr val="1F1F1F"/>
                </a:highlight>
                <a:latin typeface="Courier New"/>
                <a:ea typeface="Courier New"/>
                <a:cs typeface="Courier New"/>
                <a:sym typeface="Courier New"/>
              </a:rPr>
              <a:t>(</a:t>
            </a:r>
            <a:r>
              <a:rPr lang="es" sz="1050">
                <a:solidFill>
                  <a:srgbClr val="B5CEA8"/>
                </a:solidFill>
                <a:highlight>
                  <a:srgbClr val="1F1F1F"/>
                </a:highlight>
                <a:latin typeface="Courier New"/>
                <a:ea typeface="Courier New"/>
                <a:cs typeface="Courier New"/>
                <a:sym typeface="Courier New"/>
              </a:rPr>
              <a:t>100</a:t>
            </a:r>
            <a:r>
              <a:rPr lang="es" sz="1050">
                <a:solidFill>
                  <a:srgbClr val="CCCCCC"/>
                </a:solidFill>
                <a:highlight>
                  <a:srgbClr val="1F1F1F"/>
                </a:highlight>
                <a:latin typeface="Courier New"/>
                <a:ea typeface="Courier New"/>
                <a:cs typeface="Courier New"/>
                <a:sym typeface="Courier New"/>
              </a:rPr>
              <a:t>) </a:t>
            </a:r>
            <a:r>
              <a:rPr lang="es" sz="1050">
                <a:solidFill>
                  <a:srgbClr val="569CD6"/>
                </a:solidFill>
                <a:highlight>
                  <a:srgbClr val="1F1F1F"/>
                </a:highlight>
                <a:latin typeface="Courier New"/>
                <a:ea typeface="Courier New"/>
                <a:cs typeface="Courier New"/>
                <a:sym typeface="Courier New"/>
              </a:rPr>
              <a:t>NOT NULL</a:t>
            </a:r>
            <a:r>
              <a:rPr lang="es" sz="1050">
                <a:solidFill>
                  <a:srgbClr val="CCCCCC"/>
                </a:solidFill>
                <a:highlight>
                  <a:srgbClr val="1F1F1F"/>
                </a:highlight>
                <a:latin typeface="Courier New"/>
                <a:ea typeface="Courier New"/>
                <a:cs typeface="Courier New"/>
                <a:sym typeface="Courier New"/>
              </a:rPr>
              <a:t>;</a:t>
            </a:r>
            <a:endParaRPr sz="1050">
              <a:solidFill>
                <a:srgbClr val="CCCCCC"/>
              </a:solidFill>
              <a:highlight>
                <a:srgbClr val="1F1F1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1050">
              <a:solidFill>
                <a:srgbClr val="CCCCCC"/>
              </a:solidFill>
              <a:highlight>
                <a:srgbClr val="1F1F1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s" sz="1050">
                <a:solidFill>
                  <a:srgbClr val="6A9955"/>
                </a:solidFill>
                <a:highlight>
                  <a:srgbClr val="1F1F1F"/>
                </a:highlight>
                <a:latin typeface="Courier New"/>
                <a:ea typeface="Courier New"/>
                <a:cs typeface="Courier New"/>
                <a:sym typeface="Courier New"/>
              </a:rPr>
              <a:t>--Eliminar una columna de la tabla</a:t>
            </a:r>
            <a:endParaRPr sz="1050">
              <a:solidFill>
                <a:srgbClr val="6A9955"/>
              </a:solidFill>
              <a:highlight>
                <a:srgbClr val="1F1F1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s" sz="1050">
                <a:solidFill>
                  <a:srgbClr val="569CD6"/>
                </a:solidFill>
                <a:highlight>
                  <a:srgbClr val="1F1F1F"/>
                </a:highlight>
                <a:latin typeface="Courier New"/>
                <a:ea typeface="Courier New"/>
                <a:cs typeface="Courier New"/>
                <a:sym typeface="Courier New"/>
              </a:rPr>
              <a:t>ALTER</a:t>
            </a:r>
            <a:r>
              <a:rPr lang="es" sz="1050">
                <a:solidFill>
                  <a:srgbClr val="CCCCCC"/>
                </a:solidFill>
                <a:highlight>
                  <a:srgbClr val="1F1F1F"/>
                </a:highlight>
                <a:latin typeface="Courier New"/>
                <a:ea typeface="Courier New"/>
                <a:cs typeface="Courier New"/>
                <a:sym typeface="Courier New"/>
              </a:rPr>
              <a:t> </a:t>
            </a:r>
            <a:r>
              <a:rPr lang="es" sz="1050">
                <a:solidFill>
                  <a:srgbClr val="569CD6"/>
                </a:solidFill>
                <a:highlight>
                  <a:srgbClr val="1F1F1F"/>
                </a:highlight>
                <a:latin typeface="Courier New"/>
                <a:ea typeface="Courier New"/>
                <a:cs typeface="Courier New"/>
                <a:sym typeface="Courier New"/>
              </a:rPr>
              <a:t>TABLE</a:t>
            </a:r>
            <a:r>
              <a:rPr lang="es" sz="1050">
                <a:solidFill>
                  <a:srgbClr val="CCCCCC"/>
                </a:solidFill>
                <a:highlight>
                  <a:srgbClr val="1F1F1F"/>
                </a:highlight>
                <a:latin typeface="Courier New"/>
                <a:ea typeface="Courier New"/>
                <a:cs typeface="Courier New"/>
                <a:sym typeface="Courier New"/>
              </a:rPr>
              <a:t> empleados </a:t>
            </a:r>
            <a:r>
              <a:rPr lang="es" sz="1050">
                <a:solidFill>
                  <a:srgbClr val="569CD6"/>
                </a:solidFill>
                <a:highlight>
                  <a:srgbClr val="1F1F1F"/>
                </a:highlight>
                <a:latin typeface="Courier New"/>
                <a:ea typeface="Courier New"/>
                <a:cs typeface="Courier New"/>
                <a:sym typeface="Courier New"/>
              </a:rPr>
              <a:t>DROP</a:t>
            </a:r>
            <a:r>
              <a:rPr lang="es" sz="1050">
                <a:solidFill>
                  <a:srgbClr val="CCCCCC"/>
                </a:solidFill>
                <a:highlight>
                  <a:srgbClr val="1F1F1F"/>
                </a:highlight>
                <a:latin typeface="Courier New"/>
                <a:ea typeface="Courier New"/>
                <a:cs typeface="Courier New"/>
                <a:sym typeface="Courier New"/>
              </a:rPr>
              <a:t> COLUMN email;</a:t>
            </a:r>
            <a:endParaRPr sz="1050">
              <a:solidFill>
                <a:srgbClr val="CCCCCC"/>
              </a:solidFill>
              <a:highlight>
                <a:srgbClr val="1F1F1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s"/>
              <a:t>3. DROP (Eliminar), se usa para eliminar un objeto completo de la base de datos (por ejemplo, una tabla, una vista o un índice). A diferencia de DELETE (que elimina filas), DROP elimina el objeto por completo.</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s" sz="1050">
                <a:solidFill>
                  <a:srgbClr val="6A9955"/>
                </a:solidFill>
                <a:highlight>
                  <a:srgbClr val="1F1F1F"/>
                </a:highlight>
                <a:latin typeface="Courier New"/>
                <a:ea typeface="Courier New"/>
                <a:cs typeface="Courier New"/>
                <a:sym typeface="Courier New"/>
              </a:rPr>
              <a:t>--Eliminar la tabla 'empleados' y todos sus datos</a:t>
            </a:r>
            <a:endParaRPr sz="1050">
              <a:solidFill>
                <a:srgbClr val="6A9955"/>
              </a:solidFill>
              <a:highlight>
                <a:srgbClr val="1F1F1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s" sz="1050">
                <a:solidFill>
                  <a:srgbClr val="569CD6"/>
                </a:solidFill>
                <a:highlight>
                  <a:srgbClr val="1F1F1F"/>
                </a:highlight>
                <a:latin typeface="Courier New"/>
                <a:ea typeface="Courier New"/>
                <a:cs typeface="Courier New"/>
                <a:sym typeface="Courier New"/>
              </a:rPr>
              <a:t>DROP</a:t>
            </a:r>
            <a:r>
              <a:rPr lang="es" sz="1050">
                <a:solidFill>
                  <a:srgbClr val="CCCCCC"/>
                </a:solidFill>
                <a:highlight>
                  <a:srgbClr val="1F1F1F"/>
                </a:highlight>
                <a:latin typeface="Courier New"/>
                <a:ea typeface="Courier New"/>
                <a:cs typeface="Courier New"/>
                <a:sym typeface="Courier New"/>
              </a:rPr>
              <a:t> </a:t>
            </a:r>
            <a:r>
              <a:rPr lang="es" sz="1050">
                <a:solidFill>
                  <a:srgbClr val="569CD6"/>
                </a:solidFill>
                <a:highlight>
                  <a:srgbClr val="1F1F1F"/>
                </a:highlight>
                <a:latin typeface="Courier New"/>
                <a:ea typeface="Courier New"/>
                <a:cs typeface="Courier New"/>
                <a:sym typeface="Courier New"/>
              </a:rPr>
              <a:t>TABLE</a:t>
            </a:r>
            <a:r>
              <a:rPr lang="es" sz="1050">
                <a:solidFill>
                  <a:srgbClr val="CCCCCC"/>
                </a:solidFill>
                <a:highlight>
                  <a:srgbClr val="1F1F1F"/>
                </a:highlight>
                <a:latin typeface="Courier New"/>
                <a:ea typeface="Courier New"/>
                <a:cs typeface="Courier New"/>
                <a:sym typeface="Courier New"/>
              </a:rPr>
              <a:t> empleados;</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57"/>
          <p:cNvSpPr txBox="1"/>
          <p:nvPr>
            <p:ph type="title"/>
          </p:nvPr>
        </p:nvSpPr>
        <p:spPr>
          <a:xfrm>
            <a:off x="830400" y="6560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Lenguajes que tienen sublenguajes (SQL/DCL)</a:t>
            </a:r>
            <a:endParaRPr/>
          </a:p>
        </p:txBody>
      </p:sp>
      <p:sp>
        <p:nvSpPr>
          <p:cNvPr id="422" name="Google Shape;422;p57"/>
          <p:cNvSpPr txBox="1"/>
          <p:nvPr>
            <p:ph idx="1" type="body"/>
          </p:nvPr>
        </p:nvSpPr>
        <p:spPr>
          <a:xfrm>
            <a:off x="359200" y="1237075"/>
            <a:ext cx="4144500" cy="3802800"/>
          </a:xfrm>
          <a:prstGeom prst="rect">
            <a:avLst/>
          </a:prstGeom>
        </p:spPr>
        <p:txBody>
          <a:bodyPr anchorCtr="0" anchor="t" bIns="91425" lIns="91425" spcFirstLastPara="1" rIns="91425" wrap="square" tIns="91425">
            <a:normAutofit lnSpcReduction="10000"/>
          </a:bodyPr>
          <a:lstStyle/>
          <a:p>
            <a:pPr indent="0" lvl="0" marL="0" rtl="0" algn="l">
              <a:lnSpc>
                <a:spcPct val="100000"/>
              </a:lnSpc>
              <a:spcBef>
                <a:spcPts val="0"/>
              </a:spcBef>
              <a:spcAft>
                <a:spcPts val="0"/>
              </a:spcAft>
              <a:buNone/>
            </a:pPr>
            <a:r>
              <a:rPr lang="es"/>
              <a:t>Las sentencias DCL (Data Control Language) se usan para controlar el acceso a los datos en una base de datos. </a:t>
            </a:r>
            <a:endParaRPr/>
          </a:p>
          <a:p>
            <a:pPr indent="-311150" lvl="0" marL="457200" rtl="0" algn="l">
              <a:lnSpc>
                <a:spcPct val="100000"/>
              </a:lnSpc>
              <a:spcBef>
                <a:spcPts val="0"/>
              </a:spcBef>
              <a:spcAft>
                <a:spcPts val="0"/>
              </a:spcAft>
              <a:buSzPts val="1300"/>
              <a:buChar char="●"/>
            </a:pPr>
            <a:r>
              <a:rPr lang="es"/>
              <a:t>Se centran en la seguridad y los permisos de los usuarios. </a:t>
            </a:r>
            <a:endParaRPr/>
          </a:p>
          <a:p>
            <a:pPr indent="-311150" lvl="0" marL="457200" rtl="0" algn="l">
              <a:lnSpc>
                <a:spcPct val="100000"/>
              </a:lnSpc>
              <a:spcBef>
                <a:spcPts val="0"/>
              </a:spcBef>
              <a:spcAft>
                <a:spcPts val="0"/>
              </a:spcAft>
              <a:buSzPts val="1300"/>
              <a:buChar char="●"/>
            </a:pPr>
            <a:r>
              <a:rPr lang="es"/>
              <a:t>Las dos sentencias principales de DCL son GRANT y REVOKE.</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s"/>
              <a:t>1. GRANT (Conceder permisos), se usa para otorgar privilegios a un usuario o rol para realizar operaciones sobre un objeto de la base de datos (como una tabla).</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s" sz="1050">
                <a:solidFill>
                  <a:srgbClr val="6A9955"/>
                </a:solidFill>
                <a:highlight>
                  <a:srgbClr val="1F1F1F"/>
                </a:highlight>
                <a:latin typeface="Courier New"/>
                <a:ea typeface="Courier New"/>
                <a:cs typeface="Courier New"/>
                <a:sym typeface="Courier New"/>
              </a:rPr>
              <a:t>--Conceder permiso para ver datos de la tabla 'empleados'</a:t>
            </a:r>
            <a:endParaRPr sz="1050">
              <a:solidFill>
                <a:srgbClr val="6A9955"/>
              </a:solidFill>
              <a:highlight>
                <a:srgbClr val="1F1F1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s" sz="1050">
                <a:solidFill>
                  <a:srgbClr val="569CD6"/>
                </a:solidFill>
                <a:highlight>
                  <a:srgbClr val="1F1F1F"/>
                </a:highlight>
                <a:latin typeface="Courier New"/>
                <a:ea typeface="Courier New"/>
                <a:cs typeface="Courier New"/>
                <a:sym typeface="Courier New"/>
              </a:rPr>
              <a:t>GRANT</a:t>
            </a:r>
            <a:r>
              <a:rPr lang="es" sz="1050">
                <a:solidFill>
                  <a:srgbClr val="CCCCCC"/>
                </a:solidFill>
                <a:highlight>
                  <a:srgbClr val="1F1F1F"/>
                </a:highlight>
                <a:latin typeface="Courier New"/>
                <a:ea typeface="Courier New"/>
                <a:cs typeface="Courier New"/>
                <a:sym typeface="Courier New"/>
              </a:rPr>
              <a:t> </a:t>
            </a:r>
            <a:r>
              <a:rPr lang="es" sz="1050">
                <a:solidFill>
                  <a:srgbClr val="569CD6"/>
                </a:solidFill>
                <a:highlight>
                  <a:srgbClr val="1F1F1F"/>
                </a:highlight>
                <a:latin typeface="Courier New"/>
                <a:ea typeface="Courier New"/>
                <a:cs typeface="Courier New"/>
                <a:sym typeface="Courier New"/>
              </a:rPr>
              <a:t>SELECT</a:t>
            </a:r>
            <a:r>
              <a:rPr lang="es" sz="1050">
                <a:solidFill>
                  <a:srgbClr val="CCCCCC"/>
                </a:solidFill>
                <a:highlight>
                  <a:srgbClr val="1F1F1F"/>
                </a:highlight>
                <a:latin typeface="Courier New"/>
                <a:ea typeface="Courier New"/>
                <a:cs typeface="Courier New"/>
                <a:sym typeface="Courier New"/>
              </a:rPr>
              <a:t> </a:t>
            </a:r>
            <a:r>
              <a:rPr lang="es" sz="1050">
                <a:solidFill>
                  <a:srgbClr val="569CD6"/>
                </a:solidFill>
                <a:highlight>
                  <a:srgbClr val="1F1F1F"/>
                </a:highlight>
                <a:latin typeface="Courier New"/>
                <a:ea typeface="Courier New"/>
                <a:cs typeface="Courier New"/>
                <a:sym typeface="Courier New"/>
              </a:rPr>
              <a:t>ON</a:t>
            </a:r>
            <a:r>
              <a:rPr lang="es" sz="1050">
                <a:solidFill>
                  <a:srgbClr val="CCCCCC"/>
                </a:solidFill>
                <a:highlight>
                  <a:srgbClr val="1F1F1F"/>
                </a:highlight>
                <a:latin typeface="Courier New"/>
                <a:ea typeface="Courier New"/>
                <a:cs typeface="Courier New"/>
                <a:sym typeface="Courier New"/>
              </a:rPr>
              <a:t> empleados </a:t>
            </a:r>
            <a:r>
              <a:rPr lang="es" sz="1050">
                <a:solidFill>
                  <a:srgbClr val="569CD6"/>
                </a:solidFill>
                <a:highlight>
                  <a:srgbClr val="1F1F1F"/>
                </a:highlight>
                <a:latin typeface="Courier New"/>
                <a:ea typeface="Courier New"/>
                <a:cs typeface="Courier New"/>
                <a:sym typeface="Courier New"/>
              </a:rPr>
              <a:t>TO</a:t>
            </a:r>
            <a:r>
              <a:rPr lang="es" sz="1050">
                <a:solidFill>
                  <a:srgbClr val="CCCCCC"/>
                </a:solidFill>
                <a:highlight>
                  <a:srgbClr val="1F1F1F"/>
                </a:highlight>
                <a:latin typeface="Courier New"/>
                <a:ea typeface="Courier New"/>
                <a:cs typeface="Courier New"/>
                <a:sym typeface="Courier New"/>
              </a:rPr>
              <a:t> usuario_ana;</a:t>
            </a:r>
            <a:endParaRPr sz="1050">
              <a:solidFill>
                <a:srgbClr val="CCCCCC"/>
              </a:solidFill>
              <a:highlight>
                <a:srgbClr val="1F1F1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1050">
              <a:solidFill>
                <a:srgbClr val="CCCCCC"/>
              </a:solidFill>
              <a:highlight>
                <a:srgbClr val="1F1F1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s" sz="1050">
                <a:solidFill>
                  <a:srgbClr val="6A9955"/>
                </a:solidFill>
                <a:highlight>
                  <a:srgbClr val="1F1F1F"/>
                </a:highlight>
                <a:latin typeface="Courier New"/>
                <a:ea typeface="Courier New"/>
                <a:cs typeface="Courier New"/>
                <a:sym typeface="Courier New"/>
              </a:rPr>
              <a:t>--Conceder permisos para insertar y actualizar datos en la tabla 'clientes'</a:t>
            </a:r>
            <a:endParaRPr sz="1050">
              <a:solidFill>
                <a:srgbClr val="6A9955"/>
              </a:solidFill>
              <a:highlight>
                <a:srgbClr val="1F1F1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s" sz="1050">
                <a:solidFill>
                  <a:srgbClr val="569CD6"/>
                </a:solidFill>
                <a:highlight>
                  <a:srgbClr val="1F1F1F"/>
                </a:highlight>
                <a:latin typeface="Courier New"/>
                <a:ea typeface="Courier New"/>
                <a:cs typeface="Courier New"/>
                <a:sym typeface="Courier New"/>
              </a:rPr>
              <a:t>GRANT</a:t>
            </a:r>
            <a:r>
              <a:rPr lang="es" sz="1050">
                <a:solidFill>
                  <a:srgbClr val="CCCCCC"/>
                </a:solidFill>
                <a:highlight>
                  <a:srgbClr val="1F1F1F"/>
                </a:highlight>
                <a:latin typeface="Courier New"/>
                <a:ea typeface="Courier New"/>
                <a:cs typeface="Courier New"/>
                <a:sym typeface="Courier New"/>
              </a:rPr>
              <a:t> </a:t>
            </a:r>
            <a:r>
              <a:rPr lang="es" sz="1050">
                <a:solidFill>
                  <a:srgbClr val="569CD6"/>
                </a:solidFill>
                <a:highlight>
                  <a:srgbClr val="1F1F1F"/>
                </a:highlight>
                <a:latin typeface="Courier New"/>
                <a:ea typeface="Courier New"/>
                <a:cs typeface="Courier New"/>
                <a:sym typeface="Courier New"/>
              </a:rPr>
              <a:t>INSERT</a:t>
            </a:r>
            <a:r>
              <a:rPr lang="es" sz="1050">
                <a:solidFill>
                  <a:srgbClr val="CCCCCC"/>
                </a:solidFill>
                <a:highlight>
                  <a:srgbClr val="1F1F1F"/>
                </a:highlight>
                <a:latin typeface="Courier New"/>
                <a:ea typeface="Courier New"/>
                <a:cs typeface="Courier New"/>
                <a:sym typeface="Courier New"/>
              </a:rPr>
              <a:t>, </a:t>
            </a:r>
            <a:r>
              <a:rPr lang="es" sz="1050">
                <a:solidFill>
                  <a:srgbClr val="569CD6"/>
                </a:solidFill>
                <a:highlight>
                  <a:srgbClr val="1F1F1F"/>
                </a:highlight>
                <a:latin typeface="Courier New"/>
                <a:ea typeface="Courier New"/>
                <a:cs typeface="Courier New"/>
                <a:sym typeface="Courier New"/>
              </a:rPr>
              <a:t>UPDATE</a:t>
            </a:r>
            <a:r>
              <a:rPr lang="es" sz="1050">
                <a:solidFill>
                  <a:srgbClr val="CCCCCC"/>
                </a:solidFill>
                <a:highlight>
                  <a:srgbClr val="1F1F1F"/>
                </a:highlight>
                <a:latin typeface="Courier New"/>
                <a:ea typeface="Courier New"/>
                <a:cs typeface="Courier New"/>
                <a:sym typeface="Courier New"/>
              </a:rPr>
              <a:t> </a:t>
            </a:r>
            <a:r>
              <a:rPr lang="es" sz="1050">
                <a:solidFill>
                  <a:srgbClr val="569CD6"/>
                </a:solidFill>
                <a:highlight>
                  <a:srgbClr val="1F1F1F"/>
                </a:highlight>
                <a:latin typeface="Courier New"/>
                <a:ea typeface="Courier New"/>
                <a:cs typeface="Courier New"/>
                <a:sym typeface="Courier New"/>
              </a:rPr>
              <a:t>ON</a:t>
            </a:r>
            <a:r>
              <a:rPr lang="es" sz="1050">
                <a:solidFill>
                  <a:srgbClr val="CCCCCC"/>
                </a:solidFill>
                <a:highlight>
                  <a:srgbClr val="1F1F1F"/>
                </a:highlight>
                <a:latin typeface="Courier New"/>
                <a:ea typeface="Courier New"/>
                <a:cs typeface="Courier New"/>
                <a:sym typeface="Courier New"/>
              </a:rPr>
              <a:t> clientes </a:t>
            </a:r>
            <a:endParaRPr sz="1050">
              <a:solidFill>
                <a:srgbClr val="CCCCCC"/>
              </a:solidFill>
              <a:highlight>
                <a:srgbClr val="1F1F1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s" sz="1050">
                <a:solidFill>
                  <a:srgbClr val="569CD6"/>
                </a:solidFill>
                <a:highlight>
                  <a:srgbClr val="1F1F1F"/>
                </a:highlight>
                <a:latin typeface="Courier New"/>
                <a:ea typeface="Courier New"/>
                <a:cs typeface="Courier New"/>
                <a:sym typeface="Courier New"/>
              </a:rPr>
              <a:t>TO</a:t>
            </a:r>
            <a:r>
              <a:rPr lang="es" sz="1050">
                <a:solidFill>
                  <a:srgbClr val="CCCCCC"/>
                </a:solidFill>
                <a:highlight>
                  <a:srgbClr val="1F1F1F"/>
                </a:highlight>
                <a:latin typeface="Courier New"/>
                <a:ea typeface="Courier New"/>
                <a:cs typeface="Courier New"/>
                <a:sym typeface="Courier New"/>
              </a:rPr>
              <a:t> rol_vendedores;</a:t>
            </a:r>
            <a:endParaRPr/>
          </a:p>
        </p:txBody>
      </p:sp>
      <p:sp>
        <p:nvSpPr>
          <p:cNvPr id="423" name="Google Shape;423;p57"/>
          <p:cNvSpPr txBox="1"/>
          <p:nvPr>
            <p:ph idx="2" type="body"/>
          </p:nvPr>
        </p:nvSpPr>
        <p:spPr>
          <a:xfrm>
            <a:off x="4643600" y="1237075"/>
            <a:ext cx="4191900" cy="38028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es"/>
              <a:t>2. REVOKE (Revocar permisos), se usa para quitar los privilegios que previamente se habían concedido a un usuario o rol.</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s" sz="1050">
                <a:solidFill>
                  <a:srgbClr val="6A9955"/>
                </a:solidFill>
                <a:highlight>
                  <a:srgbClr val="1F1F1F"/>
                </a:highlight>
                <a:latin typeface="Courier New"/>
                <a:ea typeface="Courier New"/>
                <a:cs typeface="Courier New"/>
                <a:sym typeface="Courier New"/>
              </a:rPr>
              <a:t>--Quitar el permiso de ver datos de la tabla 'empleados' al usuario 'ana'</a:t>
            </a:r>
            <a:endParaRPr sz="1050">
              <a:solidFill>
                <a:srgbClr val="6A9955"/>
              </a:solidFill>
              <a:highlight>
                <a:srgbClr val="1F1F1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s" sz="1050">
                <a:solidFill>
                  <a:srgbClr val="569CD6"/>
                </a:solidFill>
                <a:highlight>
                  <a:srgbClr val="1F1F1F"/>
                </a:highlight>
                <a:latin typeface="Courier New"/>
                <a:ea typeface="Courier New"/>
                <a:cs typeface="Courier New"/>
                <a:sym typeface="Courier New"/>
              </a:rPr>
              <a:t>REVOKE</a:t>
            </a:r>
            <a:r>
              <a:rPr lang="es" sz="1050">
                <a:solidFill>
                  <a:srgbClr val="CCCCCC"/>
                </a:solidFill>
                <a:highlight>
                  <a:srgbClr val="1F1F1F"/>
                </a:highlight>
                <a:latin typeface="Courier New"/>
                <a:ea typeface="Courier New"/>
                <a:cs typeface="Courier New"/>
                <a:sym typeface="Courier New"/>
              </a:rPr>
              <a:t> </a:t>
            </a:r>
            <a:r>
              <a:rPr lang="es" sz="1050">
                <a:solidFill>
                  <a:srgbClr val="569CD6"/>
                </a:solidFill>
                <a:highlight>
                  <a:srgbClr val="1F1F1F"/>
                </a:highlight>
                <a:latin typeface="Courier New"/>
                <a:ea typeface="Courier New"/>
                <a:cs typeface="Courier New"/>
                <a:sym typeface="Courier New"/>
              </a:rPr>
              <a:t>SELECT</a:t>
            </a:r>
            <a:r>
              <a:rPr lang="es" sz="1050">
                <a:solidFill>
                  <a:srgbClr val="CCCCCC"/>
                </a:solidFill>
                <a:highlight>
                  <a:srgbClr val="1F1F1F"/>
                </a:highlight>
                <a:latin typeface="Courier New"/>
                <a:ea typeface="Courier New"/>
                <a:cs typeface="Courier New"/>
                <a:sym typeface="Courier New"/>
              </a:rPr>
              <a:t> </a:t>
            </a:r>
            <a:r>
              <a:rPr lang="es" sz="1050">
                <a:solidFill>
                  <a:srgbClr val="569CD6"/>
                </a:solidFill>
                <a:highlight>
                  <a:srgbClr val="1F1F1F"/>
                </a:highlight>
                <a:latin typeface="Courier New"/>
                <a:ea typeface="Courier New"/>
                <a:cs typeface="Courier New"/>
                <a:sym typeface="Courier New"/>
              </a:rPr>
              <a:t>ON</a:t>
            </a:r>
            <a:r>
              <a:rPr lang="es" sz="1050">
                <a:solidFill>
                  <a:srgbClr val="CCCCCC"/>
                </a:solidFill>
                <a:highlight>
                  <a:srgbClr val="1F1F1F"/>
                </a:highlight>
                <a:latin typeface="Courier New"/>
                <a:ea typeface="Courier New"/>
                <a:cs typeface="Courier New"/>
                <a:sym typeface="Courier New"/>
              </a:rPr>
              <a:t> empleados </a:t>
            </a:r>
            <a:r>
              <a:rPr lang="es" sz="1050">
                <a:solidFill>
                  <a:srgbClr val="569CD6"/>
                </a:solidFill>
                <a:highlight>
                  <a:srgbClr val="1F1F1F"/>
                </a:highlight>
                <a:latin typeface="Courier New"/>
                <a:ea typeface="Courier New"/>
                <a:cs typeface="Courier New"/>
                <a:sym typeface="Courier New"/>
              </a:rPr>
              <a:t>FROM</a:t>
            </a:r>
            <a:r>
              <a:rPr lang="es" sz="1050">
                <a:solidFill>
                  <a:srgbClr val="CCCCCC"/>
                </a:solidFill>
                <a:highlight>
                  <a:srgbClr val="1F1F1F"/>
                </a:highlight>
                <a:latin typeface="Courier New"/>
                <a:ea typeface="Courier New"/>
                <a:cs typeface="Courier New"/>
                <a:sym typeface="Courier New"/>
              </a:rPr>
              <a:t> usuario_ana;</a:t>
            </a:r>
            <a:endParaRPr sz="1050">
              <a:solidFill>
                <a:srgbClr val="CCCCCC"/>
              </a:solidFill>
              <a:highlight>
                <a:srgbClr val="1F1F1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1050">
              <a:solidFill>
                <a:srgbClr val="CCCCCC"/>
              </a:solidFill>
              <a:highlight>
                <a:srgbClr val="1F1F1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s" sz="1050">
                <a:solidFill>
                  <a:srgbClr val="6A9955"/>
                </a:solidFill>
                <a:highlight>
                  <a:srgbClr val="1F1F1F"/>
                </a:highlight>
                <a:latin typeface="Courier New"/>
                <a:ea typeface="Courier New"/>
                <a:cs typeface="Courier New"/>
                <a:sym typeface="Courier New"/>
              </a:rPr>
              <a:t>--Quitar los permisos de insertar y actualizar de la tabla 'clientes' al rol 'vendedores'</a:t>
            </a:r>
            <a:endParaRPr sz="1050">
              <a:solidFill>
                <a:srgbClr val="6A9955"/>
              </a:solidFill>
              <a:highlight>
                <a:srgbClr val="1F1F1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s" sz="1050">
                <a:solidFill>
                  <a:srgbClr val="569CD6"/>
                </a:solidFill>
                <a:highlight>
                  <a:srgbClr val="1F1F1F"/>
                </a:highlight>
                <a:latin typeface="Courier New"/>
                <a:ea typeface="Courier New"/>
                <a:cs typeface="Courier New"/>
                <a:sym typeface="Courier New"/>
              </a:rPr>
              <a:t>REVOKE</a:t>
            </a:r>
            <a:r>
              <a:rPr lang="es" sz="1050">
                <a:solidFill>
                  <a:srgbClr val="CCCCCC"/>
                </a:solidFill>
                <a:highlight>
                  <a:srgbClr val="1F1F1F"/>
                </a:highlight>
                <a:latin typeface="Courier New"/>
                <a:ea typeface="Courier New"/>
                <a:cs typeface="Courier New"/>
                <a:sym typeface="Courier New"/>
              </a:rPr>
              <a:t> </a:t>
            </a:r>
            <a:r>
              <a:rPr lang="es" sz="1050">
                <a:solidFill>
                  <a:srgbClr val="569CD6"/>
                </a:solidFill>
                <a:highlight>
                  <a:srgbClr val="1F1F1F"/>
                </a:highlight>
                <a:latin typeface="Courier New"/>
                <a:ea typeface="Courier New"/>
                <a:cs typeface="Courier New"/>
                <a:sym typeface="Courier New"/>
              </a:rPr>
              <a:t>INSERT</a:t>
            </a:r>
            <a:r>
              <a:rPr lang="es" sz="1050">
                <a:solidFill>
                  <a:srgbClr val="CCCCCC"/>
                </a:solidFill>
                <a:highlight>
                  <a:srgbClr val="1F1F1F"/>
                </a:highlight>
                <a:latin typeface="Courier New"/>
                <a:ea typeface="Courier New"/>
                <a:cs typeface="Courier New"/>
                <a:sym typeface="Courier New"/>
              </a:rPr>
              <a:t>, </a:t>
            </a:r>
            <a:r>
              <a:rPr lang="es" sz="1050">
                <a:solidFill>
                  <a:srgbClr val="569CD6"/>
                </a:solidFill>
                <a:highlight>
                  <a:srgbClr val="1F1F1F"/>
                </a:highlight>
                <a:latin typeface="Courier New"/>
                <a:ea typeface="Courier New"/>
                <a:cs typeface="Courier New"/>
                <a:sym typeface="Courier New"/>
              </a:rPr>
              <a:t>UPDATE</a:t>
            </a:r>
            <a:r>
              <a:rPr lang="es" sz="1050">
                <a:solidFill>
                  <a:srgbClr val="CCCCCC"/>
                </a:solidFill>
                <a:highlight>
                  <a:srgbClr val="1F1F1F"/>
                </a:highlight>
                <a:latin typeface="Courier New"/>
                <a:ea typeface="Courier New"/>
                <a:cs typeface="Courier New"/>
                <a:sym typeface="Courier New"/>
              </a:rPr>
              <a:t> </a:t>
            </a:r>
            <a:r>
              <a:rPr lang="es" sz="1050">
                <a:solidFill>
                  <a:srgbClr val="569CD6"/>
                </a:solidFill>
                <a:highlight>
                  <a:srgbClr val="1F1F1F"/>
                </a:highlight>
                <a:latin typeface="Courier New"/>
                <a:ea typeface="Courier New"/>
                <a:cs typeface="Courier New"/>
                <a:sym typeface="Courier New"/>
              </a:rPr>
              <a:t>ON</a:t>
            </a:r>
            <a:r>
              <a:rPr lang="es" sz="1050">
                <a:solidFill>
                  <a:srgbClr val="CCCCCC"/>
                </a:solidFill>
                <a:highlight>
                  <a:srgbClr val="1F1F1F"/>
                </a:highlight>
                <a:latin typeface="Courier New"/>
                <a:ea typeface="Courier New"/>
                <a:cs typeface="Courier New"/>
                <a:sym typeface="Courier New"/>
              </a:rPr>
              <a:t> clientes </a:t>
            </a:r>
            <a:r>
              <a:rPr lang="es" sz="1050">
                <a:solidFill>
                  <a:srgbClr val="569CD6"/>
                </a:solidFill>
                <a:highlight>
                  <a:srgbClr val="1F1F1F"/>
                </a:highlight>
                <a:latin typeface="Courier New"/>
                <a:ea typeface="Courier New"/>
                <a:cs typeface="Courier New"/>
                <a:sym typeface="Courier New"/>
              </a:rPr>
              <a:t>FROM</a:t>
            </a:r>
            <a:r>
              <a:rPr lang="es" sz="1050">
                <a:solidFill>
                  <a:srgbClr val="CCCCCC"/>
                </a:solidFill>
                <a:highlight>
                  <a:srgbClr val="1F1F1F"/>
                </a:highlight>
                <a:latin typeface="Courier New"/>
                <a:ea typeface="Courier New"/>
                <a:cs typeface="Courier New"/>
                <a:sym typeface="Courier New"/>
              </a:rPr>
              <a:t> rol_vendedores;</a:t>
            </a:r>
            <a:endParaRPr sz="1050">
              <a:solidFill>
                <a:srgbClr val="CCCCCC"/>
              </a:solidFill>
              <a:highlight>
                <a:srgbClr val="1F1F1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1050">
              <a:solidFill>
                <a:srgbClr val="CCCCCC"/>
              </a:solidFill>
              <a:highlight>
                <a:srgbClr val="1F1F1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s" sz="1050">
                <a:solidFill>
                  <a:srgbClr val="6A9955"/>
                </a:solidFill>
                <a:highlight>
                  <a:srgbClr val="1F1F1F"/>
                </a:highlight>
                <a:latin typeface="Courier New"/>
                <a:ea typeface="Courier New"/>
                <a:cs typeface="Courier New"/>
                <a:sym typeface="Courier New"/>
              </a:rPr>
              <a:t>--Revocar todos los permisos de un usuario sobre una tabla</a:t>
            </a:r>
            <a:endParaRPr sz="1050">
              <a:solidFill>
                <a:srgbClr val="6A9955"/>
              </a:solidFill>
              <a:highlight>
                <a:srgbClr val="1F1F1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s" sz="1050">
                <a:solidFill>
                  <a:srgbClr val="569CD6"/>
                </a:solidFill>
                <a:highlight>
                  <a:srgbClr val="1F1F1F"/>
                </a:highlight>
                <a:latin typeface="Courier New"/>
                <a:ea typeface="Courier New"/>
                <a:cs typeface="Courier New"/>
                <a:sym typeface="Courier New"/>
              </a:rPr>
              <a:t>REVOKE</a:t>
            </a:r>
            <a:r>
              <a:rPr lang="es" sz="1050">
                <a:solidFill>
                  <a:srgbClr val="CCCCCC"/>
                </a:solidFill>
                <a:highlight>
                  <a:srgbClr val="1F1F1F"/>
                </a:highlight>
                <a:latin typeface="Courier New"/>
                <a:ea typeface="Courier New"/>
                <a:cs typeface="Courier New"/>
                <a:sym typeface="Courier New"/>
              </a:rPr>
              <a:t> ALL </a:t>
            </a:r>
            <a:r>
              <a:rPr lang="es" sz="1050">
                <a:solidFill>
                  <a:srgbClr val="569CD6"/>
                </a:solidFill>
                <a:highlight>
                  <a:srgbClr val="1F1F1F"/>
                </a:highlight>
                <a:latin typeface="Courier New"/>
                <a:ea typeface="Courier New"/>
                <a:cs typeface="Courier New"/>
                <a:sym typeface="Courier New"/>
              </a:rPr>
              <a:t>ON</a:t>
            </a:r>
            <a:r>
              <a:rPr lang="es" sz="1050">
                <a:solidFill>
                  <a:srgbClr val="CCCCCC"/>
                </a:solidFill>
                <a:highlight>
                  <a:srgbClr val="1F1F1F"/>
                </a:highlight>
                <a:latin typeface="Courier New"/>
                <a:ea typeface="Courier New"/>
                <a:cs typeface="Courier New"/>
                <a:sym typeface="Courier New"/>
              </a:rPr>
              <a:t> proyectos </a:t>
            </a:r>
            <a:r>
              <a:rPr lang="es" sz="1050">
                <a:solidFill>
                  <a:srgbClr val="569CD6"/>
                </a:solidFill>
                <a:highlight>
                  <a:srgbClr val="1F1F1F"/>
                </a:highlight>
                <a:latin typeface="Courier New"/>
                <a:ea typeface="Courier New"/>
                <a:cs typeface="Courier New"/>
                <a:sym typeface="Courier New"/>
              </a:rPr>
              <a:t>FROM</a:t>
            </a:r>
            <a:r>
              <a:rPr lang="es" sz="1050">
                <a:solidFill>
                  <a:srgbClr val="CCCCCC"/>
                </a:solidFill>
                <a:highlight>
                  <a:srgbClr val="1F1F1F"/>
                </a:highlight>
                <a:latin typeface="Courier New"/>
                <a:ea typeface="Courier New"/>
                <a:cs typeface="Courier New"/>
                <a:sym typeface="Courier New"/>
              </a:rPr>
              <a:t> jefe_proyecto;</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58"/>
          <p:cNvSpPr txBox="1"/>
          <p:nvPr>
            <p:ph type="title"/>
          </p:nvPr>
        </p:nvSpPr>
        <p:spPr>
          <a:xfrm>
            <a:off x="830400" y="6560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¿Por qué organizar un lenguaje en sublenguajes?</a:t>
            </a:r>
            <a:endParaRPr/>
          </a:p>
        </p:txBody>
      </p:sp>
      <p:sp>
        <p:nvSpPr>
          <p:cNvPr id="429" name="Google Shape;429;p58"/>
          <p:cNvSpPr txBox="1"/>
          <p:nvPr>
            <p:ph idx="1" type="body"/>
          </p:nvPr>
        </p:nvSpPr>
        <p:spPr>
          <a:xfrm>
            <a:off x="359200" y="1237075"/>
            <a:ext cx="4144500" cy="37584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0"/>
              </a:spcAft>
              <a:buNone/>
            </a:pPr>
            <a:r>
              <a:rPr lang="es" sz="1400"/>
              <a:t>DCL, DML y DDL </a:t>
            </a:r>
            <a:r>
              <a:rPr b="1" lang="es" sz="1400"/>
              <a:t>se consideran sublenguajes </a:t>
            </a:r>
            <a:r>
              <a:rPr lang="es" sz="1400"/>
              <a:t>de SQL porque cada uno es un conjunto de sentencias con un propósito bien definido y distinto, pero todos operan </a:t>
            </a:r>
            <a:r>
              <a:rPr b="1" lang="es" sz="1400"/>
              <a:t>bajo la misma sintaxis y reglas </a:t>
            </a:r>
            <a:r>
              <a:rPr lang="es" sz="1400"/>
              <a:t>del lenguaje SQL. </a:t>
            </a:r>
            <a:endParaRPr sz="1400"/>
          </a:p>
          <a:p>
            <a:pPr indent="0" lvl="0" marL="0" rtl="0" algn="l">
              <a:lnSpc>
                <a:spcPct val="150000"/>
              </a:lnSpc>
              <a:spcBef>
                <a:spcPts val="1200"/>
              </a:spcBef>
              <a:spcAft>
                <a:spcPts val="1200"/>
              </a:spcAft>
              <a:buNone/>
            </a:pPr>
            <a:r>
              <a:rPr lang="es" sz="1400"/>
              <a:t>En lugar de ser lenguajes separados, son categorías funcionales que agrupan comandos de SQL de acuerdo a la tarea que realizan.</a:t>
            </a:r>
            <a:endParaRPr sz="1400"/>
          </a:p>
        </p:txBody>
      </p:sp>
      <p:sp>
        <p:nvSpPr>
          <p:cNvPr id="430" name="Google Shape;430;p58"/>
          <p:cNvSpPr txBox="1"/>
          <p:nvPr>
            <p:ph idx="2" type="body"/>
          </p:nvPr>
        </p:nvSpPr>
        <p:spPr>
          <a:xfrm>
            <a:off x="4643600" y="1237075"/>
            <a:ext cx="4302900" cy="3680700"/>
          </a:xfrm>
          <a:prstGeom prst="rect">
            <a:avLst/>
          </a:prstGeom>
        </p:spPr>
        <p:txBody>
          <a:bodyPr anchorCtr="0" anchor="t" bIns="91425" lIns="91425" spcFirstLastPara="1" rIns="91425" wrap="square" tIns="91425">
            <a:normAutofit/>
          </a:bodyPr>
          <a:lstStyle/>
          <a:p>
            <a:pPr indent="0" lvl="0" marL="0" marR="0" rtl="0" algn="l">
              <a:lnSpc>
                <a:spcPct val="150000"/>
              </a:lnSpc>
              <a:spcBef>
                <a:spcPts val="0"/>
              </a:spcBef>
              <a:spcAft>
                <a:spcPts val="0"/>
              </a:spcAft>
              <a:buNone/>
            </a:pPr>
            <a:r>
              <a:rPr lang="es" sz="1400"/>
              <a:t>Facilita</a:t>
            </a:r>
            <a:r>
              <a:rPr lang="es"/>
              <a:t> el control de acceso sobre quién puede hacer qué.</a:t>
            </a:r>
            <a:endParaRPr/>
          </a:p>
          <a:p>
            <a:pPr indent="0" lvl="0" marL="0" rtl="0" algn="l">
              <a:lnSpc>
                <a:spcPct val="150000"/>
              </a:lnSpc>
              <a:spcBef>
                <a:spcPts val="1200"/>
              </a:spcBef>
              <a:spcAft>
                <a:spcPts val="1200"/>
              </a:spcAft>
              <a:buNone/>
            </a:pPr>
            <a:r>
              <a:rPr lang="es" sz="1400"/>
              <a:t>Si las DDL son las instrucciones que usa el arquitecto para diseñar y construir el edificio (la estructura de la base de datos), y las DML son las que el inquilino usa para manipular los objetos dentro de las habitaciones (los datos dentro de las tablas), entonces las DCL son como el jefe de seguridad del edificio</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59"/>
          <p:cNvSpPr txBox="1"/>
          <p:nvPr>
            <p:ph type="title"/>
          </p:nvPr>
        </p:nvSpPr>
        <p:spPr>
          <a:xfrm>
            <a:off x="852600" y="311675"/>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En SQL, los paradigmas declarativo e imperativo se complementan de la siguiente manera:</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436" name="Google Shape;436;p59"/>
          <p:cNvSpPr txBox="1"/>
          <p:nvPr>
            <p:ph idx="1" type="body"/>
          </p:nvPr>
        </p:nvSpPr>
        <p:spPr>
          <a:xfrm>
            <a:off x="729325" y="1237075"/>
            <a:ext cx="3774300" cy="39063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0"/>
              </a:spcAft>
              <a:buNone/>
            </a:pPr>
            <a:r>
              <a:t/>
            </a:r>
            <a:endParaRPr b="1">
              <a:solidFill>
                <a:srgbClr val="000000"/>
              </a:solidFill>
            </a:endParaRPr>
          </a:p>
          <a:p>
            <a:pPr indent="0" lvl="0" marL="0" rtl="0" algn="l">
              <a:lnSpc>
                <a:spcPct val="150000"/>
              </a:lnSpc>
              <a:spcBef>
                <a:spcPts val="1200"/>
              </a:spcBef>
              <a:spcAft>
                <a:spcPts val="0"/>
              </a:spcAft>
              <a:buNone/>
            </a:pPr>
            <a:r>
              <a:rPr b="1" lang="es">
                <a:solidFill>
                  <a:srgbClr val="000000"/>
                </a:solidFill>
              </a:rPr>
              <a:t>SQL (Paradigma Declarativo):</a:t>
            </a:r>
            <a:r>
              <a:rPr lang="es">
                <a:solidFill>
                  <a:srgbClr val="000000"/>
                </a:solidFill>
              </a:rPr>
              <a:t> </a:t>
            </a:r>
            <a:endParaRPr>
              <a:solidFill>
                <a:srgbClr val="000000"/>
              </a:solidFill>
            </a:endParaRPr>
          </a:p>
          <a:p>
            <a:pPr indent="0" lvl="0" marL="0" rtl="0" algn="l">
              <a:lnSpc>
                <a:spcPct val="150000"/>
              </a:lnSpc>
              <a:spcBef>
                <a:spcPts val="1200"/>
              </a:spcBef>
              <a:spcAft>
                <a:spcPts val="0"/>
              </a:spcAft>
              <a:buNone/>
            </a:pPr>
            <a:r>
              <a:rPr lang="es">
                <a:solidFill>
                  <a:srgbClr val="000000"/>
                </a:solidFill>
              </a:rPr>
              <a:t>Se utiliza para </a:t>
            </a:r>
            <a:r>
              <a:rPr b="1" lang="es">
                <a:solidFill>
                  <a:srgbClr val="000000"/>
                </a:solidFill>
              </a:rPr>
              <a:t>definir qué</a:t>
            </a:r>
            <a:r>
              <a:rPr lang="es">
                <a:solidFill>
                  <a:srgbClr val="000000"/>
                </a:solidFill>
              </a:rPr>
              <a:t> se quiere hacer con los datos. Por ejemplo, </a:t>
            </a:r>
            <a:r>
              <a:rPr lang="es">
                <a:solidFill>
                  <a:srgbClr val="188038"/>
                </a:solidFill>
              </a:rPr>
              <a:t>SELECT * FROM empleados WHERE salario &gt; 50000;</a:t>
            </a:r>
            <a:r>
              <a:rPr lang="es">
                <a:solidFill>
                  <a:srgbClr val="000000"/>
                </a:solidFill>
              </a:rPr>
              <a:t> </a:t>
            </a:r>
            <a:endParaRPr>
              <a:solidFill>
                <a:srgbClr val="000000"/>
              </a:solidFill>
            </a:endParaRPr>
          </a:p>
          <a:p>
            <a:pPr indent="0" lvl="0" marL="0" rtl="0" algn="l">
              <a:lnSpc>
                <a:spcPct val="150000"/>
              </a:lnSpc>
              <a:spcBef>
                <a:spcPts val="1200"/>
              </a:spcBef>
              <a:spcAft>
                <a:spcPts val="1200"/>
              </a:spcAft>
              <a:buNone/>
            </a:pPr>
            <a:r>
              <a:rPr lang="es">
                <a:solidFill>
                  <a:srgbClr val="000000"/>
                </a:solidFill>
              </a:rPr>
              <a:t>declara la intención de obtener una lista de empleados con un salario superior a 50.000, sin especificar cómo la base de datos debe realizar esa búsqueda (por ejemplo, cómo recorrer la tabla o usar un índice).</a:t>
            </a:r>
            <a:endParaRPr sz="1500"/>
          </a:p>
        </p:txBody>
      </p:sp>
      <p:sp>
        <p:nvSpPr>
          <p:cNvPr id="437" name="Google Shape;437;p59"/>
          <p:cNvSpPr txBox="1"/>
          <p:nvPr>
            <p:ph idx="2" type="body"/>
          </p:nvPr>
        </p:nvSpPr>
        <p:spPr>
          <a:xfrm>
            <a:off x="4643600" y="1237075"/>
            <a:ext cx="3774300" cy="39063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0"/>
              </a:spcAft>
              <a:buNone/>
            </a:pPr>
            <a:r>
              <a:t/>
            </a:r>
            <a:endParaRPr b="1">
              <a:solidFill>
                <a:srgbClr val="000000"/>
              </a:solidFill>
            </a:endParaRPr>
          </a:p>
          <a:p>
            <a:pPr indent="0" lvl="0" marL="0" rtl="0" algn="l">
              <a:lnSpc>
                <a:spcPct val="150000"/>
              </a:lnSpc>
              <a:spcBef>
                <a:spcPts val="1200"/>
              </a:spcBef>
              <a:spcAft>
                <a:spcPts val="0"/>
              </a:spcAft>
              <a:buNone/>
            </a:pPr>
            <a:r>
              <a:rPr b="1" lang="es">
                <a:solidFill>
                  <a:srgbClr val="000000"/>
                </a:solidFill>
              </a:rPr>
              <a:t>Oracle Procedural Languaje PL/SQL (Paradigma Imperativo):</a:t>
            </a:r>
            <a:r>
              <a:rPr lang="es">
                <a:solidFill>
                  <a:srgbClr val="000000"/>
                </a:solidFill>
              </a:rPr>
              <a:t> </a:t>
            </a:r>
            <a:endParaRPr>
              <a:solidFill>
                <a:srgbClr val="000000"/>
              </a:solidFill>
            </a:endParaRPr>
          </a:p>
          <a:p>
            <a:pPr indent="0" lvl="0" marL="0" rtl="0" algn="l">
              <a:lnSpc>
                <a:spcPct val="150000"/>
              </a:lnSpc>
              <a:spcBef>
                <a:spcPts val="1200"/>
              </a:spcBef>
              <a:spcAft>
                <a:spcPts val="0"/>
              </a:spcAft>
              <a:buNone/>
            </a:pPr>
            <a:r>
              <a:rPr lang="es">
                <a:solidFill>
                  <a:srgbClr val="000000"/>
                </a:solidFill>
              </a:rPr>
              <a:t>Se utiliza para </a:t>
            </a:r>
            <a:r>
              <a:rPr b="1" lang="es">
                <a:solidFill>
                  <a:srgbClr val="000000"/>
                </a:solidFill>
              </a:rPr>
              <a:t>definir cómo</a:t>
            </a:r>
            <a:r>
              <a:rPr lang="es">
                <a:solidFill>
                  <a:srgbClr val="000000"/>
                </a:solidFill>
              </a:rPr>
              <a:t> se manipulan los datos y se controla el flujo del programa. </a:t>
            </a:r>
            <a:endParaRPr>
              <a:solidFill>
                <a:srgbClr val="000000"/>
              </a:solidFill>
            </a:endParaRPr>
          </a:p>
          <a:p>
            <a:pPr indent="0" lvl="0" marL="0" rtl="0" algn="l">
              <a:lnSpc>
                <a:spcPct val="150000"/>
              </a:lnSpc>
              <a:spcBef>
                <a:spcPts val="1200"/>
              </a:spcBef>
              <a:spcAft>
                <a:spcPts val="1200"/>
              </a:spcAft>
              <a:buNone/>
            </a:pPr>
            <a:r>
              <a:rPr lang="es">
                <a:solidFill>
                  <a:srgbClr val="000000"/>
                </a:solidFill>
              </a:rPr>
              <a:t>PL/SQL introduce estructuras imperativas como variables, condicionales (</a:t>
            </a:r>
            <a:r>
              <a:rPr lang="es">
                <a:solidFill>
                  <a:srgbClr val="188038"/>
                </a:solidFill>
              </a:rPr>
              <a:t>IF-THEN-ELSE</a:t>
            </a:r>
            <a:r>
              <a:rPr lang="es">
                <a:solidFill>
                  <a:srgbClr val="000000"/>
                </a:solidFill>
              </a:rPr>
              <a:t>) y bucles (</a:t>
            </a:r>
            <a:r>
              <a:rPr lang="es">
                <a:solidFill>
                  <a:srgbClr val="188038"/>
                </a:solidFill>
              </a:rPr>
              <a:t>LOOP</a:t>
            </a:r>
            <a:r>
              <a:rPr lang="es">
                <a:solidFill>
                  <a:srgbClr val="000000"/>
                </a:solidFill>
              </a:rPr>
              <a:t>, </a:t>
            </a:r>
            <a:r>
              <a:rPr lang="es">
                <a:solidFill>
                  <a:srgbClr val="188038"/>
                </a:solidFill>
              </a:rPr>
              <a:t>FOR</a:t>
            </a:r>
            <a:r>
              <a:rPr lang="es">
                <a:solidFill>
                  <a:srgbClr val="000000"/>
                </a:solidFill>
              </a:rPr>
              <a:t>), que no existen en el SQL puro.</a:t>
            </a:r>
            <a:endParaRPr sz="1500"/>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60"/>
          <p:cNvSpPr txBox="1"/>
          <p:nvPr>
            <p:ph type="title"/>
          </p:nvPr>
        </p:nvSpPr>
        <p:spPr>
          <a:xfrm>
            <a:off x="830400" y="6560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Ejemplo: Bucle de Detección de Fugas de Petróleo</a:t>
            </a:r>
            <a:endParaRPr/>
          </a:p>
        </p:txBody>
      </p:sp>
      <p:sp>
        <p:nvSpPr>
          <p:cNvPr id="443" name="Google Shape;443;p60"/>
          <p:cNvSpPr txBox="1"/>
          <p:nvPr>
            <p:ph idx="1" type="body"/>
          </p:nvPr>
        </p:nvSpPr>
        <p:spPr>
          <a:xfrm>
            <a:off x="729325" y="1237075"/>
            <a:ext cx="3774300" cy="3802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Imagina una tabla llamada sensores_oleoducto que registra la presión de los sensores a lo largo de un oleoducto. </a:t>
            </a:r>
            <a:endParaRPr/>
          </a:p>
          <a:p>
            <a:pPr indent="0" lvl="0" marL="0" rtl="0" algn="l">
              <a:spcBef>
                <a:spcPts val="1200"/>
              </a:spcBef>
              <a:spcAft>
                <a:spcPts val="0"/>
              </a:spcAft>
              <a:buNone/>
            </a:pPr>
            <a:r>
              <a:rPr lang="es"/>
              <a:t>El objetivo es detectar una fuga si la presión de un sensor cae más del 10% con respecto al valor de su sensor adyacente (el anterior en la secuencia), e insertar una alerta en otra tabla.</a:t>
            </a:r>
            <a:endParaRPr/>
          </a:p>
          <a:p>
            <a:pPr indent="0" lvl="0" marL="0" rtl="0" algn="l">
              <a:lnSpc>
                <a:spcPct val="100000"/>
              </a:lnSpc>
              <a:spcBef>
                <a:spcPts val="1200"/>
              </a:spcBef>
              <a:spcAft>
                <a:spcPts val="0"/>
              </a:spcAft>
              <a:buNone/>
            </a:pPr>
            <a:r>
              <a:rPr lang="es" sz="1050">
                <a:solidFill>
                  <a:srgbClr val="6A9955"/>
                </a:solidFill>
                <a:highlight>
                  <a:srgbClr val="1F1F1F"/>
                </a:highlight>
                <a:latin typeface="Courier New"/>
                <a:ea typeface="Courier New"/>
                <a:cs typeface="Courier New"/>
                <a:sym typeface="Courier New"/>
              </a:rPr>
              <a:t>-- Estructura de las tablas</a:t>
            </a:r>
            <a:endParaRPr sz="1050">
              <a:solidFill>
                <a:srgbClr val="6A9955"/>
              </a:solidFill>
              <a:highlight>
                <a:srgbClr val="1F1F1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s" sz="1050">
                <a:solidFill>
                  <a:srgbClr val="CCCCCC"/>
                </a:solidFill>
                <a:highlight>
                  <a:srgbClr val="1F1F1F"/>
                </a:highlight>
                <a:latin typeface="Courier New"/>
                <a:ea typeface="Courier New"/>
                <a:cs typeface="Courier New"/>
                <a:sym typeface="Courier New"/>
              </a:rPr>
              <a:t> </a:t>
            </a:r>
            <a:r>
              <a:rPr lang="es" sz="1050">
                <a:solidFill>
                  <a:srgbClr val="569CD6"/>
                </a:solidFill>
                <a:highlight>
                  <a:srgbClr val="1F1F1F"/>
                </a:highlight>
                <a:latin typeface="Courier New"/>
                <a:ea typeface="Courier New"/>
                <a:cs typeface="Courier New"/>
                <a:sym typeface="Courier New"/>
              </a:rPr>
              <a:t>DROP</a:t>
            </a:r>
            <a:r>
              <a:rPr lang="es" sz="1050">
                <a:solidFill>
                  <a:srgbClr val="CCCCCC"/>
                </a:solidFill>
                <a:highlight>
                  <a:srgbClr val="1F1F1F"/>
                </a:highlight>
                <a:latin typeface="Courier New"/>
                <a:ea typeface="Courier New"/>
                <a:cs typeface="Courier New"/>
                <a:sym typeface="Courier New"/>
              </a:rPr>
              <a:t> </a:t>
            </a:r>
            <a:r>
              <a:rPr lang="es" sz="1050">
                <a:solidFill>
                  <a:srgbClr val="569CD6"/>
                </a:solidFill>
                <a:highlight>
                  <a:srgbClr val="1F1F1F"/>
                </a:highlight>
                <a:latin typeface="Courier New"/>
                <a:ea typeface="Courier New"/>
                <a:cs typeface="Courier New"/>
                <a:sym typeface="Courier New"/>
              </a:rPr>
              <a:t>TABLE</a:t>
            </a:r>
            <a:r>
              <a:rPr lang="es" sz="1050">
                <a:solidFill>
                  <a:srgbClr val="CCCCCC"/>
                </a:solidFill>
                <a:highlight>
                  <a:srgbClr val="1F1F1F"/>
                </a:highlight>
                <a:latin typeface="Courier New"/>
                <a:ea typeface="Courier New"/>
                <a:cs typeface="Courier New"/>
                <a:sym typeface="Courier New"/>
              </a:rPr>
              <a:t> sensores_oleoducto;</a:t>
            </a:r>
            <a:endParaRPr sz="1050">
              <a:solidFill>
                <a:srgbClr val="CCCCCC"/>
              </a:solidFill>
              <a:highlight>
                <a:srgbClr val="1F1F1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s" sz="1050">
                <a:solidFill>
                  <a:srgbClr val="CCCCCC"/>
                </a:solidFill>
                <a:highlight>
                  <a:srgbClr val="1F1F1F"/>
                </a:highlight>
                <a:latin typeface="Courier New"/>
                <a:ea typeface="Courier New"/>
                <a:cs typeface="Courier New"/>
                <a:sym typeface="Courier New"/>
              </a:rPr>
              <a:t> </a:t>
            </a:r>
            <a:r>
              <a:rPr lang="es" sz="1050">
                <a:solidFill>
                  <a:srgbClr val="569CD6"/>
                </a:solidFill>
                <a:highlight>
                  <a:srgbClr val="1F1F1F"/>
                </a:highlight>
                <a:latin typeface="Courier New"/>
                <a:ea typeface="Courier New"/>
                <a:cs typeface="Courier New"/>
                <a:sym typeface="Courier New"/>
              </a:rPr>
              <a:t>CREATE</a:t>
            </a:r>
            <a:r>
              <a:rPr lang="es" sz="1050">
                <a:solidFill>
                  <a:srgbClr val="CCCCCC"/>
                </a:solidFill>
                <a:highlight>
                  <a:srgbClr val="1F1F1F"/>
                </a:highlight>
                <a:latin typeface="Courier New"/>
                <a:ea typeface="Courier New"/>
                <a:cs typeface="Courier New"/>
                <a:sym typeface="Courier New"/>
              </a:rPr>
              <a:t> </a:t>
            </a:r>
            <a:r>
              <a:rPr lang="es" sz="1050">
                <a:solidFill>
                  <a:srgbClr val="569CD6"/>
                </a:solidFill>
                <a:highlight>
                  <a:srgbClr val="1F1F1F"/>
                </a:highlight>
                <a:latin typeface="Courier New"/>
                <a:ea typeface="Courier New"/>
                <a:cs typeface="Courier New"/>
                <a:sym typeface="Courier New"/>
              </a:rPr>
              <a:t>TABLE</a:t>
            </a:r>
            <a:r>
              <a:rPr lang="es" sz="1050">
                <a:solidFill>
                  <a:srgbClr val="CCCCCC"/>
                </a:solidFill>
                <a:highlight>
                  <a:srgbClr val="1F1F1F"/>
                </a:highlight>
                <a:latin typeface="Courier New"/>
                <a:ea typeface="Courier New"/>
                <a:cs typeface="Courier New"/>
                <a:sym typeface="Courier New"/>
              </a:rPr>
              <a:t> </a:t>
            </a:r>
            <a:r>
              <a:rPr lang="es" sz="1050">
                <a:solidFill>
                  <a:srgbClr val="DCDCAA"/>
                </a:solidFill>
                <a:highlight>
                  <a:srgbClr val="1F1F1F"/>
                </a:highlight>
                <a:latin typeface="Courier New"/>
                <a:ea typeface="Courier New"/>
                <a:cs typeface="Courier New"/>
                <a:sym typeface="Courier New"/>
              </a:rPr>
              <a:t>sensores_oleoducto</a:t>
            </a:r>
            <a:r>
              <a:rPr lang="es" sz="1050">
                <a:solidFill>
                  <a:srgbClr val="CCCCCC"/>
                </a:solidFill>
                <a:highlight>
                  <a:srgbClr val="1F1F1F"/>
                </a:highlight>
                <a:latin typeface="Courier New"/>
                <a:ea typeface="Courier New"/>
                <a:cs typeface="Courier New"/>
                <a:sym typeface="Courier New"/>
              </a:rPr>
              <a:t> (</a:t>
            </a:r>
            <a:endParaRPr sz="1050">
              <a:solidFill>
                <a:srgbClr val="CCCCCC"/>
              </a:solidFill>
              <a:highlight>
                <a:srgbClr val="1F1F1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s" sz="1050">
                <a:solidFill>
                  <a:srgbClr val="CCCCCC"/>
                </a:solidFill>
                <a:highlight>
                  <a:srgbClr val="1F1F1F"/>
                </a:highlight>
                <a:latin typeface="Courier New"/>
                <a:ea typeface="Courier New"/>
                <a:cs typeface="Courier New"/>
                <a:sym typeface="Courier New"/>
              </a:rPr>
              <a:t>     id          </a:t>
            </a:r>
            <a:r>
              <a:rPr lang="es" sz="1050">
                <a:solidFill>
                  <a:srgbClr val="569CD6"/>
                </a:solidFill>
                <a:highlight>
                  <a:srgbClr val="1F1F1F"/>
                </a:highlight>
                <a:latin typeface="Courier New"/>
                <a:ea typeface="Courier New"/>
                <a:cs typeface="Courier New"/>
                <a:sym typeface="Courier New"/>
              </a:rPr>
              <a:t>NUMBER</a:t>
            </a:r>
            <a:r>
              <a:rPr lang="es" sz="1050">
                <a:solidFill>
                  <a:srgbClr val="CCCCCC"/>
                </a:solidFill>
                <a:highlight>
                  <a:srgbClr val="1F1F1F"/>
                </a:highlight>
                <a:latin typeface="Courier New"/>
                <a:ea typeface="Courier New"/>
                <a:cs typeface="Courier New"/>
                <a:sym typeface="Courier New"/>
              </a:rPr>
              <a:t>,</a:t>
            </a:r>
            <a:endParaRPr sz="1050">
              <a:solidFill>
                <a:srgbClr val="CCCCCC"/>
              </a:solidFill>
              <a:highlight>
                <a:srgbClr val="1F1F1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s" sz="1050">
                <a:solidFill>
                  <a:srgbClr val="CCCCCC"/>
                </a:solidFill>
                <a:highlight>
                  <a:srgbClr val="1F1F1F"/>
                </a:highlight>
                <a:latin typeface="Courier New"/>
                <a:ea typeface="Courier New"/>
                <a:cs typeface="Courier New"/>
                <a:sym typeface="Courier New"/>
              </a:rPr>
              <a:t>     presion     </a:t>
            </a:r>
            <a:r>
              <a:rPr lang="es" sz="1050">
                <a:solidFill>
                  <a:srgbClr val="569CD6"/>
                </a:solidFill>
                <a:highlight>
                  <a:srgbClr val="1F1F1F"/>
                </a:highlight>
                <a:latin typeface="Courier New"/>
                <a:ea typeface="Courier New"/>
                <a:cs typeface="Courier New"/>
                <a:sym typeface="Courier New"/>
              </a:rPr>
              <a:t>NUMBER</a:t>
            </a:r>
            <a:r>
              <a:rPr lang="es" sz="1050">
                <a:solidFill>
                  <a:srgbClr val="CCCCCC"/>
                </a:solidFill>
                <a:highlight>
                  <a:srgbClr val="1F1F1F"/>
                </a:highlight>
                <a:latin typeface="Courier New"/>
                <a:ea typeface="Courier New"/>
                <a:cs typeface="Courier New"/>
                <a:sym typeface="Courier New"/>
              </a:rPr>
              <a:t>,</a:t>
            </a:r>
            <a:endParaRPr sz="1050">
              <a:solidFill>
                <a:srgbClr val="CCCCCC"/>
              </a:solidFill>
              <a:highlight>
                <a:srgbClr val="1F1F1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s" sz="1050">
                <a:solidFill>
                  <a:srgbClr val="CCCCCC"/>
                </a:solidFill>
                <a:highlight>
                  <a:srgbClr val="1F1F1F"/>
                </a:highlight>
                <a:latin typeface="Courier New"/>
                <a:ea typeface="Courier New"/>
                <a:cs typeface="Courier New"/>
                <a:sym typeface="Courier New"/>
              </a:rPr>
              <a:t>     tiempo_medicion </a:t>
            </a:r>
            <a:r>
              <a:rPr lang="es" sz="1050">
                <a:solidFill>
                  <a:srgbClr val="569CD6"/>
                </a:solidFill>
                <a:highlight>
                  <a:srgbClr val="1F1F1F"/>
                </a:highlight>
                <a:latin typeface="Courier New"/>
                <a:ea typeface="Courier New"/>
                <a:cs typeface="Courier New"/>
                <a:sym typeface="Courier New"/>
              </a:rPr>
              <a:t>TIMESTAMP</a:t>
            </a:r>
            <a:endParaRPr sz="1050">
              <a:solidFill>
                <a:srgbClr val="569CD6"/>
              </a:solidFill>
              <a:highlight>
                <a:srgbClr val="1F1F1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s" sz="1050">
                <a:solidFill>
                  <a:srgbClr val="CCCCCC"/>
                </a:solidFill>
                <a:highlight>
                  <a:srgbClr val="1F1F1F"/>
                </a:highlight>
                <a:latin typeface="Courier New"/>
                <a:ea typeface="Courier New"/>
                <a:cs typeface="Courier New"/>
                <a:sym typeface="Courier New"/>
              </a:rPr>
              <a:t> );</a:t>
            </a:r>
            <a:endParaRPr/>
          </a:p>
        </p:txBody>
      </p:sp>
      <p:sp>
        <p:nvSpPr>
          <p:cNvPr id="444" name="Google Shape;444;p60"/>
          <p:cNvSpPr txBox="1"/>
          <p:nvPr>
            <p:ph idx="2" type="body"/>
          </p:nvPr>
        </p:nvSpPr>
        <p:spPr>
          <a:xfrm>
            <a:off x="4643600" y="1237075"/>
            <a:ext cx="3774300" cy="3802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Esta tarea no se puede hacer con una sola sentencia SQL, porque SQL no tiene la capacidad de iterar y comparar un registro con el registro anterior, y luego tomar una decisión basada en esa comparación.</a:t>
            </a:r>
            <a:endParaRPr/>
          </a:p>
          <a:p>
            <a:pPr indent="0" lvl="0" marL="0" rtl="0" algn="l">
              <a:lnSpc>
                <a:spcPct val="100000"/>
              </a:lnSpc>
              <a:spcBef>
                <a:spcPts val="1200"/>
              </a:spcBef>
              <a:spcAft>
                <a:spcPts val="0"/>
              </a:spcAft>
              <a:buNone/>
            </a:pPr>
            <a:r>
              <a:rPr lang="es" sz="1050">
                <a:solidFill>
                  <a:srgbClr val="569CD6"/>
                </a:solidFill>
                <a:highlight>
                  <a:srgbClr val="1F1F1F"/>
                </a:highlight>
                <a:latin typeface="Courier New"/>
                <a:ea typeface="Courier New"/>
                <a:cs typeface="Courier New"/>
                <a:sym typeface="Courier New"/>
              </a:rPr>
              <a:t>DROP</a:t>
            </a:r>
            <a:r>
              <a:rPr lang="es" sz="1050">
                <a:solidFill>
                  <a:srgbClr val="CCCCCC"/>
                </a:solidFill>
                <a:highlight>
                  <a:srgbClr val="1F1F1F"/>
                </a:highlight>
                <a:latin typeface="Courier New"/>
                <a:ea typeface="Courier New"/>
                <a:cs typeface="Courier New"/>
                <a:sym typeface="Courier New"/>
              </a:rPr>
              <a:t> </a:t>
            </a:r>
            <a:r>
              <a:rPr lang="es" sz="1050">
                <a:solidFill>
                  <a:srgbClr val="569CD6"/>
                </a:solidFill>
                <a:highlight>
                  <a:srgbClr val="1F1F1F"/>
                </a:highlight>
                <a:latin typeface="Courier New"/>
                <a:ea typeface="Courier New"/>
                <a:cs typeface="Courier New"/>
                <a:sym typeface="Courier New"/>
              </a:rPr>
              <a:t>TABLE</a:t>
            </a:r>
            <a:r>
              <a:rPr lang="es" sz="1050">
                <a:solidFill>
                  <a:srgbClr val="CCCCCC"/>
                </a:solidFill>
                <a:highlight>
                  <a:srgbClr val="1F1F1F"/>
                </a:highlight>
                <a:latin typeface="Courier New"/>
                <a:ea typeface="Courier New"/>
                <a:cs typeface="Courier New"/>
                <a:sym typeface="Courier New"/>
              </a:rPr>
              <a:t> alertas_fugas;</a:t>
            </a:r>
            <a:endParaRPr sz="1050">
              <a:solidFill>
                <a:srgbClr val="CCCCCC"/>
              </a:solidFill>
              <a:highlight>
                <a:srgbClr val="1F1F1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s" sz="1050">
                <a:solidFill>
                  <a:srgbClr val="CCCCCC"/>
                </a:solidFill>
                <a:highlight>
                  <a:srgbClr val="1F1F1F"/>
                </a:highlight>
                <a:latin typeface="Courier New"/>
                <a:ea typeface="Courier New"/>
                <a:cs typeface="Courier New"/>
                <a:sym typeface="Courier New"/>
              </a:rPr>
              <a:t> </a:t>
            </a:r>
            <a:r>
              <a:rPr lang="es" sz="1050">
                <a:solidFill>
                  <a:srgbClr val="569CD6"/>
                </a:solidFill>
                <a:highlight>
                  <a:srgbClr val="1F1F1F"/>
                </a:highlight>
                <a:latin typeface="Courier New"/>
                <a:ea typeface="Courier New"/>
                <a:cs typeface="Courier New"/>
                <a:sym typeface="Courier New"/>
              </a:rPr>
              <a:t>CREATE</a:t>
            </a:r>
            <a:r>
              <a:rPr lang="es" sz="1050">
                <a:solidFill>
                  <a:srgbClr val="CCCCCC"/>
                </a:solidFill>
                <a:highlight>
                  <a:srgbClr val="1F1F1F"/>
                </a:highlight>
                <a:latin typeface="Courier New"/>
                <a:ea typeface="Courier New"/>
                <a:cs typeface="Courier New"/>
                <a:sym typeface="Courier New"/>
              </a:rPr>
              <a:t> </a:t>
            </a:r>
            <a:r>
              <a:rPr lang="es" sz="1050">
                <a:solidFill>
                  <a:srgbClr val="569CD6"/>
                </a:solidFill>
                <a:highlight>
                  <a:srgbClr val="1F1F1F"/>
                </a:highlight>
                <a:latin typeface="Courier New"/>
                <a:ea typeface="Courier New"/>
                <a:cs typeface="Courier New"/>
                <a:sym typeface="Courier New"/>
              </a:rPr>
              <a:t>TABLE</a:t>
            </a:r>
            <a:r>
              <a:rPr lang="es" sz="1050">
                <a:solidFill>
                  <a:srgbClr val="CCCCCC"/>
                </a:solidFill>
                <a:highlight>
                  <a:srgbClr val="1F1F1F"/>
                </a:highlight>
                <a:latin typeface="Courier New"/>
                <a:ea typeface="Courier New"/>
                <a:cs typeface="Courier New"/>
                <a:sym typeface="Courier New"/>
              </a:rPr>
              <a:t> </a:t>
            </a:r>
            <a:r>
              <a:rPr lang="es" sz="1050">
                <a:solidFill>
                  <a:srgbClr val="DCDCAA"/>
                </a:solidFill>
                <a:highlight>
                  <a:srgbClr val="1F1F1F"/>
                </a:highlight>
                <a:latin typeface="Courier New"/>
                <a:ea typeface="Courier New"/>
                <a:cs typeface="Courier New"/>
                <a:sym typeface="Courier New"/>
              </a:rPr>
              <a:t>alertas_fugas</a:t>
            </a:r>
            <a:r>
              <a:rPr lang="es" sz="1050">
                <a:solidFill>
                  <a:srgbClr val="CCCCCC"/>
                </a:solidFill>
                <a:highlight>
                  <a:srgbClr val="1F1F1F"/>
                </a:highlight>
                <a:latin typeface="Courier New"/>
                <a:ea typeface="Courier New"/>
                <a:cs typeface="Courier New"/>
                <a:sym typeface="Courier New"/>
              </a:rPr>
              <a:t> (</a:t>
            </a:r>
            <a:endParaRPr sz="1050">
              <a:solidFill>
                <a:srgbClr val="CCCCCC"/>
              </a:solidFill>
              <a:highlight>
                <a:srgbClr val="1F1F1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s" sz="1050">
                <a:solidFill>
                  <a:srgbClr val="CCCCCC"/>
                </a:solidFill>
                <a:highlight>
                  <a:srgbClr val="1F1F1F"/>
                </a:highlight>
                <a:latin typeface="Courier New"/>
                <a:ea typeface="Courier New"/>
                <a:cs typeface="Courier New"/>
                <a:sym typeface="Courier New"/>
              </a:rPr>
              <a:t>    id_alerta    </a:t>
            </a:r>
            <a:r>
              <a:rPr lang="es" sz="1050">
                <a:solidFill>
                  <a:srgbClr val="569CD6"/>
                </a:solidFill>
                <a:highlight>
                  <a:srgbClr val="1F1F1F"/>
                </a:highlight>
                <a:latin typeface="Courier New"/>
                <a:ea typeface="Courier New"/>
                <a:cs typeface="Courier New"/>
                <a:sym typeface="Courier New"/>
              </a:rPr>
              <a:t>NUMBER</a:t>
            </a:r>
            <a:r>
              <a:rPr lang="es" sz="1050">
                <a:solidFill>
                  <a:srgbClr val="CCCCCC"/>
                </a:solidFill>
                <a:highlight>
                  <a:srgbClr val="1F1F1F"/>
                </a:highlight>
                <a:latin typeface="Courier New"/>
                <a:ea typeface="Courier New"/>
                <a:cs typeface="Courier New"/>
                <a:sym typeface="Courier New"/>
              </a:rPr>
              <a:t> </a:t>
            </a:r>
            <a:r>
              <a:rPr lang="es" sz="1050">
                <a:solidFill>
                  <a:srgbClr val="569CD6"/>
                </a:solidFill>
                <a:highlight>
                  <a:srgbClr val="1F1F1F"/>
                </a:highlight>
                <a:latin typeface="Courier New"/>
                <a:ea typeface="Courier New"/>
                <a:cs typeface="Courier New"/>
                <a:sym typeface="Courier New"/>
              </a:rPr>
              <a:t>GENERATED</a:t>
            </a:r>
            <a:r>
              <a:rPr lang="es" sz="1050">
                <a:solidFill>
                  <a:srgbClr val="CCCCCC"/>
                </a:solidFill>
                <a:highlight>
                  <a:srgbClr val="1F1F1F"/>
                </a:highlight>
                <a:latin typeface="Courier New"/>
                <a:ea typeface="Courier New"/>
                <a:cs typeface="Courier New"/>
                <a:sym typeface="Courier New"/>
              </a:rPr>
              <a:t> </a:t>
            </a:r>
            <a:r>
              <a:rPr lang="es" sz="1050">
                <a:solidFill>
                  <a:srgbClr val="569CD6"/>
                </a:solidFill>
                <a:highlight>
                  <a:srgbClr val="1F1F1F"/>
                </a:highlight>
                <a:latin typeface="Courier New"/>
                <a:ea typeface="Courier New"/>
                <a:cs typeface="Courier New"/>
                <a:sym typeface="Courier New"/>
              </a:rPr>
              <a:t>BY</a:t>
            </a:r>
            <a:r>
              <a:rPr lang="es" sz="1050">
                <a:solidFill>
                  <a:srgbClr val="CCCCCC"/>
                </a:solidFill>
                <a:highlight>
                  <a:srgbClr val="1F1F1F"/>
                </a:highlight>
                <a:latin typeface="Courier New"/>
                <a:ea typeface="Courier New"/>
                <a:cs typeface="Courier New"/>
                <a:sym typeface="Courier New"/>
              </a:rPr>
              <a:t> </a:t>
            </a:r>
            <a:r>
              <a:rPr lang="es" sz="1050">
                <a:solidFill>
                  <a:srgbClr val="569CD6"/>
                </a:solidFill>
                <a:highlight>
                  <a:srgbClr val="1F1F1F"/>
                </a:highlight>
                <a:latin typeface="Courier New"/>
                <a:ea typeface="Courier New"/>
                <a:cs typeface="Courier New"/>
                <a:sym typeface="Courier New"/>
              </a:rPr>
              <a:t>DEFAULT</a:t>
            </a:r>
            <a:r>
              <a:rPr lang="es" sz="1050">
                <a:solidFill>
                  <a:srgbClr val="CCCCCC"/>
                </a:solidFill>
                <a:highlight>
                  <a:srgbClr val="1F1F1F"/>
                </a:highlight>
                <a:latin typeface="Courier New"/>
                <a:ea typeface="Courier New"/>
                <a:cs typeface="Courier New"/>
                <a:sym typeface="Courier New"/>
              </a:rPr>
              <a:t> </a:t>
            </a:r>
            <a:r>
              <a:rPr lang="es" sz="1050">
                <a:solidFill>
                  <a:srgbClr val="569CD6"/>
                </a:solidFill>
                <a:highlight>
                  <a:srgbClr val="1F1F1F"/>
                </a:highlight>
                <a:latin typeface="Courier New"/>
                <a:ea typeface="Courier New"/>
                <a:cs typeface="Courier New"/>
                <a:sym typeface="Courier New"/>
              </a:rPr>
              <a:t>AS</a:t>
            </a:r>
            <a:r>
              <a:rPr lang="es" sz="1050">
                <a:solidFill>
                  <a:srgbClr val="CCCCCC"/>
                </a:solidFill>
                <a:highlight>
                  <a:srgbClr val="1F1F1F"/>
                </a:highlight>
                <a:latin typeface="Courier New"/>
                <a:ea typeface="Courier New"/>
                <a:cs typeface="Courier New"/>
                <a:sym typeface="Courier New"/>
              </a:rPr>
              <a:t> </a:t>
            </a:r>
            <a:r>
              <a:rPr lang="es" sz="1050">
                <a:solidFill>
                  <a:srgbClr val="569CD6"/>
                </a:solidFill>
                <a:highlight>
                  <a:srgbClr val="1F1F1F"/>
                </a:highlight>
                <a:latin typeface="Courier New"/>
                <a:ea typeface="Courier New"/>
                <a:cs typeface="Courier New"/>
                <a:sym typeface="Courier New"/>
              </a:rPr>
              <a:t>IDENTITY</a:t>
            </a:r>
            <a:r>
              <a:rPr lang="es" sz="1050">
                <a:solidFill>
                  <a:srgbClr val="CCCCCC"/>
                </a:solidFill>
                <a:highlight>
                  <a:srgbClr val="1F1F1F"/>
                </a:highlight>
                <a:latin typeface="Courier New"/>
                <a:ea typeface="Courier New"/>
                <a:cs typeface="Courier New"/>
                <a:sym typeface="Courier New"/>
              </a:rPr>
              <a:t>,</a:t>
            </a:r>
            <a:endParaRPr sz="1050">
              <a:solidFill>
                <a:srgbClr val="CCCCCC"/>
              </a:solidFill>
              <a:highlight>
                <a:srgbClr val="1F1F1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s" sz="1050">
                <a:solidFill>
                  <a:srgbClr val="CCCCCC"/>
                </a:solidFill>
                <a:highlight>
                  <a:srgbClr val="1F1F1F"/>
                </a:highlight>
                <a:latin typeface="Courier New"/>
                <a:ea typeface="Courier New"/>
                <a:cs typeface="Courier New"/>
                <a:sym typeface="Courier New"/>
              </a:rPr>
              <a:t>    sensor_id    </a:t>
            </a:r>
            <a:r>
              <a:rPr lang="es" sz="1050">
                <a:solidFill>
                  <a:srgbClr val="569CD6"/>
                </a:solidFill>
                <a:highlight>
                  <a:srgbClr val="1F1F1F"/>
                </a:highlight>
                <a:latin typeface="Courier New"/>
                <a:ea typeface="Courier New"/>
                <a:cs typeface="Courier New"/>
                <a:sym typeface="Courier New"/>
              </a:rPr>
              <a:t>NUMBER</a:t>
            </a:r>
            <a:r>
              <a:rPr lang="es" sz="1050">
                <a:solidFill>
                  <a:srgbClr val="CCCCCC"/>
                </a:solidFill>
                <a:highlight>
                  <a:srgbClr val="1F1F1F"/>
                </a:highlight>
                <a:latin typeface="Courier New"/>
                <a:ea typeface="Courier New"/>
                <a:cs typeface="Courier New"/>
                <a:sym typeface="Courier New"/>
              </a:rPr>
              <a:t>,</a:t>
            </a:r>
            <a:endParaRPr sz="1050">
              <a:solidFill>
                <a:srgbClr val="CCCCCC"/>
              </a:solidFill>
              <a:highlight>
                <a:srgbClr val="1F1F1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s" sz="1050">
                <a:solidFill>
                  <a:srgbClr val="CCCCCC"/>
                </a:solidFill>
                <a:highlight>
                  <a:srgbClr val="1F1F1F"/>
                </a:highlight>
                <a:latin typeface="Courier New"/>
                <a:ea typeface="Courier New"/>
                <a:cs typeface="Courier New"/>
                <a:sym typeface="Courier New"/>
              </a:rPr>
              <a:t>    presion_caida </a:t>
            </a:r>
            <a:r>
              <a:rPr lang="es" sz="1050">
                <a:solidFill>
                  <a:srgbClr val="569CD6"/>
                </a:solidFill>
                <a:highlight>
                  <a:srgbClr val="1F1F1F"/>
                </a:highlight>
                <a:latin typeface="Courier New"/>
                <a:ea typeface="Courier New"/>
                <a:cs typeface="Courier New"/>
                <a:sym typeface="Courier New"/>
              </a:rPr>
              <a:t>NUMBER</a:t>
            </a:r>
            <a:r>
              <a:rPr lang="es" sz="1050">
                <a:solidFill>
                  <a:srgbClr val="CCCCCC"/>
                </a:solidFill>
                <a:highlight>
                  <a:srgbClr val="1F1F1F"/>
                </a:highlight>
                <a:latin typeface="Courier New"/>
                <a:ea typeface="Courier New"/>
                <a:cs typeface="Courier New"/>
                <a:sym typeface="Courier New"/>
              </a:rPr>
              <a:t>,</a:t>
            </a:r>
            <a:endParaRPr sz="1050">
              <a:solidFill>
                <a:srgbClr val="CCCCCC"/>
              </a:solidFill>
              <a:highlight>
                <a:srgbClr val="1F1F1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s" sz="1050">
                <a:solidFill>
                  <a:srgbClr val="CCCCCC"/>
                </a:solidFill>
                <a:highlight>
                  <a:srgbClr val="1F1F1F"/>
                </a:highlight>
                <a:latin typeface="Courier New"/>
                <a:ea typeface="Courier New"/>
                <a:cs typeface="Courier New"/>
                <a:sym typeface="Courier New"/>
              </a:rPr>
              <a:t>    tiempo_alerta </a:t>
            </a:r>
            <a:r>
              <a:rPr lang="es" sz="1050">
                <a:solidFill>
                  <a:srgbClr val="569CD6"/>
                </a:solidFill>
                <a:highlight>
                  <a:srgbClr val="1F1F1F"/>
                </a:highlight>
                <a:latin typeface="Courier New"/>
                <a:ea typeface="Courier New"/>
                <a:cs typeface="Courier New"/>
                <a:sym typeface="Courier New"/>
              </a:rPr>
              <a:t>TIMESTAMP</a:t>
            </a:r>
            <a:endParaRPr sz="1050">
              <a:solidFill>
                <a:srgbClr val="569CD6"/>
              </a:solidFill>
              <a:highlight>
                <a:srgbClr val="1F1F1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s" sz="1050">
                <a:solidFill>
                  <a:srgbClr val="CCCCCC"/>
                </a:solidFill>
                <a:highlight>
                  <a:srgbClr val="1F1F1F"/>
                </a:highlight>
                <a:latin typeface="Courier New"/>
                <a:ea typeface="Courier New"/>
                <a:cs typeface="Courier New"/>
                <a:sym typeface="Courier New"/>
              </a:rPr>
              <a:t>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61"/>
          <p:cNvSpPr txBox="1"/>
          <p:nvPr>
            <p:ph type="title"/>
          </p:nvPr>
        </p:nvSpPr>
        <p:spPr>
          <a:xfrm>
            <a:off x="159250" y="233900"/>
            <a:ext cx="19218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La solución en PL/SQL</a:t>
            </a:r>
            <a:endParaRPr/>
          </a:p>
        </p:txBody>
      </p:sp>
      <p:sp>
        <p:nvSpPr>
          <p:cNvPr id="450" name="Google Shape;450;p61"/>
          <p:cNvSpPr txBox="1"/>
          <p:nvPr>
            <p:ph idx="1" type="body"/>
          </p:nvPr>
        </p:nvSpPr>
        <p:spPr>
          <a:xfrm>
            <a:off x="729325" y="1237075"/>
            <a:ext cx="3774300" cy="3102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451" name="Google Shape;451;p61"/>
          <p:cNvSpPr txBox="1"/>
          <p:nvPr>
            <p:ph idx="2" type="body"/>
          </p:nvPr>
        </p:nvSpPr>
        <p:spPr>
          <a:xfrm>
            <a:off x="4643600" y="1237075"/>
            <a:ext cx="3774300" cy="3102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452" name="Google Shape;452;p61"/>
          <p:cNvPicPr preferRelativeResize="0"/>
          <p:nvPr/>
        </p:nvPicPr>
        <p:blipFill>
          <a:blip r:embed="rId3">
            <a:alphaModFix/>
          </a:blip>
          <a:stretch>
            <a:fillRect/>
          </a:stretch>
        </p:blipFill>
        <p:spPr>
          <a:xfrm>
            <a:off x="2375911" y="0"/>
            <a:ext cx="6768078" cy="514350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62"/>
          <p:cNvSpPr txBox="1"/>
          <p:nvPr>
            <p:ph type="title"/>
          </p:nvPr>
        </p:nvSpPr>
        <p:spPr>
          <a:xfrm>
            <a:off x="830400" y="262925"/>
            <a:ext cx="7688400" cy="928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Comparación de lenguajes procedimentales en bases de datos relacionales</a:t>
            </a:r>
            <a:endParaRPr/>
          </a:p>
        </p:txBody>
      </p:sp>
      <p:graphicFrame>
        <p:nvGraphicFramePr>
          <p:cNvPr id="458" name="Google Shape;458;p62"/>
          <p:cNvGraphicFramePr/>
          <p:nvPr/>
        </p:nvGraphicFramePr>
        <p:xfrm>
          <a:off x="449225" y="1365500"/>
          <a:ext cx="3000000" cy="3000000"/>
        </p:xfrm>
        <a:graphic>
          <a:graphicData uri="http://schemas.openxmlformats.org/drawingml/2006/table">
            <a:tbl>
              <a:tblPr>
                <a:noFill/>
                <a:tableStyleId>{A93C4C41-8EF1-4E32-AC6D-5B815111848D}</a:tableStyleId>
              </a:tblPr>
              <a:tblGrid>
                <a:gridCol w="949725"/>
                <a:gridCol w="1283000"/>
                <a:gridCol w="2760500"/>
                <a:gridCol w="3604775"/>
              </a:tblGrid>
              <a:tr h="416250">
                <a:tc>
                  <a:txBody>
                    <a:bodyPr/>
                    <a:lstStyle/>
                    <a:p>
                      <a:pPr indent="0" lvl="0" marL="0" rtl="0" algn="l">
                        <a:lnSpc>
                          <a:spcPct val="115000"/>
                        </a:lnSpc>
                        <a:spcBef>
                          <a:spcPts val="0"/>
                        </a:spcBef>
                        <a:spcAft>
                          <a:spcPts val="0"/>
                        </a:spcAft>
                        <a:buNone/>
                      </a:pPr>
                      <a:r>
                        <a:rPr b="1" lang="es" sz="1200">
                          <a:latin typeface="Lato"/>
                          <a:ea typeface="Lato"/>
                          <a:cs typeface="Lato"/>
                          <a:sym typeface="Lato"/>
                        </a:rPr>
                        <a:t>Sistema de Gestión</a:t>
                      </a:r>
                      <a:endParaRPr b="1" sz="12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200">
                          <a:latin typeface="Lato"/>
                          <a:ea typeface="Lato"/>
                          <a:cs typeface="Lato"/>
                          <a:sym typeface="Lato"/>
                        </a:rPr>
                        <a:t>Lenguaje Procedural</a:t>
                      </a:r>
                      <a:endParaRPr b="1" sz="12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200">
                          <a:latin typeface="Lato"/>
                          <a:ea typeface="Lato"/>
                          <a:cs typeface="Lato"/>
                          <a:sym typeface="Lato"/>
                        </a:rPr>
                        <a:t>Características Clave</a:t>
                      </a:r>
                      <a:endParaRPr b="1" sz="12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200">
                          <a:latin typeface="Lato"/>
                          <a:ea typeface="Lato"/>
                          <a:cs typeface="Lato"/>
                          <a:sym typeface="Lato"/>
                        </a:rPr>
                        <a:t>Uso Principal</a:t>
                      </a:r>
                      <a:endParaRPr b="1" sz="12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r>
              <a:tr h="618925">
                <a:tc>
                  <a:txBody>
                    <a:bodyPr/>
                    <a:lstStyle/>
                    <a:p>
                      <a:pPr indent="0" lvl="0" marL="0" rtl="0" algn="l">
                        <a:lnSpc>
                          <a:spcPct val="115000"/>
                        </a:lnSpc>
                        <a:spcBef>
                          <a:spcPts val="0"/>
                        </a:spcBef>
                        <a:spcAft>
                          <a:spcPts val="0"/>
                        </a:spcAft>
                        <a:buNone/>
                      </a:pPr>
                      <a:r>
                        <a:rPr lang="es" sz="1200">
                          <a:latin typeface="Lato"/>
                          <a:ea typeface="Lato"/>
                          <a:cs typeface="Lato"/>
                          <a:sym typeface="Lato"/>
                        </a:rPr>
                        <a:t>Oracle</a:t>
                      </a:r>
                      <a:endParaRPr sz="12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200">
                          <a:latin typeface="Lato"/>
                          <a:ea typeface="Lato"/>
                          <a:cs typeface="Lato"/>
                          <a:sym typeface="Lato"/>
                        </a:rPr>
                        <a:t>PL/SQL</a:t>
                      </a:r>
                      <a:endParaRPr sz="12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200">
                          <a:latin typeface="Lato"/>
                          <a:ea typeface="Lato"/>
                          <a:cs typeface="Lato"/>
                          <a:sym typeface="Lato"/>
                        </a:rPr>
                        <a:t>Soporta</a:t>
                      </a:r>
                      <a:r>
                        <a:rPr lang="es" sz="1200">
                          <a:latin typeface="Lato"/>
                          <a:ea typeface="Lato"/>
                          <a:cs typeface="Lato"/>
                          <a:sym typeface="Lato"/>
                        </a:rPr>
                        <a:t> Orientación a objetos. Paquetes. Manejo de excepciones.</a:t>
                      </a:r>
                      <a:endParaRPr sz="12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200">
                          <a:latin typeface="Lato"/>
                          <a:ea typeface="Lato"/>
                          <a:cs typeface="Lato"/>
                          <a:sym typeface="Lato"/>
                        </a:rPr>
                        <a:t>Lógica de negocio compleja, procedimientos, funciones, triggers.</a:t>
                      </a:r>
                      <a:endParaRPr sz="1200">
                        <a:latin typeface="Lato"/>
                        <a:ea typeface="Lato"/>
                        <a:cs typeface="Lato"/>
                        <a:sym typeface="Lato"/>
                      </a:endParaRPr>
                    </a:p>
                  </a:txBody>
                  <a:tcPr marT="19050" marB="19050" marR="91425" marL="91425" anchor="b">
                    <a:lnL cap="flat" cmpd="sng" w="6350">
                      <a:solidFill>
                        <a:srgbClr val="CCCCCC"/>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r>
              <a:tr h="516850">
                <a:tc>
                  <a:txBody>
                    <a:bodyPr/>
                    <a:lstStyle/>
                    <a:p>
                      <a:pPr indent="0" lvl="0" marL="0" rtl="0" algn="l">
                        <a:lnSpc>
                          <a:spcPct val="115000"/>
                        </a:lnSpc>
                        <a:spcBef>
                          <a:spcPts val="0"/>
                        </a:spcBef>
                        <a:spcAft>
                          <a:spcPts val="0"/>
                        </a:spcAft>
                        <a:buNone/>
                      </a:pPr>
                      <a:r>
                        <a:rPr lang="es" sz="1200">
                          <a:latin typeface="Lato"/>
                          <a:ea typeface="Lato"/>
                          <a:cs typeface="Lato"/>
                          <a:sym typeface="Lato"/>
                        </a:rPr>
                        <a:t>PostgreSQL</a:t>
                      </a:r>
                      <a:endParaRPr sz="12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200">
                          <a:latin typeface="Lato"/>
                          <a:ea typeface="Lato"/>
                          <a:cs typeface="Lato"/>
                          <a:sym typeface="Lato"/>
                        </a:rPr>
                        <a:t>PL/pgSQL</a:t>
                      </a:r>
                      <a:endParaRPr sz="12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200">
                          <a:latin typeface="Lato"/>
                          <a:ea typeface="Lato"/>
                          <a:cs typeface="Lato"/>
                          <a:sym typeface="Lato"/>
                        </a:rPr>
                        <a:t>Sintaxis similar a PL/SQL. Extensible con otros lenguajes (Python, Perl).</a:t>
                      </a:r>
                      <a:endParaRPr sz="12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200">
                          <a:latin typeface="Lato"/>
                          <a:ea typeface="Lato"/>
                          <a:cs typeface="Lato"/>
                          <a:sym typeface="Lato"/>
                        </a:rPr>
                        <a:t>Funciones personalizadas, lógica en el servidor, triggers.</a:t>
                      </a:r>
                      <a:endParaRPr sz="1200">
                        <a:latin typeface="Lato"/>
                        <a:ea typeface="Lato"/>
                        <a:cs typeface="Lato"/>
                        <a:sym typeface="Lato"/>
                      </a:endParaRPr>
                    </a:p>
                  </a:txBody>
                  <a:tcPr marT="19050" marB="19050" marR="91425" marL="91425" anchor="b">
                    <a:lnL cap="flat" cmpd="sng" w="6350">
                      <a:solidFill>
                        <a:srgbClr val="CCCCCC"/>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r>
              <a:tr h="714600">
                <a:tc>
                  <a:txBody>
                    <a:bodyPr/>
                    <a:lstStyle/>
                    <a:p>
                      <a:pPr indent="0" lvl="0" marL="0" rtl="0" algn="l">
                        <a:lnSpc>
                          <a:spcPct val="115000"/>
                        </a:lnSpc>
                        <a:spcBef>
                          <a:spcPts val="0"/>
                        </a:spcBef>
                        <a:spcAft>
                          <a:spcPts val="0"/>
                        </a:spcAft>
                        <a:buNone/>
                      </a:pPr>
                      <a:r>
                        <a:rPr lang="es" sz="1200">
                          <a:latin typeface="Lato"/>
                          <a:ea typeface="Lato"/>
                          <a:cs typeface="Lato"/>
                          <a:sym typeface="Lato"/>
                        </a:rPr>
                        <a:t>SQL Server</a:t>
                      </a:r>
                      <a:endParaRPr sz="12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200">
                          <a:latin typeface="Lato"/>
                          <a:ea typeface="Lato"/>
                          <a:cs typeface="Lato"/>
                          <a:sym typeface="Lato"/>
                        </a:rPr>
                        <a:t>T-SQL Transact</a:t>
                      </a:r>
                      <a:endParaRPr sz="12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200">
                          <a:latin typeface="Lato"/>
                          <a:ea typeface="Lato"/>
                          <a:cs typeface="Lato"/>
                          <a:sym typeface="Lato"/>
                        </a:rPr>
                        <a:t>Fuertes capacidades para la manipulación de cadenas y fechas.</a:t>
                      </a:r>
                      <a:endParaRPr sz="12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200">
                          <a:latin typeface="Lato"/>
                          <a:ea typeface="Lato"/>
                          <a:cs typeface="Lato"/>
                          <a:sym typeface="Lato"/>
                        </a:rPr>
                        <a:t>Stored procedures, triggers, control de flujo en la base de datos.</a:t>
                      </a:r>
                      <a:endParaRPr sz="1200">
                        <a:latin typeface="Lato"/>
                        <a:ea typeface="Lato"/>
                        <a:cs typeface="Lato"/>
                        <a:sym typeface="Lato"/>
                      </a:endParaRPr>
                    </a:p>
                  </a:txBody>
                  <a:tcPr marT="19050" marB="19050" marR="91425" marL="91425" anchor="b">
                    <a:lnL cap="flat" cmpd="sng" w="6350">
                      <a:solidFill>
                        <a:srgbClr val="CCCCCC"/>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r>
              <a:tr h="618925">
                <a:tc>
                  <a:txBody>
                    <a:bodyPr/>
                    <a:lstStyle/>
                    <a:p>
                      <a:pPr indent="0" lvl="0" marL="0" rtl="0" algn="l">
                        <a:lnSpc>
                          <a:spcPct val="115000"/>
                        </a:lnSpc>
                        <a:spcBef>
                          <a:spcPts val="0"/>
                        </a:spcBef>
                        <a:spcAft>
                          <a:spcPts val="0"/>
                        </a:spcAft>
                        <a:buNone/>
                      </a:pPr>
                      <a:r>
                        <a:rPr lang="es" sz="1200">
                          <a:latin typeface="Lato"/>
                          <a:ea typeface="Lato"/>
                          <a:cs typeface="Lato"/>
                          <a:sym typeface="Lato"/>
                        </a:rPr>
                        <a:t>MySQL</a:t>
                      </a:r>
                      <a:endParaRPr sz="12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200">
                          <a:latin typeface="Lato"/>
                          <a:ea typeface="Lato"/>
                          <a:cs typeface="Lato"/>
                          <a:sym typeface="Lato"/>
                        </a:rPr>
                        <a:t>SQL/PSM - Persistent Stored Modules</a:t>
                      </a:r>
                      <a:endParaRPr sz="12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200">
                          <a:latin typeface="Lato"/>
                          <a:ea typeface="Lato"/>
                          <a:cs typeface="Lato"/>
                          <a:sym typeface="Lato"/>
                        </a:rPr>
                        <a:t>Menos robusto. Sintaxis estándar. Básico para procedimientos y bucles.</a:t>
                      </a:r>
                      <a:endParaRPr sz="12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200">
                          <a:latin typeface="Lato"/>
                          <a:ea typeface="Lato"/>
                          <a:cs typeface="Lato"/>
                          <a:sym typeface="Lato"/>
                        </a:rPr>
                        <a:t>Automatización simple, procedimientos almacenados y funciones.</a:t>
                      </a:r>
                      <a:endParaRPr sz="1200">
                        <a:latin typeface="Lato"/>
                        <a:ea typeface="Lato"/>
                        <a:cs typeface="Lato"/>
                        <a:sym typeface="Lato"/>
                      </a:endParaRPr>
                    </a:p>
                  </a:txBody>
                  <a:tcPr marT="19050" marB="19050" marR="91425" marL="91425" anchor="b">
                    <a:lnL cap="flat" cmpd="sng" w="6350">
                      <a:solidFill>
                        <a:srgbClr val="CCCCCC"/>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r>
              <a:tr h="615550">
                <a:tc>
                  <a:txBody>
                    <a:bodyPr/>
                    <a:lstStyle/>
                    <a:p>
                      <a:pPr indent="0" lvl="0" marL="0" rtl="0" algn="l">
                        <a:lnSpc>
                          <a:spcPct val="115000"/>
                        </a:lnSpc>
                        <a:spcBef>
                          <a:spcPts val="0"/>
                        </a:spcBef>
                        <a:spcAft>
                          <a:spcPts val="0"/>
                        </a:spcAft>
                        <a:buNone/>
                      </a:pPr>
                      <a:r>
                        <a:rPr lang="es" sz="1200">
                          <a:latin typeface="Lato"/>
                          <a:ea typeface="Lato"/>
                          <a:cs typeface="Lato"/>
                          <a:sym typeface="Lato"/>
                        </a:rPr>
                        <a:t>SQLite</a:t>
                      </a:r>
                      <a:endParaRPr sz="12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200">
                          <a:latin typeface="Lato"/>
                          <a:ea typeface="Lato"/>
                          <a:cs typeface="Lato"/>
                          <a:sym typeface="Lato"/>
                        </a:rPr>
                        <a:t>No lo Soporta</a:t>
                      </a:r>
                      <a:endParaRPr sz="12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200">
                          <a:latin typeface="Lato"/>
                          <a:ea typeface="Lato"/>
                          <a:cs typeface="Lato"/>
                          <a:sym typeface="Lato"/>
                        </a:rPr>
                        <a:t>Debe ser implementado en otro lenguaje de backend.</a:t>
                      </a:r>
                      <a:endParaRPr sz="12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200">
                          <a:latin typeface="Lato"/>
                          <a:ea typeface="Lato"/>
                          <a:cs typeface="Lato"/>
                          <a:sym typeface="Lato"/>
                        </a:rPr>
                        <a:t>Toda la </a:t>
                      </a:r>
                      <a:r>
                        <a:rPr lang="es" sz="1200">
                          <a:latin typeface="Lato"/>
                          <a:ea typeface="Lato"/>
                          <a:cs typeface="Lato"/>
                          <a:sym typeface="Lato"/>
                        </a:rPr>
                        <a:t>Lógica del proceso se implementa en la aplicación anfitriona.</a:t>
                      </a:r>
                      <a:endParaRPr sz="1200">
                        <a:latin typeface="Lato"/>
                        <a:ea typeface="Lato"/>
                        <a:cs typeface="Lato"/>
                        <a:sym typeface="Lato"/>
                      </a:endParaRPr>
                    </a:p>
                  </a:txBody>
                  <a:tcPr marT="19050" marB="19050" marR="91425" marL="91425" anchor="b">
                    <a:lnL cap="flat" cmpd="sng" w="6350">
                      <a:solidFill>
                        <a:srgbClr val="CCCCCC"/>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63"/>
          <p:cNvSpPr txBox="1"/>
          <p:nvPr>
            <p:ph type="title"/>
          </p:nvPr>
        </p:nvSpPr>
        <p:spPr>
          <a:xfrm>
            <a:off x="830400" y="6560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Oracle (PL/SQL)</a:t>
            </a:r>
            <a:endParaRPr/>
          </a:p>
          <a:p>
            <a:pPr indent="0" lvl="0" marL="0" rtl="0" algn="l">
              <a:spcBef>
                <a:spcPts val="0"/>
              </a:spcBef>
              <a:spcAft>
                <a:spcPts val="0"/>
              </a:spcAft>
              <a:buNone/>
            </a:pPr>
            <a:r>
              <a:t/>
            </a:r>
            <a:endParaRPr/>
          </a:p>
        </p:txBody>
      </p:sp>
      <p:sp>
        <p:nvSpPr>
          <p:cNvPr id="464" name="Google Shape;464;p63"/>
          <p:cNvSpPr txBox="1"/>
          <p:nvPr>
            <p:ph idx="1" type="body"/>
          </p:nvPr>
        </p:nvSpPr>
        <p:spPr>
          <a:xfrm>
            <a:off x="359200" y="1237075"/>
            <a:ext cx="4144500" cy="3725100"/>
          </a:xfrm>
          <a:prstGeom prst="rect">
            <a:avLst/>
          </a:prstGeom>
        </p:spPr>
        <p:txBody>
          <a:bodyPr anchorCtr="0" anchor="t" bIns="91425" lIns="91425" spcFirstLastPara="1" rIns="91425" wrap="square" tIns="91425">
            <a:normAutofit lnSpcReduction="10000"/>
          </a:bodyPr>
          <a:lstStyle/>
          <a:p>
            <a:pPr indent="0" lvl="0" marL="0" rtl="0" algn="l">
              <a:lnSpc>
                <a:spcPct val="150000"/>
              </a:lnSpc>
              <a:spcBef>
                <a:spcPts val="1200"/>
              </a:spcBef>
              <a:spcAft>
                <a:spcPts val="0"/>
              </a:spcAft>
              <a:buNone/>
            </a:pPr>
            <a:r>
              <a:rPr lang="es">
                <a:solidFill>
                  <a:srgbClr val="000000"/>
                </a:solidFill>
              </a:rPr>
              <a:t>PL/SQL es conocido por su </a:t>
            </a:r>
            <a:r>
              <a:rPr b="1" lang="es">
                <a:solidFill>
                  <a:srgbClr val="000000"/>
                </a:solidFill>
              </a:rPr>
              <a:t>madurez y robustez</a:t>
            </a:r>
            <a:r>
              <a:rPr lang="es">
                <a:solidFill>
                  <a:srgbClr val="000000"/>
                </a:solidFill>
              </a:rPr>
              <a:t>. Sus características distintivas son:</a:t>
            </a:r>
            <a:endParaRPr>
              <a:solidFill>
                <a:srgbClr val="000000"/>
              </a:solidFill>
            </a:endParaRPr>
          </a:p>
          <a:p>
            <a:pPr indent="-311150" lvl="0" marL="457200" rtl="0" algn="l">
              <a:lnSpc>
                <a:spcPct val="150000"/>
              </a:lnSpc>
              <a:spcBef>
                <a:spcPts val="1200"/>
              </a:spcBef>
              <a:spcAft>
                <a:spcPts val="0"/>
              </a:spcAft>
              <a:buClr>
                <a:srgbClr val="000000"/>
              </a:buClr>
              <a:buSzPts val="1300"/>
              <a:buFont typeface="Arial"/>
              <a:buChar char="●"/>
            </a:pPr>
            <a:r>
              <a:rPr b="1" lang="es">
                <a:solidFill>
                  <a:srgbClr val="000000"/>
                </a:solidFill>
              </a:rPr>
              <a:t>Manejo de Excepciones:</a:t>
            </a:r>
            <a:r>
              <a:rPr lang="es">
                <a:solidFill>
                  <a:srgbClr val="000000"/>
                </a:solidFill>
              </a:rPr>
              <a:t> Posee un bloque </a:t>
            </a:r>
            <a:r>
              <a:rPr lang="es">
                <a:solidFill>
                  <a:srgbClr val="188038"/>
                </a:solidFill>
              </a:rPr>
              <a:t>EXCEPTION</a:t>
            </a:r>
            <a:r>
              <a:rPr lang="es">
                <a:solidFill>
                  <a:srgbClr val="000000"/>
                </a:solidFill>
              </a:rPr>
              <a:t> muy estructurado y potente con un control granular. Permite manejar excepciones predefinidas (como </a:t>
            </a:r>
            <a:r>
              <a:rPr lang="es">
                <a:solidFill>
                  <a:srgbClr val="188038"/>
                </a:solidFill>
              </a:rPr>
              <a:t>NO_DATA_FOUND</a:t>
            </a:r>
            <a:r>
              <a:rPr lang="es">
                <a:solidFill>
                  <a:srgbClr val="000000"/>
                </a:solidFill>
              </a:rPr>
              <a:t>) y definir excepciones personalizadas.</a:t>
            </a:r>
            <a:endParaRPr>
              <a:solidFill>
                <a:srgbClr val="000000"/>
              </a:solidFill>
            </a:endParaRPr>
          </a:p>
          <a:p>
            <a:pPr indent="-311150" lvl="0" marL="457200" rtl="0" algn="l">
              <a:lnSpc>
                <a:spcPct val="150000"/>
              </a:lnSpc>
              <a:spcBef>
                <a:spcPts val="0"/>
              </a:spcBef>
              <a:spcAft>
                <a:spcPts val="0"/>
              </a:spcAft>
              <a:buClr>
                <a:srgbClr val="000000"/>
              </a:buClr>
              <a:buSzPts val="1300"/>
              <a:buFont typeface="Arial"/>
              <a:buChar char="●"/>
            </a:pPr>
            <a:r>
              <a:rPr b="1" lang="es">
                <a:solidFill>
                  <a:srgbClr val="000000"/>
                </a:solidFill>
              </a:rPr>
              <a:t>Paquetes:</a:t>
            </a:r>
            <a:r>
              <a:rPr lang="es">
                <a:solidFill>
                  <a:srgbClr val="000000"/>
                </a:solidFill>
              </a:rPr>
              <a:t> Permite agrupar procedimientos, funciones y tipos de datos relacionados en una sola unidad lógica (</a:t>
            </a:r>
            <a:r>
              <a:rPr lang="es">
                <a:solidFill>
                  <a:srgbClr val="188038"/>
                </a:solidFill>
              </a:rPr>
              <a:t>PACKAGE</a:t>
            </a:r>
            <a:r>
              <a:rPr lang="es">
                <a:solidFill>
                  <a:srgbClr val="000000"/>
                </a:solidFill>
              </a:rPr>
              <a:t>). Esto facilita la modularidad, la encapsulación y la reutilización del código.</a:t>
            </a:r>
            <a:endParaRPr/>
          </a:p>
        </p:txBody>
      </p:sp>
      <p:sp>
        <p:nvSpPr>
          <p:cNvPr id="465" name="Google Shape;465;p63"/>
          <p:cNvSpPr txBox="1"/>
          <p:nvPr>
            <p:ph idx="2" type="body"/>
          </p:nvPr>
        </p:nvSpPr>
        <p:spPr>
          <a:xfrm>
            <a:off x="4643600" y="174050"/>
            <a:ext cx="4144500" cy="4788000"/>
          </a:xfrm>
          <a:prstGeom prst="rect">
            <a:avLst/>
          </a:prstGeom>
        </p:spPr>
        <p:txBody>
          <a:bodyPr anchorCtr="0" anchor="t" bIns="91425" lIns="91425" spcFirstLastPara="1" rIns="91425" wrap="square" tIns="91425">
            <a:noAutofit/>
          </a:bodyPr>
          <a:lstStyle/>
          <a:p>
            <a:pPr indent="-311150" lvl="0" marL="457200" rtl="0" algn="l">
              <a:lnSpc>
                <a:spcPct val="150000"/>
              </a:lnSpc>
              <a:spcBef>
                <a:spcPts val="0"/>
              </a:spcBef>
              <a:spcAft>
                <a:spcPts val="0"/>
              </a:spcAft>
              <a:buSzPts val="1300"/>
              <a:buChar char="●"/>
            </a:pPr>
            <a:r>
              <a:rPr b="1" lang="es">
                <a:solidFill>
                  <a:srgbClr val="000000"/>
                </a:solidFill>
              </a:rPr>
              <a:t>Tipos de Datos y Colecciones:</a:t>
            </a:r>
            <a:r>
              <a:rPr lang="es">
                <a:solidFill>
                  <a:srgbClr val="000000"/>
                </a:solidFill>
              </a:rPr>
              <a:t> Ofrece tipos de datos complejos y colecciones como </a:t>
            </a:r>
            <a:r>
              <a:rPr lang="es">
                <a:solidFill>
                  <a:srgbClr val="188038"/>
                </a:solidFill>
              </a:rPr>
              <a:t>VARRAY</a:t>
            </a:r>
            <a:r>
              <a:rPr lang="es">
                <a:solidFill>
                  <a:srgbClr val="000000"/>
                </a:solidFill>
              </a:rPr>
              <a:t>, </a:t>
            </a:r>
            <a:r>
              <a:rPr lang="es">
                <a:solidFill>
                  <a:srgbClr val="188038"/>
                </a:solidFill>
              </a:rPr>
              <a:t>TABLE</a:t>
            </a:r>
            <a:r>
              <a:rPr lang="es">
                <a:solidFill>
                  <a:srgbClr val="000000"/>
                </a:solidFill>
              </a:rPr>
              <a:t> (tablas anidadas) y </a:t>
            </a:r>
            <a:r>
              <a:rPr lang="es">
                <a:solidFill>
                  <a:srgbClr val="188038"/>
                </a:solidFill>
              </a:rPr>
              <a:t>RECORD</a:t>
            </a:r>
            <a:r>
              <a:rPr lang="es">
                <a:solidFill>
                  <a:srgbClr val="000000"/>
                </a:solidFill>
              </a:rPr>
              <a:t>, que permiten manejar datos estructurados directamente en el código procedural.</a:t>
            </a:r>
            <a:endParaRPr>
              <a:solidFill>
                <a:srgbClr val="000000"/>
              </a:solidFill>
            </a:endParaRPr>
          </a:p>
          <a:p>
            <a:pPr indent="-311150" lvl="0" marL="457200" rtl="0" algn="l">
              <a:lnSpc>
                <a:spcPct val="150000"/>
              </a:lnSpc>
              <a:spcBef>
                <a:spcPts val="0"/>
              </a:spcBef>
              <a:spcAft>
                <a:spcPts val="0"/>
              </a:spcAft>
              <a:buClr>
                <a:srgbClr val="000000"/>
              </a:buClr>
              <a:buSzPts val="1300"/>
              <a:buFont typeface="Arial"/>
              <a:buChar char="●"/>
            </a:pPr>
            <a:r>
              <a:rPr b="1" lang="es">
                <a:solidFill>
                  <a:srgbClr val="000000"/>
                </a:solidFill>
              </a:rPr>
              <a:t>Encapsulación y Reutilización:</a:t>
            </a:r>
            <a:r>
              <a:rPr lang="es">
                <a:solidFill>
                  <a:srgbClr val="000000"/>
                </a:solidFill>
              </a:rPr>
              <a:t> Los paquetes permiten crear una API (interfaz de programación de aplicaciones) pública y ocultar los detalles de implementación, una característica clave de la programación orientada a objetos (POO).</a:t>
            </a:r>
            <a:endParaRPr>
              <a:solidFill>
                <a:srgbClr val="000000"/>
              </a:solidFill>
            </a:endParaRPr>
          </a:p>
          <a:p>
            <a:pPr indent="0" lvl="0" marL="0" rtl="0" algn="l">
              <a:lnSpc>
                <a:spcPct val="150000"/>
              </a:lnSpc>
              <a:spcBef>
                <a:spcPts val="1200"/>
              </a:spcBef>
              <a:spcAft>
                <a:spcPts val="1200"/>
              </a:spcAft>
              <a:buNone/>
            </a:pPr>
            <a:r>
              <a:rPr lang="es">
                <a:solidFill>
                  <a:srgbClr val="000000"/>
                </a:solidFill>
              </a:rPr>
              <a:t>Sus procedimientos son muy flexibles. Se pueden agrupar en </a:t>
            </a:r>
            <a:r>
              <a:rPr b="1" lang="es">
                <a:solidFill>
                  <a:srgbClr val="000000"/>
                </a:solidFill>
              </a:rPr>
              <a:t>paquetes</a:t>
            </a:r>
            <a:r>
              <a:rPr lang="es">
                <a:solidFill>
                  <a:srgbClr val="000000"/>
                </a:solidFill>
              </a:rPr>
              <a:t>, lo que permite una </a:t>
            </a:r>
            <a:r>
              <a:rPr b="1" lang="es">
                <a:solidFill>
                  <a:srgbClr val="000000"/>
                </a:solidFill>
              </a:rPr>
              <a:t>arquitectura modular</a:t>
            </a:r>
            <a:r>
              <a:rPr lang="es">
                <a:solidFill>
                  <a:srgbClr val="000000"/>
                </a:solidFill>
              </a:rPr>
              <a:t> y la </a:t>
            </a:r>
            <a:r>
              <a:rPr b="1" lang="es">
                <a:solidFill>
                  <a:srgbClr val="000000"/>
                </a:solidFill>
              </a:rPr>
              <a:t>ocultación de la implementación</a:t>
            </a:r>
            <a:r>
              <a:rPr lang="es">
                <a:solidFill>
                  <a:srgbClr val="000000"/>
                </a:solidFill>
              </a:rPr>
              <a:t> (encapsulación), una característica de POO.</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64"/>
          <p:cNvSpPr txBox="1"/>
          <p:nvPr>
            <p:ph type="title"/>
          </p:nvPr>
        </p:nvSpPr>
        <p:spPr>
          <a:xfrm>
            <a:off x="830400" y="6560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SQL Server T-SQL</a:t>
            </a:r>
            <a:endParaRPr/>
          </a:p>
        </p:txBody>
      </p:sp>
      <p:sp>
        <p:nvSpPr>
          <p:cNvPr id="471" name="Google Shape;471;p64"/>
          <p:cNvSpPr txBox="1"/>
          <p:nvPr>
            <p:ph idx="1" type="body"/>
          </p:nvPr>
        </p:nvSpPr>
        <p:spPr>
          <a:xfrm>
            <a:off x="336975" y="1237075"/>
            <a:ext cx="4166700" cy="31029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s">
                <a:solidFill>
                  <a:srgbClr val="000000"/>
                </a:solidFill>
              </a:rPr>
              <a:t>Sus procedimientos son el corazón del lenguaje.</a:t>
            </a:r>
            <a:endParaRPr>
              <a:solidFill>
                <a:srgbClr val="000000"/>
              </a:solidFill>
            </a:endParaRPr>
          </a:p>
          <a:p>
            <a:pPr indent="0" lvl="0" marL="0" rtl="0" algn="l">
              <a:lnSpc>
                <a:spcPct val="150000"/>
              </a:lnSpc>
              <a:spcBef>
                <a:spcPts val="1200"/>
              </a:spcBef>
              <a:spcAft>
                <a:spcPts val="0"/>
              </a:spcAft>
              <a:buNone/>
            </a:pPr>
            <a:r>
              <a:rPr lang="es">
                <a:solidFill>
                  <a:srgbClr val="000000"/>
                </a:solidFill>
              </a:rPr>
              <a:t>Están fuertemente optimizados para el </a:t>
            </a:r>
            <a:r>
              <a:rPr b="1" lang="es">
                <a:solidFill>
                  <a:srgbClr val="000000"/>
                </a:solidFill>
              </a:rPr>
              <a:t>manejo de transacciones</a:t>
            </a:r>
            <a:r>
              <a:rPr lang="es">
                <a:solidFill>
                  <a:srgbClr val="000000"/>
                </a:solidFill>
              </a:rPr>
              <a:t> y son a menudo el método preferido para ejecutar lógica de negocio en la base de datos.</a:t>
            </a:r>
            <a:endParaRPr>
              <a:solidFill>
                <a:srgbClr val="000000"/>
              </a:solidFill>
            </a:endParaRPr>
          </a:p>
          <a:p>
            <a:pPr indent="-311150" lvl="0" marL="457200" rtl="0" algn="l">
              <a:lnSpc>
                <a:spcPct val="150000"/>
              </a:lnSpc>
              <a:spcBef>
                <a:spcPts val="1200"/>
              </a:spcBef>
              <a:spcAft>
                <a:spcPts val="0"/>
              </a:spcAft>
              <a:buSzPts val="1300"/>
              <a:buChar char="●"/>
            </a:pPr>
            <a:r>
              <a:rPr b="1" lang="es">
                <a:solidFill>
                  <a:srgbClr val="000000"/>
                </a:solidFill>
              </a:rPr>
              <a:t>Manipulación de Datos y Conjuntos:</a:t>
            </a:r>
            <a:r>
              <a:rPr lang="es">
                <a:solidFill>
                  <a:srgbClr val="000000"/>
                </a:solidFill>
              </a:rPr>
              <a:t> T-SQL tiene extensiones poderosas para el procesamiento de conjuntos de datos, como </a:t>
            </a:r>
            <a:r>
              <a:rPr lang="es">
                <a:solidFill>
                  <a:srgbClr val="188038"/>
                </a:solidFill>
              </a:rPr>
              <a:t>PIVOT</a:t>
            </a:r>
            <a:r>
              <a:rPr lang="es">
                <a:solidFill>
                  <a:srgbClr val="000000"/>
                </a:solidFill>
              </a:rPr>
              <a:t>, </a:t>
            </a:r>
            <a:r>
              <a:rPr lang="es">
                <a:solidFill>
                  <a:srgbClr val="188038"/>
                </a:solidFill>
              </a:rPr>
              <a:t>UNPIVOT</a:t>
            </a:r>
            <a:r>
              <a:rPr lang="es">
                <a:solidFill>
                  <a:srgbClr val="000000"/>
                </a:solidFill>
              </a:rPr>
              <a:t> y la cláusula </a:t>
            </a:r>
            <a:r>
              <a:rPr lang="es">
                <a:solidFill>
                  <a:srgbClr val="188038"/>
                </a:solidFill>
              </a:rPr>
              <a:t>APPLY</a:t>
            </a:r>
            <a:r>
              <a:rPr lang="es">
                <a:solidFill>
                  <a:srgbClr val="000000"/>
                </a:solidFill>
              </a:rPr>
              <a:t>.</a:t>
            </a:r>
            <a:endParaRPr>
              <a:solidFill>
                <a:srgbClr val="000000"/>
              </a:solidFill>
            </a:endParaRPr>
          </a:p>
          <a:p>
            <a:pPr indent="0" lvl="0" marL="0" rtl="0" algn="l">
              <a:lnSpc>
                <a:spcPct val="150000"/>
              </a:lnSpc>
              <a:spcBef>
                <a:spcPts val="1200"/>
              </a:spcBef>
              <a:spcAft>
                <a:spcPts val="1200"/>
              </a:spcAft>
              <a:buNone/>
            </a:pPr>
            <a:r>
              <a:t/>
            </a:r>
            <a:endParaRPr>
              <a:solidFill>
                <a:srgbClr val="000000"/>
              </a:solidFill>
            </a:endParaRPr>
          </a:p>
        </p:txBody>
      </p:sp>
      <p:sp>
        <p:nvSpPr>
          <p:cNvPr id="472" name="Google Shape;472;p64"/>
          <p:cNvSpPr txBox="1"/>
          <p:nvPr>
            <p:ph idx="2" type="body"/>
          </p:nvPr>
        </p:nvSpPr>
        <p:spPr>
          <a:xfrm>
            <a:off x="4643600" y="1237075"/>
            <a:ext cx="4166700" cy="3780600"/>
          </a:xfrm>
          <a:prstGeom prst="rect">
            <a:avLst/>
          </a:prstGeom>
        </p:spPr>
        <p:txBody>
          <a:bodyPr anchorCtr="0" anchor="t" bIns="91425" lIns="91425" spcFirstLastPara="1" rIns="91425" wrap="square" tIns="91425">
            <a:normAutofit lnSpcReduction="20000"/>
          </a:bodyPr>
          <a:lstStyle/>
          <a:p>
            <a:pPr indent="-311150" lvl="0" marL="457200" rtl="0" algn="l">
              <a:lnSpc>
                <a:spcPct val="150000"/>
              </a:lnSpc>
              <a:spcBef>
                <a:spcPts val="0"/>
              </a:spcBef>
              <a:spcAft>
                <a:spcPts val="0"/>
              </a:spcAft>
              <a:buSzPts val="1300"/>
              <a:buChar char="●"/>
            </a:pPr>
            <a:r>
              <a:rPr b="1" lang="es">
                <a:solidFill>
                  <a:srgbClr val="000000"/>
                </a:solidFill>
              </a:rPr>
              <a:t>Manejo de Errores:</a:t>
            </a:r>
            <a:r>
              <a:rPr lang="es">
                <a:solidFill>
                  <a:srgbClr val="000000"/>
                </a:solidFill>
              </a:rPr>
              <a:t> Utiliza bloques </a:t>
            </a:r>
            <a:r>
              <a:rPr lang="es">
                <a:solidFill>
                  <a:srgbClr val="188038"/>
                </a:solidFill>
              </a:rPr>
              <a:t>TRY...CATCH</a:t>
            </a:r>
            <a:r>
              <a:rPr lang="es">
                <a:solidFill>
                  <a:srgbClr val="000000"/>
                </a:solidFill>
              </a:rPr>
              <a:t> similares a los de lenguajes como C#. Esto ofrece un enfoque estructurado para el manejo de errores.</a:t>
            </a:r>
            <a:endParaRPr>
              <a:solidFill>
                <a:srgbClr val="000000"/>
              </a:solidFill>
            </a:endParaRPr>
          </a:p>
          <a:p>
            <a:pPr indent="-311150" lvl="0" marL="457200" rtl="0" algn="l">
              <a:lnSpc>
                <a:spcPct val="150000"/>
              </a:lnSpc>
              <a:spcBef>
                <a:spcPts val="0"/>
              </a:spcBef>
              <a:spcAft>
                <a:spcPts val="0"/>
              </a:spcAft>
              <a:buClr>
                <a:srgbClr val="000000"/>
              </a:buClr>
              <a:buSzPts val="1300"/>
              <a:buChar char="●"/>
            </a:pPr>
            <a:r>
              <a:rPr b="1" lang="es">
                <a:solidFill>
                  <a:srgbClr val="000000"/>
                </a:solidFill>
              </a:rPr>
              <a:t>Lenguaje de Scripting:</a:t>
            </a:r>
            <a:r>
              <a:rPr lang="es">
                <a:solidFill>
                  <a:srgbClr val="000000"/>
                </a:solidFill>
              </a:rPr>
              <a:t> A menudo se utiliza como un lenguaje de scripting para tareas de administración, como realizar copias de seguridad o gestionar la base de datos.</a:t>
            </a:r>
            <a:endParaRPr>
              <a:solidFill>
                <a:srgbClr val="000000"/>
              </a:solidFill>
            </a:endParaRPr>
          </a:p>
          <a:p>
            <a:pPr indent="-311150" lvl="0" marL="457200" rtl="0" algn="l">
              <a:lnSpc>
                <a:spcPct val="150000"/>
              </a:lnSpc>
              <a:spcBef>
                <a:spcPts val="0"/>
              </a:spcBef>
              <a:spcAft>
                <a:spcPts val="0"/>
              </a:spcAft>
              <a:buClr>
                <a:srgbClr val="000000"/>
              </a:buClr>
              <a:buSzPts val="1300"/>
              <a:buChar char="●"/>
            </a:pPr>
            <a:r>
              <a:rPr b="1" lang="es">
                <a:solidFill>
                  <a:srgbClr val="000000"/>
                </a:solidFill>
              </a:rPr>
              <a:t>Procedimientos Almacenados:</a:t>
            </a:r>
            <a:r>
              <a:rPr lang="es">
                <a:solidFill>
                  <a:srgbClr val="000000"/>
                </a:solidFill>
              </a:rPr>
              <a:t> Se usan ampliamente para la lógica de negocio. Tienen un control de transacciones robusto y pueden ejecutar sentencias DDL y DML.</a:t>
            </a:r>
            <a:endParaRPr>
              <a:solidFill>
                <a:srgbClr val="000000"/>
              </a:solidFill>
            </a:endParaRPr>
          </a:p>
          <a:p>
            <a:pPr indent="0" lvl="0" marL="0" rtl="0" algn="l">
              <a:lnSpc>
                <a:spcPct val="150000"/>
              </a:lnSpc>
              <a:spcBef>
                <a:spcPts val="1200"/>
              </a:spcBef>
              <a:spcAft>
                <a:spcPts val="1200"/>
              </a:spcAft>
              <a:buNone/>
            </a:pPr>
            <a:r>
              <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65"/>
          <p:cNvSpPr txBox="1"/>
          <p:nvPr>
            <p:ph type="title"/>
          </p:nvPr>
        </p:nvSpPr>
        <p:spPr>
          <a:xfrm>
            <a:off x="830400" y="6560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PostgreSQL (PL/pgSQL)</a:t>
            </a:r>
            <a:endParaRPr/>
          </a:p>
          <a:p>
            <a:pPr indent="0" lvl="0" marL="0" rtl="0" algn="l">
              <a:spcBef>
                <a:spcPts val="0"/>
              </a:spcBef>
              <a:spcAft>
                <a:spcPts val="0"/>
              </a:spcAft>
              <a:buNone/>
            </a:pPr>
            <a:r>
              <a:t/>
            </a:r>
            <a:endParaRPr/>
          </a:p>
        </p:txBody>
      </p:sp>
      <p:sp>
        <p:nvSpPr>
          <p:cNvPr id="478" name="Google Shape;478;p65"/>
          <p:cNvSpPr txBox="1"/>
          <p:nvPr>
            <p:ph idx="1" type="body"/>
          </p:nvPr>
        </p:nvSpPr>
        <p:spPr>
          <a:xfrm>
            <a:off x="336975" y="1237075"/>
            <a:ext cx="4166700" cy="3769500"/>
          </a:xfrm>
          <a:prstGeom prst="rect">
            <a:avLst/>
          </a:prstGeom>
        </p:spPr>
        <p:txBody>
          <a:bodyPr anchorCtr="0" anchor="t" bIns="91425" lIns="91425" spcFirstLastPara="1" rIns="91425" wrap="square" tIns="91425">
            <a:normAutofit/>
          </a:bodyPr>
          <a:lstStyle/>
          <a:p>
            <a:pPr indent="0" lvl="0" marL="0" rtl="0" algn="l">
              <a:lnSpc>
                <a:spcPct val="150000"/>
              </a:lnSpc>
              <a:spcBef>
                <a:spcPts val="1200"/>
              </a:spcBef>
              <a:spcAft>
                <a:spcPts val="0"/>
              </a:spcAft>
              <a:buNone/>
            </a:pPr>
            <a:r>
              <a:rPr lang="es">
                <a:solidFill>
                  <a:srgbClr val="000000"/>
                </a:solidFill>
              </a:rPr>
              <a:t>PL/pgSQL se distingue por su </a:t>
            </a:r>
            <a:r>
              <a:rPr b="1" lang="es">
                <a:solidFill>
                  <a:srgbClr val="000000"/>
                </a:solidFill>
              </a:rPr>
              <a:t>simplicidad, extensibilidad</a:t>
            </a:r>
            <a:r>
              <a:rPr lang="es">
                <a:solidFill>
                  <a:srgbClr val="000000"/>
                </a:solidFill>
              </a:rPr>
              <a:t> y por ser de código abierto.</a:t>
            </a:r>
            <a:endParaRPr>
              <a:solidFill>
                <a:srgbClr val="000000"/>
              </a:solidFill>
            </a:endParaRPr>
          </a:p>
          <a:p>
            <a:pPr indent="-311150" lvl="0" marL="457200" rtl="0" algn="l">
              <a:lnSpc>
                <a:spcPct val="150000"/>
              </a:lnSpc>
              <a:spcBef>
                <a:spcPts val="1200"/>
              </a:spcBef>
              <a:spcAft>
                <a:spcPts val="0"/>
              </a:spcAft>
              <a:buClr>
                <a:srgbClr val="000000"/>
              </a:buClr>
              <a:buSzPts val="1300"/>
              <a:buFont typeface="Arial"/>
              <a:buChar char="●"/>
            </a:pPr>
            <a:r>
              <a:rPr b="1" lang="es">
                <a:solidFill>
                  <a:srgbClr val="000000"/>
                </a:solidFill>
              </a:rPr>
              <a:t>Extensibilidad:</a:t>
            </a:r>
            <a:r>
              <a:rPr lang="es">
                <a:solidFill>
                  <a:srgbClr val="000000"/>
                </a:solidFill>
              </a:rPr>
              <a:t> Su característica más notable es la capacidad de escribir funciones y procedimientos en otros lenguajes como </a:t>
            </a:r>
            <a:r>
              <a:rPr b="1" lang="es">
                <a:solidFill>
                  <a:srgbClr val="000000"/>
                </a:solidFill>
              </a:rPr>
              <a:t>Python (PL/Python)</a:t>
            </a:r>
            <a:r>
              <a:rPr lang="es">
                <a:solidFill>
                  <a:srgbClr val="000000"/>
                </a:solidFill>
              </a:rPr>
              <a:t>, </a:t>
            </a:r>
            <a:r>
              <a:rPr b="1" lang="es">
                <a:solidFill>
                  <a:srgbClr val="000000"/>
                </a:solidFill>
              </a:rPr>
              <a:t>Perl (PL/Perl)</a:t>
            </a:r>
            <a:r>
              <a:rPr lang="es">
                <a:solidFill>
                  <a:srgbClr val="000000"/>
                </a:solidFill>
              </a:rPr>
              <a:t> o incluso </a:t>
            </a:r>
            <a:r>
              <a:rPr b="1" lang="es">
                <a:solidFill>
                  <a:srgbClr val="000000"/>
                </a:solidFill>
              </a:rPr>
              <a:t>C</a:t>
            </a:r>
            <a:r>
              <a:rPr lang="es">
                <a:solidFill>
                  <a:srgbClr val="000000"/>
                </a:solidFill>
              </a:rPr>
              <a:t>.</a:t>
            </a:r>
            <a:endParaRPr>
              <a:solidFill>
                <a:srgbClr val="000000"/>
              </a:solidFill>
            </a:endParaRPr>
          </a:p>
          <a:p>
            <a:pPr indent="0" lvl="0" marL="457200" rtl="0" algn="l">
              <a:lnSpc>
                <a:spcPct val="150000"/>
              </a:lnSpc>
              <a:spcBef>
                <a:spcPts val="1200"/>
              </a:spcBef>
              <a:spcAft>
                <a:spcPts val="0"/>
              </a:spcAft>
              <a:buNone/>
            </a:pPr>
            <a:r>
              <a:rPr lang="es">
                <a:solidFill>
                  <a:srgbClr val="000000"/>
                </a:solidFill>
              </a:rPr>
              <a:t>Esto permite a los desarrolladores utilizar bibliotecas externas y la potencia de esos lenguajes directamente en la base de datos.</a:t>
            </a:r>
            <a:endParaRPr>
              <a:solidFill>
                <a:srgbClr val="000000"/>
              </a:solidFill>
            </a:endParaRPr>
          </a:p>
          <a:p>
            <a:pPr indent="0" lvl="0" marL="0" rtl="0" algn="l">
              <a:lnSpc>
                <a:spcPct val="150000"/>
              </a:lnSpc>
              <a:spcBef>
                <a:spcPts val="1200"/>
              </a:spcBef>
              <a:spcAft>
                <a:spcPts val="1200"/>
              </a:spcAft>
              <a:buNone/>
            </a:pPr>
            <a:r>
              <a:t/>
            </a:r>
            <a:endParaRPr/>
          </a:p>
        </p:txBody>
      </p:sp>
      <p:sp>
        <p:nvSpPr>
          <p:cNvPr id="479" name="Google Shape;479;p65"/>
          <p:cNvSpPr txBox="1"/>
          <p:nvPr>
            <p:ph idx="2" type="body"/>
          </p:nvPr>
        </p:nvSpPr>
        <p:spPr>
          <a:xfrm>
            <a:off x="4643600" y="1237075"/>
            <a:ext cx="4166700" cy="3769500"/>
          </a:xfrm>
          <a:prstGeom prst="rect">
            <a:avLst/>
          </a:prstGeom>
        </p:spPr>
        <p:txBody>
          <a:bodyPr anchorCtr="0" anchor="t" bIns="91425" lIns="91425" spcFirstLastPara="1" rIns="91425" wrap="square" tIns="91425">
            <a:normAutofit/>
          </a:bodyPr>
          <a:lstStyle/>
          <a:p>
            <a:pPr indent="-311150" lvl="0" marL="457200" rtl="0" algn="l">
              <a:lnSpc>
                <a:spcPct val="150000"/>
              </a:lnSpc>
              <a:spcBef>
                <a:spcPts val="0"/>
              </a:spcBef>
              <a:spcAft>
                <a:spcPts val="0"/>
              </a:spcAft>
              <a:buSzPts val="1300"/>
              <a:buChar char="●"/>
            </a:pPr>
            <a:r>
              <a:rPr b="1" lang="es">
                <a:solidFill>
                  <a:srgbClr val="000000"/>
                </a:solidFill>
              </a:rPr>
              <a:t>Manejo de Excepciones:</a:t>
            </a:r>
            <a:r>
              <a:rPr lang="es">
                <a:solidFill>
                  <a:srgbClr val="000000"/>
                </a:solidFill>
              </a:rPr>
              <a:t> También tiene un bloque </a:t>
            </a:r>
            <a:r>
              <a:rPr lang="es">
                <a:solidFill>
                  <a:srgbClr val="188038"/>
                </a:solidFill>
              </a:rPr>
              <a:t>EXCEPTION</a:t>
            </a:r>
            <a:r>
              <a:rPr lang="es">
                <a:solidFill>
                  <a:srgbClr val="000000"/>
                </a:solidFill>
              </a:rPr>
              <a:t> al final de sus bloques </a:t>
            </a:r>
            <a:r>
              <a:rPr lang="es">
                <a:solidFill>
                  <a:srgbClr val="188038"/>
                </a:solidFill>
              </a:rPr>
              <a:t>BEGIN...END</a:t>
            </a:r>
            <a:r>
              <a:rPr lang="es">
                <a:solidFill>
                  <a:srgbClr val="000000"/>
                </a:solidFill>
              </a:rPr>
              <a:t>. El manejo de errores es sólido, con nombres de errores que se adhieren a los estándares SQL.</a:t>
            </a:r>
            <a:endParaRPr>
              <a:solidFill>
                <a:srgbClr val="000000"/>
              </a:solidFill>
            </a:endParaRPr>
          </a:p>
          <a:p>
            <a:pPr indent="-311150" lvl="0" marL="457200" rtl="0" algn="l">
              <a:lnSpc>
                <a:spcPct val="150000"/>
              </a:lnSpc>
              <a:spcBef>
                <a:spcPts val="0"/>
              </a:spcBef>
              <a:spcAft>
                <a:spcPts val="0"/>
              </a:spcAft>
              <a:buSzPts val="1300"/>
              <a:buChar char="●"/>
            </a:pPr>
            <a:r>
              <a:rPr b="1" lang="es">
                <a:solidFill>
                  <a:srgbClr val="000000"/>
                </a:solidFill>
              </a:rPr>
              <a:t>Bucles Avanzados:</a:t>
            </a:r>
            <a:r>
              <a:rPr lang="es">
                <a:solidFill>
                  <a:srgbClr val="000000"/>
                </a:solidFill>
              </a:rPr>
              <a:t> Incluye bucles </a:t>
            </a:r>
            <a:r>
              <a:rPr lang="es">
                <a:solidFill>
                  <a:srgbClr val="188038"/>
                </a:solidFill>
              </a:rPr>
              <a:t>FOR</a:t>
            </a:r>
            <a:r>
              <a:rPr lang="es">
                <a:solidFill>
                  <a:srgbClr val="000000"/>
                </a:solidFill>
              </a:rPr>
              <a:t> que pueden iterar directamente sobre el resultado de una consulta (</a:t>
            </a:r>
            <a:r>
              <a:rPr lang="es">
                <a:solidFill>
                  <a:srgbClr val="188038"/>
                </a:solidFill>
              </a:rPr>
              <a:t>FOR record_var IN query_var LOOP...END LOOP</a:t>
            </a:r>
            <a:r>
              <a:rPr lang="es">
                <a:solidFill>
                  <a:srgbClr val="000000"/>
                </a:solidFill>
              </a:rPr>
              <a:t>), lo que es muy eficiente.</a:t>
            </a:r>
            <a:endParaRPr>
              <a:solidFill>
                <a:srgbClr val="000000"/>
              </a:solidFill>
            </a:endParaRPr>
          </a:p>
          <a:p>
            <a:pPr indent="0" lvl="0" marL="0" rtl="0" algn="l">
              <a:lnSpc>
                <a:spcPct val="150000"/>
              </a:lnSpc>
              <a:spcBef>
                <a:spcPts val="1200"/>
              </a:spcBef>
              <a:spcAft>
                <a:spcPts val="1200"/>
              </a:spcAft>
              <a:buNone/>
            </a:pPr>
            <a:r>
              <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66"/>
          <p:cNvSpPr txBox="1"/>
          <p:nvPr>
            <p:ph type="title"/>
          </p:nvPr>
        </p:nvSpPr>
        <p:spPr>
          <a:xfrm>
            <a:off x="830400" y="6560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MySQL (SQL/PSM)</a:t>
            </a:r>
            <a:endParaRPr/>
          </a:p>
          <a:p>
            <a:pPr indent="0" lvl="0" marL="0" rtl="0" algn="l">
              <a:spcBef>
                <a:spcPts val="0"/>
              </a:spcBef>
              <a:spcAft>
                <a:spcPts val="0"/>
              </a:spcAft>
              <a:buNone/>
            </a:pPr>
            <a:r>
              <a:t/>
            </a:r>
            <a:endParaRPr/>
          </a:p>
        </p:txBody>
      </p:sp>
      <p:sp>
        <p:nvSpPr>
          <p:cNvPr id="485" name="Google Shape;485;p66"/>
          <p:cNvSpPr txBox="1"/>
          <p:nvPr>
            <p:ph idx="1" type="body"/>
          </p:nvPr>
        </p:nvSpPr>
        <p:spPr>
          <a:xfrm>
            <a:off x="729325" y="1237075"/>
            <a:ext cx="3774300" cy="3906300"/>
          </a:xfrm>
          <a:prstGeom prst="rect">
            <a:avLst/>
          </a:prstGeom>
        </p:spPr>
        <p:txBody>
          <a:bodyPr anchorCtr="0" anchor="t" bIns="91425" lIns="91425" spcFirstLastPara="1" rIns="91425" wrap="square" tIns="91425">
            <a:normAutofit/>
          </a:bodyPr>
          <a:lstStyle/>
          <a:p>
            <a:pPr indent="0" lvl="0" marL="0" rtl="0" algn="l">
              <a:lnSpc>
                <a:spcPct val="150000"/>
              </a:lnSpc>
              <a:spcBef>
                <a:spcPts val="1200"/>
              </a:spcBef>
              <a:spcAft>
                <a:spcPts val="0"/>
              </a:spcAft>
              <a:buNone/>
            </a:pPr>
            <a:r>
              <a:rPr lang="es">
                <a:solidFill>
                  <a:srgbClr val="000000"/>
                </a:solidFill>
              </a:rPr>
              <a:t>El lenguaje procedural de MySQL se centra en la </a:t>
            </a:r>
            <a:r>
              <a:rPr b="1" lang="es">
                <a:solidFill>
                  <a:srgbClr val="000000"/>
                </a:solidFill>
              </a:rPr>
              <a:t>funcionalidad esencial</a:t>
            </a:r>
            <a:r>
              <a:rPr lang="es">
                <a:solidFill>
                  <a:srgbClr val="000000"/>
                </a:solidFill>
              </a:rPr>
              <a:t>.</a:t>
            </a:r>
            <a:endParaRPr>
              <a:solidFill>
                <a:srgbClr val="000000"/>
              </a:solidFill>
            </a:endParaRPr>
          </a:p>
          <a:p>
            <a:pPr indent="0" lvl="0" marL="0" rtl="0" algn="l">
              <a:lnSpc>
                <a:spcPct val="150000"/>
              </a:lnSpc>
              <a:spcBef>
                <a:spcPts val="1200"/>
              </a:spcBef>
              <a:spcAft>
                <a:spcPts val="1200"/>
              </a:spcAft>
              <a:buNone/>
            </a:pPr>
            <a:r>
              <a:rPr b="1" lang="es">
                <a:solidFill>
                  <a:srgbClr val="000000"/>
                </a:solidFill>
              </a:rPr>
              <a:t>Funcionalidad Básica:</a:t>
            </a:r>
            <a:r>
              <a:rPr lang="es">
                <a:solidFill>
                  <a:srgbClr val="000000"/>
                </a:solidFill>
              </a:rPr>
              <a:t> Es el más básico de los tres principales. Aunque soporta procedimientos, funciones, </a:t>
            </a:r>
            <a:r>
              <a:rPr lang="es">
                <a:solidFill>
                  <a:srgbClr val="188038"/>
                </a:solidFill>
              </a:rPr>
              <a:t>triggers</a:t>
            </a:r>
            <a:r>
              <a:rPr lang="es">
                <a:solidFill>
                  <a:srgbClr val="000000"/>
                </a:solidFill>
              </a:rPr>
              <a:t> y cursores, carece de las características más avanzadas de POO de PL/SQL o las extensiones de conjuntos de T-SQL.</a:t>
            </a:r>
            <a:endParaRPr/>
          </a:p>
        </p:txBody>
      </p:sp>
      <p:sp>
        <p:nvSpPr>
          <p:cNvPr id="486" name="Google Shape;486;p66"/>
          <p:cNvSpPr txBox="1"/>
          <p:nvPr>
            <p:ph idx="2" type="body"/>
          </p:nvPr>
        </p:nvSpPr>
        <p:spPr>
          <a:xfrm>
            <a:off x="4643600" y="1237075"/>
            <a:ext cx="3774300" cy="39063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s">
                <a:solidFill>
                  <a:srgbClr val="000000"/>
                </a:solidFill>
              </a:rPr>
              <a:t>Manejo de Errores:</a:t>
            </a:r>
            <a:r>
              <a:rPr lang="es">
                <a:solidFill>
                  <a:srgbClr val="000000"/>
                </a:solidFill>
              </a:rPr>
              <a:t> Utiliza el manejo de </a:t>
            </a:r>
            <a:r>
              <a:rPr lang="es">
                <a:solidFill>
                  <a:srgbClr val="188038"/>
                </a:solidFill>
              </a:rPr>
              <a:t>HANDLER</a:t>
            </a:r>
            <a:r>
              <a:rPr lang="es">
                <a:solidFill>
                  <a:srgbClr val="000000"/>
                </a:solidFill>
              </a:rPr>
              <a:t> para errores, lo que es menos intuitivo que los bloques </a:t>
            </a:r>
            <a:r>
              <a:rPr lang="es">
                <a:solidFill>
                  <a:srgbClr val="188038"/>
                </a:solidFill>
              </a:rPr>
              <a:t>TRY/CATCH</a:t>
            </a:r>
            <a:r>
              <a:rPr lang="es">
                <a:solidFill>
                  <a:srgbClr val="000000"/>
                </a:solidFill>
              </a:rPr>
              <a:t> o </a:t>
            </a:r>
            <a:r>
              <a:rPr lang="es">
                <a:solidFill>
                  <a:srgbClr val="188038"/>
                </a:solidFill>
              </a:rPr>
              <a:t>EXCEPTION</a:t>
            </a:r>
            <a:r>
              <a:rPr lang="es">
                <a:solidFill>
                  <a:srgbClr val="000000"/>
                </a:solidFill>
              </a:rPr>
              <a:t> de otros sistemas. Por ejemplo, </a:t>
            </a:r>
            <a:r>
              <a:rPr lang="es">
                <a:solidFill>
                  <a:srgbClr val="188038"/>
                </a:solidFill>
              </a:rPr>
              <a:t>DECLARE EXIT HANDLER FOR NOT FOUND...</a:t>
            </a:r>
            <a:r>
              <a:rPr lang="es">
                <a:solidFill>
                  <a:srgbClr val="000000"/>
                </a:solidFill>
              </a:rPr>
              <a:t> para gestionar un error cuando una consulta no encuentra un registro.</a:t>
            </a:r>
            <a:endParaRPr>
              <a:solidFill>
                <a:srgbClr val="000000"/>
              </a:solidFill>
            </a:endParaRPr>
          </a:p>
          <a:p>
            <a:pPr indent="0" lvl="0" marL="0" rtl="0" algn="l">
              <a:lnSpc>
                <a:spcPct val="150000"/>
              </a:lnSpc>
              <a:spcBef>
                <a:spcPts val="1200"/>
              </a:spcBef>
              <a:spcAft>
                <a:spcPts val="1200"/>
              </a:spcAft>
              <a:buNone/>
            </a:pPr>
            <a:r>
              <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67"/>
          <p:cNvSpPr txBox="1"/>
          <p:nvPr>
            <p:ph type="title"/>
          </p:nvPr>
        </p:nvSpPr>
        <p:spPr>
          <a:xfrm>
            <a:off x="830400" y="262925"/>
            <a:ext cx="7688400" cy="928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Un ejemplo, de cómo afecta implementar una solución en un lenguaje concreto.</a:t>
            </a:r>
            <a:endParaRPr/>
          </a:p>
        </p:txBody>
      </p:sp>
      <p:sp>
        <p:nvSpPr>
          <p:cNvPr id="492" name="Google Shape;492;p67"/>
          <p:cNvSpPr txBox="1"/>
          <p:nvPr>
            <p:ph idx="1" type="body"/>
          </p:nvPr>
        </p:nvSpPr>
        <p:spPr>
          <a:xfrm>
            <a:off x="729325" y="1237075"/>
            <a:ext cx="3774300" cy="31029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0"/>
              </a:spcAft>
              <a:buNone/>
            </a:pPr>
            <a:r>
              <a:rPr lang="es">
                <a:solidFill>
                  <a:srgbClr val="000000"/>
                </a:solidFill>
              </a:rPr>
              <a:t>Un </a:t>
            </a:r>
            <a:r>
              <a:rPr b="1" lang="es">
                <a:solidFill>
                  <a:srgbClr val="000000"/>
                </a:solidFill>
              </a:rPr>
              <a:t>PIVOT</a:t>
            </a:r>
            <a:r>
              <a:rPr lang="es">
                <a:solidFill>
                  <a:srgbClr val="000000"/>
                </a:solidFill>
              </a:rPr>
              <a:t> es una operación en SQL que transforma filas en columnas. </a:t>
            </a:r>
            <a:endParaRPr>
              <a:solidFill>
                <a:srgbClr val="000000"/>
              </a:solidFill>
            </a:endParaRPr>
          </a:p>
          <a:p>
            <a:pPr indent="0" lvl="0" marL="0" rtl="0" algn="l">
              <a:lnSpc>
                <a:spcPct val="150000"/>
              </a:lnSpc>
              <a:spcBef>
                <a:spcPts val="1200"/>
              </a:spcBef>
              <a:spcAft>
                <a:spcPts val="0"/>
              </a:spcAft>
              <a:buNone/>
            </a:pPr>
            <a:r>
              <a:rPr lang="es">
                <a:solidFill>
                  <a:srgbClr val="000000"/>
                </a:solidFill>
              </a:rPr>
              <a:t>Su principal uso es </a:t>
            </a:r>
            <a:r>
              <a:rPr b="1" lang="es">
                <a:solidFill>
                  <a:srgbClr val="000000"/>
                </a:solidFill>
              </a:rPr>
              <a:t>rotar los datos de una tabla para que los valores únicos de una columna se conviertan en los nombres de las nuevas columnas.</a:t>
            </a:r>
            <a:endParaRPr b="1">
              <a:solidFill>
                <a:srgbClr val="000000"/>
              </a:solidFill>
            </a:endParaRPr>
          </a:p>
          <a:p>
            <a:pPr indent="0" lvl="0" marL="0" rtl="0" algn="l">
              <a:lnSpc>
                <a:spcPct val="150000"/>
              </a:lnSpc>
              <a:spcBef>
                <a:spcPts val="1200"/>
              </a:spcBef>
              <a:spcAft>
                <a:spcPts val="1200"/>
              </a:spcAft>
              <a:buNone/>
            </a:pPr>
            <a:r>
              <a:rPr lang="es">
                <a:solidFill>
                  <a:srgbClr val="000000"/>
                </a:solidFill>
              </a:rPr>
              <a:t>Esto es muy útil para generar reportes, ya que hace que los datos sean más fáciles de leer y analizar.</a:t>
            </a:r>
            <a:endParaRPr/>
          </a:p>
        </p:txBody>
      </p:sp>
      <p:sp>
        <p:nvSpPr>
          <p:cNvPr id="493" name="Google Shape;493;p67"/>
          <p:cNvSpPr txBox="1"/>
          <p:nvPr>
            <p:ph idx="2" type="body"/>
          </p:nvPr>
        </p:nvSpPr>
        <p:spPr>
          <a:xfrm>
            <a:off x="4643600" y="1237075"/>
            <a:ext cx="3774300" cy="10143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1200"/>
              </a:spcAft>
              <a:buNone/>
            </a:pPr>
            <a:r>
              <a:rPr lang="es"/>
              <a:t>Imagina que tienes una tabla de ventas por mes, pero quieres ver las ventas de cada vendedor en una sola fila, con los meses como columnas.</a:t>
            </a:r>
            <a:endParaRPr/>
          </a:p>
        </p:txBody>
      </p:sp>
      <p:graphicFrame>
        <p:nvGraphicFramePr>
          <p:cNvPr id="494" name="Google Shape;494;p67"/>
          <p:cNvGraphicFramePr/>
          <p:nvPr/>
        </p:nvGraphicFramePr>
        <p:xfrm>
          <a:off x="5102000" y="2471768"/>
          <a:ext cx="3000000" cy="3000000"/>
        </p:xfrm>
        <a:graphic>
          <a:graphicData uri="http://schemas.openxmlformats.org/drawingml/2006/table">
            <a:tbl>
              <a:tblPr>
                <a:noFill/>
                <a:tableStyleId>{A93C4C41-8EF1-4E32-AC6D-5B815111848D}</a:tableStyleId>
              </a:tblPr>
              <a:tblGrid>
                <a:gridCol w="952500"/>
                <a:gridCol w="952500"/>
                <a:gridCol w="952500"/>
              </a:tblGrid>
              <a:tr h="200025">
                <a:tc>
                  <a:txBody>
                    <a:bodyPr/>
                    <a:lstStyle/>
                    <a:p>
                      <a:pPr indent="0" lvl="0" marL="0" rtl="0" algn="l">
                        <a:lnSpc>
                          <a:spcPct val="115000"/>
                        </a:lnSpc>
                        <a:spcBef>
                          <a:spcPts val="0"/>
                        </a:spcBef>
                        <a:spcAft>
                          <a:spcPts val="0"/>
                        </a:spcAft>
                        <a:buNone/>
                      </a:pPr>
                      <a:r>
                        <a:rPr b="1" lang="es" sz="1300">
                          <a:latin typeface="Lato"/>
                          <a:ea typeface="Lato"/>
                          <a:cs typeface="Lato"/>
                          <a:sym typeface="Lato"/>
                        </a:rPr>
                        <a:t>Vendedor</a:t>
                      </a:r>
                      <a:endParaRPr b="1" sz="13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300">
                          <a:latin typeface="Lato"/>
                          <a:ea typeface="Lato"/>
                          <a:cs typeface="Lato"/>
                          <a:sym typeface="Lato"/>
                        </a:rPr>
                        <a:t>Mes</a:t>
                      </a:r>
                      <a:endParaRPr b="1" sz="13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300">
                          <a:latin typeface="Lato"/>
                          <a:ea typeface="Lato"/>
                          <a:cs typeface="Lato"/>
                          <a:sym typeface="Lato"/>
                        </a:rPr>
                        <a:t>Ventas</a:t>
                      </a:r>
                      <a:endParaRPr b="1" sz="13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s" sz="1300">
                          <a:latin typeface="Lato"/>
                          <a:ea typeface="Lato"/>
                          <a:cs typeface="Lato"/>
                          <a:sym typeface="Lato"/>
                        </a:rPr>
                        <a:t>Juan</a:t>
                      </a:r>
                      <a:endParaRPr sz="13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300">
                          <a:latin typeface="Lato"/>
                          <a:ea typeface="Lato"/>
                          <a:cs typeface="Lato"/>
                          <a:sym typeface="Lato"/>
                        </a:rPr>
                        <a:t>Enero</a:t>
                      </a:r>
                      <a:endParaRPr sz="13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s" sz="1300">
                          <a:latin typeface="Lato"/>
                          <a:ea typeface="Lato"/>
                          <a:cs typeface="Lato"/>
                          <a:sym typeface="Lato"/>
                        </a:rPr>
                        <a:t>100</a:t>
                      </a:r>
                      <a:endParaRPr sz="13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s" sz="1300">
                          <a:latin typeface="Lato"/>
                          <a:ea typeface="Lato"/>
                          <a:cs typeface="Lato"/>
                          <a:sym typeface="Lato"/>
                        </a:rPr>
                        <a:t>Ana</a:t>
                      </a:r>
                      <a:endParaRPr sz="13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300">
                          <a:latin typeface="Lato"/>
                          <a:ea typeface="Lato"/>
                          <a:cs typeface="Lato"/>
                          <a:sym typeface="Lato"/>
                        </a:rPr>
                        <a:t>Enero</a:t>
                      </a:r>
                      <a:endParaRPr sz="13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s" sz="1300">
                          <a:latin typeface="Lato"/>
                          <a:ea typeface="Lato"/>
                          <a:cs typeface="Lato"/>
                          <a:sym typeface="Lato"/>
                        </a:rPr>
                        <a:t>150</a:t>
                      </a:r>
                      <a:endParaRPr sz="13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s" sz="1300">
                          <a:latin typeface="Lato"/>
                          <a:ea typeface="Lato"/>
                          <a:cs typeface="Lato"/>
                          <a:sym typeface="Lato"/>
                        </a:rPr>
                        <a:t>Juan</a:t>
                      </a:r>
                      <a:endParaRPr sz="13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300">
                          <a:latin typeface="Lato"/>
                          <a:ea typeface="Lato"/>
                          <a:cs typeface="Lato"/>
                          <a:sym typeface="Lato"/>
                        </a:rPr>
                        <a:t>Febrero</a:t>
                      </a:r>
                      <a:endParaRPr sz="13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s" sz="1300">
                          <a:latin typeface="Lato"/>
                          <a:ea typeface="Lato"/>
                          <a:cs typeface="Lato"/>
                          <a:sym typeface="Lato"/>
                        </a:rPr>
                        <a:t>120</a:t>
                      </a:r>
                      <a:endParaRPr sz="13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s" sz="1300">
                          <a:latin typeface="Lato"/>
                          <a:ea typeface="Lato"/>
                          <a:cs typeface="Lato"/>
                          <a:sym typeface="Lato"/>
                        </a:rPr>
                        <a:t>Ana</a:t>
                      </a:r>
                      <a:endParaRPr sz="13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300">
                          <a:latin typeface="Lato"/>
                          <a:ea typeface="Lato"/>
                          <a:cs typeface="Lato"/>
                          <a:sym typeface="Lato"/>
                        </a:rPr>
                        <a:t>Febrero</a:t>
                      </a:r>
                      <a:endParaRPr sz="13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s" sz="1300">
                          <a:latin typeface="Lato"/>
                          <a:ea typeface="Lato"/>
                          <a:cs typeface="Lato"/>
                          <a:sym typeface="Lato"/>
                        </a:rPr>
                        <a:t>180</a:t>
                      </a:r>
                      <a:endParaRPr sz="13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r>
            </a:tbl>
          </a:graphicData>
        </a:graphic>
      </p:graphicFrame>
      <p:graphicFrame>
        <p:nvGraphicFramePr>
          <p:cNvPr id="495" name="Google Shape;495;p67"/>
          <p:cNvGraphicFramePr/>
          <p:nvPr/>
        </p:nvGraphicFramePr>
        <p:xfrm>
          <a:off x="5102000" y="4181195"/>
          <a:ext cx="3000000" cy="3000000"/>
        </p:xfrm>
        <a:graphic>
          <a:graphicData uri="http://schemas.openxmlformats.org/drawingml/2006/table">
            <a:tbl>
              <a:tblPr>
                <a:noFill/>
                <a:tableStyleId>{A93C4C41-8EF1-4E32-AC6D-5B815111848D}</a:tableStyleId>
              </a:tblPr>
              <a:tblGrid>
                <a:gridCol w="952500"/>
                <a:gridCol w="952500"/>
                <a:gridCol w="952500"/>
              </a:tblGrid>
              <a:tr h="200025">
                <a:tc>
                  <a:txBody>
                    <a:bodyPr/>
                    <a:lstStyle/>
                    <a:p>
                      <a:pPr indent="0" lvl="0" marL="0" rtl="0" algn="l">
                        <a:lnSpc>
                          <a:spcPct val="115000"/>
                        </a:lnSpc>
                        <a:spcBef>
                          <a:spcPts val="0"/>
                        </a:spcBef>
                        <a:spcAft>
                          <a:spcPts val="0"/>
                        </a:spcAft>
                        <a:buNone/>
                      </a:pPr>
                      <a:r>
                        <a:rPr b="1" lang="es" sz="1300">
                          <a:latin typeface="Lato"/>
                          <a:ea typeface="Lato"/>
                          <a:cs typeface="Lato"/>
                          <a:sym typeface="Lato"/>
                        </a:rPr>
                        <a:t>Vendedor</a:t>
                      </a:r>
                      <a:endParaRPr b="1" sz="13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300">
                          <a:latin typeface="Lato"/>
                          <a:ea typeface="Lato"/>
                          <a:cs typeface="Lato"/>
                          <a:sym typeface="Lato"/>
                        </a:rPr>
                        <a:t>Enero</a:t>
                      </a:r>
                      <a:endParaRPr b="1" sz="13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300">
                          <a:latin typeface="Lato"/>
                          <a:ea typeface="Lato"/>
                          <a:cs typeface="Lato"/>
                          <a:sym typeface="Lato"/>
                        </a:rPr>
                        <a:t>Febrero</a:t>
                      </a:r>
                      <a:endParaRPr b="1" sz="13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s" sz="1300">
                          <a:latin typeface="Lato"/>
                          <a:ea typeface="Lato"/>
                          <a:cs typeface="Lato"/>
                          <a:sym typeface="Lato"/>
                        </a:rPr>
                        <a:t>Juan</a:t>
                      </a:r>
                      <a:endParaRPr sz="13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s" sz="1300">
                          <a:latin typeface="Lato"/>
                          <a:ea typeface="Lato"/>
                          <a:cs typeface="Lato"/>
                          <a:sym typeface="Lato"/>
                        </a:rPr>
                        <a:t>100</a:t>
                      </a:r>
                      <a:endParaRPr sz="13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s" sz="1300">
                          <a:latin typeface="Lato"/>
                          <a:ea typeface="Lato"/>
                          <a:cs typeface="Lato"/>
                          <a:sym typeface="Lato"/>
                        </a:rPr>
                        <a:t>120</a:t>
                      </a:r>
                      <a:endParaRPr sz="13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s" sz="1300">
                          <a:latin typeface="Lato"/>
                          <a:ea typeface="Lato"/>
                          <a:cs typeface="Lato"/>
                          <a:sym typeface="Lato"/>
                        </a:rPr>
                        <a:t>Ana</a:t>
                      </a:r>
                      <a:endParaRPr sz="13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s" sz="1300">
                          <a:latin typeface="Lato"/>
                          <a:ea typeface="Lato"/>
                          <a:cs typeface="Lato"/>
                          <a:sym typeface="Lato"/>
                        </a:rPr>
                        <a:t>150</a:t>
                      </a:r>
                      <a:endParaRPr sz="13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s" sz="1300">
                          <a:latin typeface="Lato"/>
                          <a:ea typeface="Lato"/>
                          <a:cs typeface="Lato"/>
                          <a:sym typeface="Lato"/>
                        </a:rPr>
                        <a:t>180</a:t>
                      </a:r>
                      <a:endParaRPr sz="13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r>
            </a:tbl>
          </a:graphicData>
        </a:graphic>
      </p:graphicFrame>
      <p:sp>
        <p:nvSpPr>
          <p:cNvPr id="496" name="Google Shape;496;p67"/>
          <p:cNvSpPr txBox="1"/>
          <p:nvPr/>
        </p:nvSpPr>
        <p:spPr>
          <a:xfrm>
            <a:off x="4751550" y="2195830"/>
            <a:ext cx="3000000" cy="3849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200"/>
              </a:spcAft>
              <a:buNone/>
            </a:pPr>
            <a:r>
              <a:rPr lang="es" sz="1300">
                <a:latin typeface="Lato"/>
                <a:ea typeface="Lato"/>
                <a:cs typeface="Lato"/>
                <a:sym typeface="Lato"/>
              </a:rPr>
              <a:t>Tabla Original</a:t>
            </a:r>
            <a:endParaRPr/>
          </a:p>
        </p:txBody>
      </p:sp>
      <p:sp>
        <p:nvSpPr>
          <p:cNvPr id="497" name="Google Shape;497;p67"/>
          <p:cNvSpPr txBox="1"/>
          <p:nvPr/>
        </p:nvSpPr>
        <p:spPr>
          <a:xfrm>
            <a:off x="4751550" y="3825750"/>
            <a:ext cx="3000000" cy="3849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200"/>
              </a:spcAft>
              <a:buNone/>
            </a:pPr>
            <a:r>
              <a:rPr lang="es" sz="1300">
                <a:latin typeface="Lato"/>
                <a:ea typeface="Lato"/>
                <a:cs typeface="Lato"/>
                <a:sym typeface="Lato"/>
              </a:rPr>
              <a:t>Tabla Pivote</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68"/>
          <p:cNvSpPr txBox="1"/>
          <p:nvPr>
            <p:ph type="title"/>
          </p:nvPr>
        </p:nvSpPr>
        <p:spPr>
          <a:xfrm>
            <a:off x="830400" y="6560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Implementación usando T-SQL</a:t>
            </a:r>
            <a:endParaRPr/>
          </a:p>
        </p:txBody>
      </p:sp>
      <p:sp>
        <p:nvSpPr>
          <p:cNvPr id="503" name="Google Shape;503;p68"/>
          <p:cNvSpPr txBox="1"/>
          <p:nvPr>
            <p:ph idx="1" type="body"/>
          </p:nvPr>
        </p:nvSpPr>
        <p:spPr>
          <a:xfrm>
            <a:off x="729325" y="1237075"/>
            <a:ext cx="3774300" cy="3102900"/>
          </a:xfrm>
          <a:prstGeom prst="rect">
            <a:avLst/>
          </a:prstGeom>
          <a:solidFill>
            <a:srgbClr val="1F1F1F"/>
          </a:solidFill>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s" sz="1400">
                <a:solidFill>
                  <a:srgbClr val="569CD6"/>
                </a:solidFill>
                <a:highlight>
                  <a:srgbClr val="1F1F1F"/>
                </a:highlight>
                <a:latin typeface="Courier New"/>
                <a:ea typeface="Courier New"/>
                <a:cs typeface="Courier New"/>
                <a:sym typeface="Courier New"/>
              </a:rPr>
              <a:t>SELECT</a:t>
            </a:r>
            <a:endParaRPr sz="1400">
              <a:solidFill>
                <a:srgbClr val="569CD6"/>
              </a:solidFill>
              <a:highlight>
                <a:srgbClr val="1F1F1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s" sz="1400">
                <a:solidFill>
                  <a:srgbClr val="CCCCCC"/>
                </a:solidFill>
                <a:highlight>
                  <a:srgbClr val="1F1F1F"/>
                </a:highlight>
                <a:latin typeface="Courier New"/>
                <a:ea typeface="Courier New"/>
                <a:cs typeface="Courier New"/>
                <a:sym typeface="Courier New"/>
              </a:rPr>
              <a:t>  Vendedor</a:t>
            </a:r>
            <a:r>
              <a:rPr lang="es" sz="1400">
                <a:solidFill>
                  <a:srgbClr val="CCCCCC"/>
                </a:solidFill>
                <a:highlight>
                  <a:srgbClr val="1F1F1F"/>
                </a:highlight>
                <a:latin typeface="Courier New"/>
                <a:ea typeface="Courier New"/>
                <a:cs typeface="Courier New"/>
                <a:sym typeface="Courier New"/>
              </a:rPr>
              <a:t>,  </a:t>
            </a:r>
            <a:endParaRPr sz="1400">
              <a:solidFill>
                <a:srgbClr val="CCCCCC"/>
              </a:solidFill>
              <a:highlight>
                <a:srgbClr val="1F1F1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s" sz="1400">
                <a:solidFill>
                  <a:srgbClr val="CCCCCC"/>
                </a:solidFill>
                <a:highlight>
                  <a:srgbClr val="1F1F1F"/>
                </a:highlight>
                <a:latin typeface="Courier New"/>
                <a:ea typeface="Courier New"/>
                <a:cs typeface="Courier New"/>
                <a:sym typeface="Courier New"/>
              </a:rPr>
              <a:t>  [Enero],</a:t>
            </a:r>
            <a:endParaRPr sz="1400">
              <a:solidFill>
                <a:srgbClr val="CCCCCC"/>
              </a:solidFill>
              <a:highlight>
                <a:srgbClr val="1F1F1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s" sz="1400">
                <a:solidFill>
                  <a:srgbClr val="CCCCCC"/>
                </a:solidFill>
                <a:highlight>
                  <a:srgbClr val="1F1F1F"/>
                </a:highlight>
                <a:latin typeface="Courier New"/>
                <a:ea typeface="Courier New"/>
                <a:cs typeface="Courier New"/>
                <a:sym typeface="Courier New"/>
              </a:rPr>
              <a:t>  [Febrero]</a:t>
            </a:r>
            <a:endParaRPr sz="1400">
              <a:solidFill>
                <a:srgbClr val="CCCCCC"/>
              </a:solidFill>
              <a:highlight>
                <a:srgbClr val="1F1F1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s" sz="1400">
                <a:solidFill>
                  <a:srgbClr val="569CD6"/>
                </a:solidFill>
                <a:highlight>
                  <a:srgbClr val="1F1F1F"/>
                </a:highlight>
                <a:latin typeface="Courier New"/>
                <a:ea typeface="Courier New"/>
                <a:cs typeface="Courier New"/>
                <a:sym typeface="Courier New"/>
              </a:rPr>
              <a:t>FROM</a:t>
            </a:r>
            <a:endParaRPr sz="1400">
              <a:solidFill>
                <a:srgbClr val="569CD6"/>
              </a:solidFill>
              <a:highlight>
                <a:srgbClr val="1F1F1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s" sz="1400">
                <a:solidFill>
                  <a:srgbClr val="CCCCCC"/>
                </a:solidFill>
                <a:highlight>
                  <a:srgbClr val="1F1F1F"/>
                </a:highlight>
                <a:latin typeface="Courier New"/>
                <a:ea typeface="Courier New"/>
                <a:cs typeface="Courier New"/>
                <a:sym typeface="Courier New"/>
              </a:rPr>
              <a:t>  (</a:t>
            </a:r>
            <a:endParaRPr sz="1400">
              <a:solidFill>
                <a:srgbClr val="CCCCCC"/>
              </a:solidFill>
              <a:highlight>
                <a:srgbClr val="1F1F1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s" sz="1400">
                <a:solidFill>
                  <a:srgbClr val="CCCCCC"/>
                </a:solidFill>
                <a:highlight>
                  <a:srgbClr val="1F1F1F"/>
                </a:highlight>
                <a:latin typeface="Courier New"/>
                <a:ea typeface="Courier New"/>
                <a:cs typeface="Courier New"/>
                <a:sym typeface="Courier New"/>
              </a:rPr>
              <a:t>    </a:t>
            </a:r>
            <a:r>
              <a:rPr lang="es" sz="1400">
                <a:solidFill>
                  <a:srgbClr val="569CD6"/>
                </a:solidFill>
                <a:highlight>
                  <a:srgbClr val="1F1F1F"/>
                </a:highlight>
                <a:latin typeface="Courier New"/>
                <a:ea typeface="Courier New"/>
                <a:cs typeface="Courier New"/>
                <a:sym typeface="Courier New"/>
              </a:rPr>
              <a:t>SELECT</a:t>
            </a:r>
            <a:r>
              <a:rPr lang="es" sz="1400">
                <a:solidFill>
                  <a:srgbClr val="CCCCCC"/>
                </a:solidFill>
                <a:highlight>
                  <a:srgbClr val="1F1F1F"/>
                </a:highlight>
                <a:latin typeface="Courier New"/>
                <a:ea typeface="Courier New"/>
                <a:cs typeface="Courier New"/>
                <a:sym typeface="Courier New"/>
              </a:rPr>
              <a:t> Vendedor, Mes, Ventas       </a:t>
            </a:r>
            <a:endParaRPr sz="1400">
              <a:solidFill>
                <a:srgbClr val="CCCCCC"/>
              </a:solidFill>
              <a:highlight>
                <a:srgbClr val="1F1F1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s" sz="1400">
                <a:solidFill>
                  <a:srgbClr val="569CD6"/>
                </a:solidFill>
                <a:highlight>
                  <a:srgbClr val="1F1F1F"/>
                </a:highlight>
                <a:latin typeface="Courier New"/>
                <a:ea typeface="Courier New"/>
                <a:cs typeface="Courier New"/>
                <a:sym typeface="Courier New"/>
              </a:rPr>
              <a:t>    FROM</a:t>
            </a:r>
            <a:r>
              <a:rPr lang="es" sz="1400">
                <a:solidFill>
                  <a:srgbClr val="CCCCCC"/>
                </a:solidFill>
                <a:highlight>
                  <a:srgbClr val="1F1F1F"/>
                </a:highlight>
                <a:latin typeface="Courier New"/>
                <a:ea typeface="Courier New"/>
                <a:cs typeface="Courier New"/>
                <a:sym typeface="Courier New"/>
              </a:rPr>
              <a:t> Ventas_original</a:t>
            </a:r>
            <a:endParaRPr sz="1400">
              <a:solidFill>
                <a:srgbClr val="CCCCCC"/>
              </a:solidFill>
              <a:highlight>
                <a:srgbClr val="1F1F1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s" sz="1400">
                <a:solidFill>
                  <a:srgbClr val="CCCCCC"/>
                </a:solidFill>
                <a:highlight>
                  <a:srgbClr val="1F1F1F"/>
                </a:highlight>
                <a:latin typeface="Courier New"/>
                <a:ea typeface="Courier New"/>
                <a:cs typeface="Courier New"/>
                <a:sym typeface="Courier New"/>
              </a:rPr>
              <a:t>  ) </a:t>
            </a:r>
            <a:r>
              <a:rPr lang="es" sz="1400">
                <a:solidFill>
                  <a:srgbClr val="569CD6"/>
                </a:solidFill>
                <a:highlight>
                  <a:srgbClr val="1F1F1F"/>
                </a:highlight>
                <a:latin typeface="Courier New"/>
                <a:ea typeface="Courier New"/>
                <a:cs typeface="Courier New"/>
                <a:sym typeface="Courier New"/>
              </a:rPr>
              <a:t>AS</a:t>
            </a:r>
            <a:r>
              <a:rPr lang="es" sz="1400">
                <a:solidFill>
                  <a:srgbClr val="CCCCCC"/>
                </a:solidFill>
                <a:highlight>
                  <a:srgbClr val="1F1F1F"/>
                </a:highlight>
                <a:latin typeface="Courier New"/>
                <a:ea typeface="Courier New"/>
                <a:cs typeface="Courier New"/>
                <a:sym typeface="Courier New"/>
              </a:rPr>
              <a:t> Fuente</a:t>
            </a:r>
            <a:endParaRPr sz="1400">
              <a:solidFill>
                <a:srgbClr val="CCCCCC"/>
              </a:solidFill>
              <a:highlight>
                <a:srgbClr val="1F1F1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s" sz="1400">
                <a:solidFill>
                  <a:srgbClr val="CCCCCC"/>
                </a:solidFill>
                <a:highlight>
                  <a:srgbClr val="1F1F1F"/>
                </a:highlight>
                <a:latin typeface="Courier New"/>
                <a:ea typeface="Courier New"/>
                <a:cs typeface="Courier New"/>
                <a:sym typeface="Courier New"/>
              </a:rPr>
              <a:t>PIVOT (</a:t>
            </a:r>
            <a:endParaRPr sz="1400">
              <a:solidFill>
                <a:srgbClr val="CCCCCC"/>
              </a:solidFill>
              <a:highlight>
                <a:srgbClr val="1F1F1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s" sz="1400">
                <a:solidFill>
                  <a:srgbClr val="CCCCCC"/>
                </a:solidFill>
                <a:highlight>
                  <a:srgbClr val="1F1F1F"/>
                </a:highlight>
                <a:latin typeface="Courier New"/>
                <a:ea typeface="Courier New"/>
                <a:cs typeface="Courier New"/>
                <a:sym typeface="Courier New"/>
              </a:rPr>
              <a:t>  </a:t>
            </a:r>
            <a:r>
              <a:rPr lang="es" sz="1400">
                <a:solidFill>
                  <a:srgbClr val="DCDCAA"/>
                </a:solidFill>
                <a:highlight>
                  <a:srgbClr val="1F1F1F"/>
                </a:highlight>
                <a:latin typeface="Courier New"/>
                <a:ea typeface="Courier New"/>
                <a:cs typeface="Courier New"/>
                <a:sym typeface="Courier New"/>
              </a:rPr>
              <a:t>SUM</a:t>
            </a:r>
            <a:r>
              <a:rPr lang="es" sz="1400">
                <a:solidFill>
                  <a:srgbClr val="CCCCCC"/>
                </a:solidFill>
                <a:highlight>
                  <a:srgbClr val="1F1F1F"/>
                </a:highlight>
                <a:latin typeface="Courier New"/>
                <a:ea typeface="Courier New"/>
                <a:cs typeface="Courier New"/>
                <a:sym typeface="Courier New"/>
              </a:rPr>
              <a:t>(Ventas)</a:t>
            </a:r>
            <a:endParaRPr sz="1400">
              <a:solidFill>
                <a:srgbClr val="CCCCCC"/>
              </a:solidFill>
              <a:highlight>
                <a:srgbClr val="1F1F1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s" sz="1400">
                <a:solidFill>
                  <a:srgbClr val="CCCCCC"/>
                </a:solidFill>
                <a:highlight>
                  <a:srgbClr val="1F1F1F"/>
                </a:highlight>
                <a:latin typeface="Courier New"/>
                <a:ea typeface="Courier New"/>
                <a:cs typeface="Courier New"/>
                <a:sym typeface="Courier New"/>
              </a:rPr>
              <a:t>  </a:t>
            </a:r>
            <a:r>
              <a:rPr lang="es" sz="1400">
                <a:solidFill>
                  <a:srgbClr val="569CD6"/>
                </a:solidFill>
                <a:highlight>
                  <a:srgbClr val="1F1F1F"/>
                </a:highlight>
                <a:latin typeface="Courier New"/>
                <a:ea typeface="Courier New"/>
                <a:cs typeface="Courier New"/>
                <a:sym typeface="Courier New"/>
              </a:rPr>
              <a:t>FOR</a:t>
            </a:r>
            <a:r>
              <a:rPr lang="es" sz="1400">
                <a:solidFill>
                  <a:srgbClr val="CCCCCC"/>
                </a:solidFill>
                <a:highlight>
                  <a:srgbClr val="1F1F1F"/>
                </a:highlight>
                <a:latin typeface="Courier New"/>
                <a:ea typeface="Courier New"/>
                <a:cs typeface="Courier New"/>
                <a:sym typeface="Courier New"/>
              </a:rPr>
              <a:t> Mes </a:t>
            </a:r>
            <a:r>
              <a:rPr lang="es" sz="1400">
                <a:solidFill>
                  <a:srgbClr val="569CD6"/>
                </a:solidFill>
                <a:highlight>
                  <a:srgbClr val="1F1F1F"/>
                </a:highlight>
                <a:latin typeface="Courier New"/>
                <a:ea typeface="Courier New"/>
                <a:cs typeface="Courier New"/>
                <a:sym typeface="Courier New"/>
              </a:rPr>
              <a:t>IN</a:t>
            </a:r>
            <a:r>
              <a:rPr lang="es" sz="1400">
                <a:solidFill>
                  <a:srgbClr val="CCCCCC"/>
                </a:solidFill>
                <a:highlight>
                  <a:srgbClr val="1F1F1F"/>
                </a:highlight>
                <a:latin typeface="Courier New"/>
                <a:ea typeface="Courier New"/>
                <a:cs typeface="Courier New"/>
                <a:sym typeface="Courier New"/>
              </a:rPr>
              <a:t> ([Enero], [Febrero])</a:t>
            </a:r>
            <a:endParaRPr sz="1400">
              <a:solidFill>
                <a:srgbClr val="CCCCCC"/>
              </a:solidFill>
              <a:highlight>
                <a:srgbClr val="1F1F1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s" sz="1400">
                <a:solidFill>
                  <a:srgbClr val="CCCCCC"/>
                </a:solidFill>
                <a:highlight>
                  <a:srgbClr val="1F1F1F"/>
                </a:highlight>
                <a:latin typeface="Courier New"/>
                <a:ea typeface="Courier New"/>
                <a:cs typeface="Courier New"/>
                <a:sym typeface="Courier New"/>
              </a:rPr>
              <a:t>) </a:t>
            </a:r>
            <a:r>
              <a:rPr lang="es" sz="1400">
                <a:solidFill>
                  <a:srgbClr val="569CD6"/>
                </a:solidFill>
                <a:highlight>
                  <a:srgbClr val="1F1F1F"/>
                </a:highlight>
                <a:latin typeface="Courier New"/>
                <a:ea typeface="Courier New"/>
                <a:cs typeface="Courier New"/>
                <a:sym typeface="Courier New"/>
              </a:rPr>
              <a:t>AS</a:t>
            </a:r>
            <a:r>
              <a:rPr lang="es" sz="1400">
                <a:solidFill>
                  <a:srgbClr val="CCCCCC"/>
                </a:solidFill>
                <a:highlight>
                  <a:srgbClr val="1F1F1F"/>
                </a:highlight>
                <a:latin typeface="Courier New"/>
                <a:ea typeface="Courier New"/>
                <a:cs typeface="Courier New"/>
                <a:sym typeface="Courier New"/>
              </a:rPr>
              <a:t> Tabla_pivotada;</a:t>
            </a:r>
            <a:endParaRPr sz="1400">
              <a:solidFill>
                <a:srgbClr val="CCCCCC"/>
              </a:solidFill>
              <a:highlight>
                <a:srgbClr val="1F1F1F"/>
              </a:highlight>
              <a:latin typeface="Courier New"/>
              <a:ea typeface="Courier New"/>
              <a:cs typeface="Courier New"/>
              <a:sym typeface="Courier New"/>
            </a:endParaRPr>
          </a:p>
          <a:p>
            <a:pPr indent="0" lvl="0" marL="0" rtl="0" algn="l">
              <a:lnSpc>
                <a:spcPct val="100000"/>
              </a:lnSpc>
              <a:spcBef>
                <a:spcPts val="0"/>
              </a:spcBef>
              <a:spcAft>
                <a:spcPts val="1200"/>
              </a:spcAft>
              <a:buNone/>
            </a:pPr>
            <a:r>
              <a:t/>
            </a:r>
            <a:endParaRPr sz="1400"/>
          </a:p>
        </p:txBody>
      </p:sp>
      <p:sp>
        <p:nvSpPr>
          <p:cNvPr id="504" name="Google Shape;504;p68"/>
          <p:cNvSpPr txBox="1"/>
          <p:nvPr>
            <p:ph idx="2" type="body"/>
          </p:nvPr>
        </p:nvSpPr>
        <p:spPr>
          <a:xfrm>
            <a:off x="4643600" y="1070439"/>
            <a:ext cx="4180800" cy="31029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0"/>
              </a:spcAft>
              <a:buNone/>
            </a:pPr>
            <a:r>
              <a:rPr lang="es">
                <a:solidFill>
                  <a:srgbClr val="000000"/>
                </a:solidFill>
              </a:rPr>
              <a:t>El </a:t>
            </a:r>
            <a:r>
              <a:rPr lang="es">
                <a:solidFill>
                  <a:srgbClr val="188038"/>
                </a:solidFill>
              </a:rPr>
              <a:t>PIVOT</a:t>
            </a:r>
            <a:r>
              <a:rPr lang="es">
                <a:solidFill>
                  <a:srgbClr val="000000"/>
                </a:solidFill>
              </a:rPr>
              <a:t> "rota" la columna </a:t>
            </a:r>
            <a:r>
              <a:rPr lang="es">
                <a:solidFill>
                  <a:srgbClr val="188038"/>
                </a:solidFill>
              </a:rPr>
              <a:t>Mes</a:t>
            </a:r>
            <a:r>
              <a:rPr lang="es">
                <a:solidFill>
                  <a:srgbClr val="000000"/>
                </a:solidFill>
              </a:rPr>
              <a:t> para crear dos nuevas columnas (</a:t>
            </a:r>
            <a:r>
              <a:rPr lang="es">
                <a:solidFill>
                  <a:srgbClr val="188038"/>
                </a:solidFill>
              </a:rPr>
              <a:t>Enero</a:t>
            </a:r>
            <a:r>
              <a:rPr lang="es">
                <a:solidFill>
                  <a:srgbClr val="000000"/>
                </a:solidFill>
              </a:rPr>
              <a:t> y </a:t>
            </a:r>
            <a:r>
              <a:rPr lang="es">
                <a:solidFill>
                  <a:srgbClr val="188038"/>
                </a:solidFill>
              </a:rPr>
              <a:t>Febrero</a:t>
            </a:r>
            <a:r>
              <a:rPr lang="es">
                <a:solidFill>
                  <a:srgbClr val="000000"/>
                </a:solidFill>
              </a:rPr>
              <a:t>), y utiliza una función de agregación (</a:t>
            </a:r>
            <a:r>
              <a:rPr lang="es">
                <a:solidFill>
                  <a:srgbClr val="188038"/>
                </a:solidFill>
              </a:rPr>
              <a:t>SUM</a:t>
            </a:r>
            <a:r>
              <a:rPr lang="es">
                <a:solidFill>
                  <a:srgbClr val="000000"/>
                </a:solidFill>
              </a:rPr>
              <a:t>) para calcular el valor de las ventas para cada vendedor en cada mes.</a:t>
            </a:r>
            <a:endParaRPr>
              <a:solidFill>
                <a:srgbClr val="000000"/>
              </a:solidFill>
            </a:endParaRPr>
          </a:p>
          <a:p>
            <a:pPr indent="0" lvl="0" marL="0" rtl="0" algn="l">
              <a:lnSpc>
                <a:spcPct val="150000"/>
              </a:lnSpc>
              <a:spcBef>
                <a:spcPts val="1200"/>
              </a:spcBef>
              <a:spcAft>
                <a:spcPts val="1200"/>
              </a:spcAft>
              <a:buNone/>
            </a:pPr>
            <a:r>
              <a:t/>
            </a:r>
            <a:endParaRPr>
              <a:solidFill>
                <a:srgbClr val="000000"/>
              </a:solidFill>
            </a:endParaRPr>
          </a:p>
        </p:txBody>
      </p:sp>
      <p:graphicFrame>
        <p:nvGraphicFramePr>
          <p:cNvPr id="505" name="Google Shape;505;p68"/>
          <p:cNvGraphicFramePr/>
          <p:nvPr/>
        </p:nvGraphicFramePr>
        <p:xfrm>
          <a:off x="5102000" y="2516205"/>
          <a:ext cx="3000000" cy="3000000"/>
        </p:xfrm>
        <a:graphic>
          <a:graphicData uri="http://schemas.openxmlformats.org/drawingml/2006/table">
            <a:tbl>
              <a:tblPr>
                <a:noFill/>
                <a:tableStyleId>{A93C4C41-8EF1-4E32-AC6D-5B815111848D}</a:tableStyleId>
              </a:tblPr>
              <a:tblGrid>
                <a:gridCol w="952500"/>
                <a:gridCol w="952500"/>
                <a:gridCol w="952500"/>
              </a:tblGrid>
              <a:tr h="200025">
                <a:tc>
                  <a:txBody>
                    <a:bodyPr/>
                    <a:lstStyle/>
                    <a:p>
                      <a:pPr indent="0" lvl="0" marL="0" rtl="0" algn="l">
                        <a:lnSpc>
                          <a:spcPct val="115000"/>
                        </a:lnSpc>
                        <a:spcBef>
                          <a:spcPts val="0"/>
                        </a:spcBef>
                        <a:spcAft>
                          <a:spcPts val="0"/>
                        </a:spcAft>
                        <a:buNone/>
                      </a:pPr>
                      <a:r>
                        <a:rPr b="1" lang="es" sz="1300">
                          <a:latin typeface="Lato"/>
                          <a:ea typeface="Lato"/>
                          <a:cs typeface="Lato"/>
                          <a:sym typeface="Lato"/>
                        </a:rPr>
                        <a:t>Vendedor</a:t>
                      </a:r>
                      <a:endParaRPr b="1" sz="13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300">
                          <a:latin typeface="Lato"/>
                          <a:ea typeface="Lato"/>
                          <a:cs typeface="Lato"/>
                          <a:sym typeface="Lato"/>
                        </a:rPr>
                        <a:t>Mes</a:t>
                      </a:r>
                      <a:endParaRPr b="1" sz="13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300">
                          <a:latin typeface="Lato"/>
                          <a:ea typeface="Lato"/>
                          <a:cs typeface="Lato"/>
                          <a:sym typeface="Lato"/>
                        </a:rPr>
                        <a:t>Ventas</a:t>
                      </a:r>
                      <a:endParaRPr b="1" sz="13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s" sz="1300">
                          <a:latin typeface="Lato"/>
                          <a:ea typeface="Lato"/>
                          <a:cs typeface="Lato"/>
                          <a:sym typeface="Lato"/>
                        </a:rPr>
                        <a:t>Juan</a:t>
                      </a:r>
                      <a:endParaRPr sz="13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300">
                          <a:latin typeface="Lato"/>
                          <a:ea typeface="Lato"/>
                          <a:cs typeface="Lato"/>
                          <a:sym typeface="Lato"/>
                        </a:rPr>
                        <a:t>Enero</a:t>
                      </a:r>
                      <a:endParaRPr sz="13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s" sz="1300">
                          <a:latin typeface="Lato"/>
                          <a:ea typeface="Lato"/>
                          <a:cs typeface="Lato"/>
                          <a:sym typeface="Lato"/>
                        </a:rPr>
                        <a:t>100</a:t>
                      </a:r>
                      <a:endParaRPr sz="13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s" sz="1300">
                          <a:latin typeface="Lato"/>
                          <a:ea typeface="Lato"/>
                          <a:cs typeface="Lato"/>
                          <a:sym typeface="Lato"/>
                        </a:rPr>
                        <a:t>Ana</a:t>
                      </a:r>
                      <a:endParaRPr sz="13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300">
                          <a:latin typeface="Lato"/>
                          <a:ea typeface="Lato"/>
                          <a:cs typeface="Lato"/>
                          <a:sym typeface="Lato"/>
                        </a:rPr>
                        <a:t>Enero</a:t>
                      </a:r>
                      <a:endParaRPr sz="13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s" sz="1300">
                          <a:latin typeface="Lato"/>
                          <a:ea typeface="Lato"/>
                          <a:cs typeface="Lato"/>
                          <a:sym typeface="Lato"/>
                        </a:rPr>
                        <a:t>150</a:t>
                      </a:r>
                      <a:endParaRPr sz="13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s" sz="1300">
                          <a:latin typeface="Lato"/>
                          <a:ea typeface="Lato"/>
                          <a:cs typeface="Lato"/>
                          <a:sym typeface="Lato"/>
                        </a:rPr>
                        <a:t>Juan</a:t>
                      </a:r>
                      <a:endParaRPr sz="13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300">
                          <a:latin typeface="Lato"/>
                          <a:ea typeface="Lato"/>
                          <a:cs typeface="Lato"/>
                          <a:sym typeface="Lato"/>
                        </a:rPr>
                        <a:t>Febrero</a:t>
                      </a:r>
                      <a:endParaRPr sz="13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s" sz="1300">
                          <a:latin typeface="Lato"/>
                          <a:ea typeface="Lato"/>
                          <a:cs typeface="Lato"/>
                          <a:sym typeface="Lato"/>
                        </a:rPr>
                        <a:t>120</a:t>
                      </a:r>
                      <a:endParaRPr sz="13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s" sz="1300">
                          <a:latin typeface="Lato"/>
                          <a:ea typeface="Lato"/>
                          <a:cs typeface="Lato"/>
                          <a:sym typeface="Lato"/>
                        </a:rPr>
                        <a:t>Ana</a:t>
                      </a:r>
                      <a:endParaRPr sz="13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300">
                          <a:latin typeface="Lato"/>
                          <a:ea typeface="Lato"/>
                          <a:cs typeface="Lato"/>
                          <a:sym typeface="Lato"/>
                        </a:rPr>
                        <a:t>Febrero</a:t>
                      </a:r>
                      <a:endParaRPr sz="13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s" sz="1300">
                          <a:latin typeface="Lato"/>
                          <a:ea typeface="Lato"/>
                          <a:cs typeface="Lato"/>
                          <a:sym typeface="Lato"/>
                        </a:rPr>
                        <a:t>180</a:t>
                      </a:r>
                      <a:endParaRPr sz="13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r>
            </a:tbl>
          </a:graphicData>
        </a:graphic>
      </p:graphicFrame>
      <p:graphicFrame>
        <p:nvGraphicFramePr>
          <p:cNvPr id="506" name="Google Shape;506;p68"/>
          <p:cNvGraphicFramePr/>
          <p:nvPr/>
        </p:nvGraphicFramePr>
        <p:xfrm>
          <a:off x="5102000" y="4181195"/>
          <a:ext cx="3000000" cy="3000000"/>
        </p:xfrm>
        <a:graphic>
          <a:graphicData uri="http://schemas.openxmlformats.org/drawingml/2006/table">
            <a:tbl>
              <a:tblPr>
                <a:noFill/>
                <a:tableStyleId>{A93C4C41-8EF1-4E32-AC6D-5B815111848D}</a:tableStyleId>
              </a:tblPr>
              <a:tblGrid>
                <a:gridCol w="952500"/>
                <a:gridCol w="952500"/>
                <a:gridCol w="952500"/>
              </a:tblGrid>
              <a:tr h="200025">
                <a:tc>
                  <a:txBody>
                    <a:bodyPr/>
                    <a:lstStyle/>
                    <a:p>
                      <a:pPr indent="0" lvl="0" marL="0" rtl="0" algn="l">
                        <a:lnSpc>
                          <a:spcPct val="115000"/>
                        </a:lnSpc>
                        <a:spcBef>
                          <a:spcPts val="0"/>
                        </a:spcBef>
                        <a:spcAft>
                          <a:spcPts val="0"/>
                        </a:spcAft>
                        <a:buNone/>
                      </a:pPr>
                      <a:r>
                        <a:rPr b="1" lang="es" sz="1300">
                          <a:latin typeface="Lato"/>
                          <a:ea typeface="Lato"/>
                          <a:cs typeface="Lato"/>
                          <a:sym typeface="Lato"/>
                        </a:rPr>
                        <a:t>Vendedor</a:t>
                      </a:r>
                      <a:endParaRPr b="1" sz="13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300">
                          <a:latin typeface="Lato"/>
                          <a:ea typeface="Lato"/>
                          <a:cs typeface="Lato"/>
                          <a:sym typeface="Lato"/>
                        </a:rPr>
                        <a:t>Enero</a:t>
                      </a:r>
                      <a:endParaRPr b="1" sz="13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300">
                          <a:latin typeface="Lato"/>
                          <a:ea typeface="Lato"/>
                          <a:cs typeface="Lato"/>
                          <a:sym typeface="Lato"/>
                        </a:rPr>
                        <a:t>Febrero</a:t>
                      </a:r>
                      <a:endParaRPr b="1" sz="13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s" sz="1300">
                          <a:latin typeface="Lato"/>
                          <a:ea typeface="Lato"/>
                          <a:cs typeface="Lato"/>
                          <a:sym typeface="Lato"/>
                        </a:rPr>
                        <a:t>Juan</a:t>
                      </a:r>
                      <a:endParaRPr sz="13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s" sz="1300">
                          <a:latin typeface="Lato"/>
                          <a:ea typeface="Lato"/>
                          <a:cs typeface="Lato"/>
                          <a:sym typeface="Lato"/>
                        </a:rPr>
                        <a:t>100</a:t>
                      </a:r>
                      <a:endParaRPr sz="13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s" sz="1300">
                          <a:latin typeface="Lato"/>
                          <a:ea typeface="Lato"/>
                          <a:cs typeface="Lato"/>
                          <a:sym typeface="Lato"/>
                        </a:rPr>
                        <a:t>120</a:t>
                      </a:r>
                      <a:endParaRPr sz="13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s" sz="1300">
                          <a:latin typeface="Lato"/>
                          <a:ea typeface="Lato"/>
                          <a:cs typeface="Lato"/>
                          <a:sym typeface="Lato"/>
                        </a:rPr>
                        <a:t>Ana</a:t>
                      </a:r>
                      <a:endParaRPr sz="13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s" sz="1300">
                          <a:latin typeface="Lato"/>
                          <a:ea typeface="Lato"/>
                          <a:cs typeface="Lato"/>
                          <a:sym typeface="Lato"/>
                        </a:rPr>
                        <a:t>150</a:t>
                      </a:r>
                      <a:endParaRPr sz="13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s" sz="1300">
                          <a:latin typeface="Lato"/>
                          <a:ea typeface="Lato"/>
                          <a:cs typeface="Lato"/>
                          <a:sym typeface="Lato"/>
                        </a:rPr>
                        <a:t>180</a:t>
                      </a:r>
                      <a:endParaRPr sz="13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r>
            </a:tbl>
          </a:graphicData>
        </a:graphic>
      </p:graphicFrame>
      <p:sp>
        <p:nvSpPr>
          <p:cNvPr id="507" name="Google Shape;507;p68"/>
          <p:cNvSpPr txBox="1"/>
          <p:nvPr/>
        </p:nvSpPr>
        <p:spPr>
          <a:xfrm rot="-5400000">
            <a:off x="4293900" y="2875600"/>
            <a:ext cx="1300200" cy="3849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200"/>
              </a:spcAft>
              <a:buNone/>
            </a:pPr>
            <a:r>
              <a:rPr lang="es" sz="1300">
                <a:latin typeface="Lato"/>
                <a:ea typeface="Lato"/>
                <a:cs typeface="Lato"/>
                <a:sym typeface="Lato"/>
              </a:rPr>
              <a:t>Ventas_original</a:t>
            </a:r>
            <a:endParaRPr/>
          </a:p>
        </p:txBody>
      </p:sp>
      <p:sp>
        <p:nvSpPr>
          <p:cNvPr id="508" name="Google Shape;508;p68"/>
          <p:cNvSpPr txBox="1"/>
          <p:nvPr/>
        </p:nvSpPr>
        <p:spPr>
          <a:xfrm rot="-5400000">
            <a:off x="4258100" y="4388800"/>
            <a:ext cx="1302900" cy="3849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200"/>
              </a:spcAft>
              <a:buNone/>
            </a:pPr>
            <a:r>
              <a:rPr lang="es" sz="1300">
                <a:latin typeface="Lato"/>
                <a:ea typeface="Lato"/>
                <a:cs typeface="Lato"/>
                <a:sym typeface="Lato"/>
              </a:rPr>
              <a:t>Tabla_pivotada</a:t>
            </a:r>
            <a:endParaRPr/>
          </a:p>
        </p:txBody>
      </p:sp>
      <p:sp>
        <p:nvSpPr>
          <p:cNvPr id="509" name="Google Shape;509;p68"/>
          <p:cNvSpPr txBox="1"/>
          <p:nvPr/>
        </p:nvSpPr>
        <p:spPr>
          <a:xfrm>
            <a:off x="174625" y="4447900"/>
            <a:ext cx="4180800" cy="6849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200"/>
              </a:spcAft>
              <a:buNone/>
            </a:pPr>
            <a:r>
              <a:rPr b="1" lang="es" sz="1300">
                <a:solidFill>
                  <a:srgbClr val="FF0000"/>
                </a:solidFill>
                <a:latin typeface="Lato"/>
                <a:ea typeface="Lato"/>
                <a:cs typeface="Lato"/>
                <a:sym typeface="Lato"/>
              </a:rPr>
              <a:t>Tarea, ¿Cómo se implementa en los otros Sistemas de Gestión de Base de Datos?</a:t>
            </a:r>
            <a:endParaRPr b="1">
              <a:solidFill>
                <a:srgbClr val="FF0000"/>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69"/>
          <p:cNvSpPr txBox="1"/>
          <p:nvPr>
            <p:ph type="title"/>
          </p:nvPr>
        </p:nvSpPr>
        <p:spPr>
          <a:xfrm>
            <a:off x="841500" y="300573"/>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La Extended Backus–Naur Form (EBNF), o Forma de Backus–Naur Extendida</a:t>
            </a:r>
            <a:endParaRPr/>
          </a:p>
        </p:txBody>
      </p:sp>
      <p:sp>
        <p:nvSpPr>
          <p:cNvPr id="515" name="Google Shape;515;p69"/>
          <p:cNvSpPr txBox="1"/>
          <p:nvPr>
            <p:ph idx="1" type="body"/>
          </p:nvPr>
        </p:nvSpPr>
        <p:spPr>
          <a:xfrm>
            <a:off x="333925" y="1237075"/>
            <a:ext cx="4169700" cy="31029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0"/>
              </a:spcAft>
              <a:buNone/>
            </a:pPr>
            <a:r>
              <a:rPr lang="es"/>
              <a:t>Es </a:t>
            </a:r>
            <a:r>
              <a:rPr lang="es"/>
              <a:t>una notación formal utilizada para describir la sintaxis o la gramática de los lenguajes de programación. </a:t>
            </a:r>
            <a:endParaRPr/>
          </a:p>
          <a:p>
            <a:pPr indent="0" lvl="0" marL="0" rtl="0" algn="l">
              <a:lnSpc>
                <a:spcPct val="150000"/>
              </a:lnSpc>
              <a:spcBef>
                <a:spcPts val="1200"/>
              </a:spcBef>
              <a:spcAft>
                <a:spcPts val="0"/>
              </a:spcAft>
              <a:buNone/>
            </a:pPr>
            <a:r>
              <a:rPr lang="es"/>
              <a:t>Es una extensión de la Backus–Naur Form (BNF) original, diseñada para ser más legible, concisa y fácil de usar, eliminando la necesidad de recursión en muchos casos.</a:t>
            </a:r>
            <a:endParaRPr/>
          </a:p>
          <a:p>
            <a:pPr indent="0" lvl="0" marL="0" rtl="0" algn="l">
              <a:lnSpc>
                <a:spcPct val="150000"/>
              </a:lnSpc>
              <a:spcBef>
                <a:spcPts val="1200"/>
              </a:spcBef>
              <a:spcAft>
                <a:spcPts val="1200"/>
              </a:spcAft>
              <a:buNone/>
            </a:pPr>
            <a:r>
              <a:rPr lang="es"/>
              <a:t>Es considerada una METAGRAMÁTICA, es una gramática para definir gramáticas.</a:t>
            </a:r>
            <a:endParaRPr/>
          </a:p>
        </p:txBody>
      </p:sp>
      <p:sp>
        <p:nvSpPr>
          <p:cNvPr id="516" name="Google Shape;516;p69"/>
          <p:cNvSpPr txBox="1"/>
          <p:nvPr>
            <p:ph idx="2" type="body"/>
          </p:nvPr>
        </p:nvSpPr>
        <p:spPr>
          <a:xfrm>
            <a:off x="4643600" y="1237075"/>
            <a:ext cx="4169700" cy="3791700"/>
          </a:xfrm>
          <a:prstGeom prst="rect">
            <a:avLst/>
          </a:prstGeom>
        </p:spPr>
        <p:txBody>
          <a:bodyPr anchorCtr="0" anchor="t" bIns="91425" lIns="91425" spcFirstLastPara="1" rIns="91425" wrap="square" tIns="91425">
            <a:noAutofit/>
          </a:bodyPr>
          <a:lstStyle/>
          <a:p>
            <a:pPr indent="0" lvl="0" marL="0" rtl="0" algn="l">
              <a:lnSpc>
                <a:spcPct val="150000"/>
              </a:lnSpc>
              <a:spcBef>
                <a:spcPts val="1200"/>
              </a:spcBef>
              <a:spcAft>
                <a:spcPts val="0"/>
              </a:spcAft>
              <a:buNone/>
            </a:pPr>
            <a:r>
              <a:rPr lang="es">
                <a:solidFill>
                  <a:srgbClr val="000000"/>
                </a:solidFill>
              </a:rPr>
              <a:t>EBNF es fundamental en la teoría de lenguajes de programación y en el desarrollo de compiladores y analizadores sintácticos (parsers). Se utiliza para:</a:t>
            </a:r>
            <a:endParaRPr>
              <a:solidFill>
                <a:srgbClr val="000000"/>
              </a:solidFill>
            </a:endParaRPr>
          </a:p>
          <a:p>
            <a:pPr indent="-311150" lvl="0" marL="457200" rtl="0" algn="l">
              <a:lnSpc>
                <a:spcPct val="150000"/>
              </a:lnSpc>
              <a:spcBef>
                <a:spcPts val="1200"/>
              </a:spcBef>
              <a:spcAft>
                <a:spcPts val="0"/>
              </a:spcAft>
              <a:buClr>
                <a:srgbClr val="000000"/>
              </a:buClr>
              <a:buSzPts val="1300"/>
              <a:buFont typeface="Arial"/>
              <a:buAutoNum type="arabicPeriod"/>
            </a:pPr>
            <a:r>
              <a:rPr b="1" lang="es">
                <a:solidFill>
                  <a:srgbClr val="000000"/>
                </a:solidFill>
              </a:rPr>
              <a:t>Especificar la gramática de un lenguaje:</a:t>
            </a:r>
            <a:r>
              <a:rPr lang="es">
                <a:solidFill>
                  <a:srgbClr val="000000"/>
                </a:solidFill>
              </a:rPr>
              <a:t> Define las reglas de construcción de un lenguaje, como la sintaxis de un bucle </a:t>
            </a:r>
            <a:r>
              <a:rPr lang="es">
                <a:solidFill>
                  <a:srgbClr val="188038"/>
                </a:solidFill>
              </a:rPr>
              <a:t>if</a:t>
            </a:r>
            <a:r>
              <a:rPr lang="es">
                <a:solidFill>
                  <a:srgbClr val="000000"/>
                </a:solidFill>
              </a:rPr>
              <a:t>, la declaración de variables o la estructura de una expresión matemática.</a:t>
            </a:r>
            <a:endParaRPr>
              <a:solidFill>
                <a:srgbClr val="000000"/>
              </a:solidFill>
            </a:endParaRPr>
          </a:p>
          <a:p>
            <a:pPr indent="-311150" lvl="0" marL="457200" rtl="0" algn="l">
              <a:lnSpc>
                <a:spcPct val="150000"/>
              </a:lnSpc>
              <a:spcBef>
                <a:spcPts val="0"/>
              </a:spcBef>
              <a:spcAft>
                <a:spcPts val="0"/>
              </a:spcAft>
              <a:buClr>
                <a:srgbClr val="000000"/>
              </a:buClr>
              <a:buSzPts val="1300"/>
              <a:buFont typeface="Arial"/>
              <a:buAutoNum type="arabicPeriod"/>
            </a:pPr>
            <a:r>
              <a:rPr b="1" lang="es">
                <a:solidFill>
                  <a:srgbClr val="000000"/>
                </a:solidFill>
              </a:rPr>
              <a:t>Generar analizadores sintácticos:</a:t>
            </a:r>
            <a:r>
              <a:rPr lang="es">
                <a:solidFill>
                  <a:srgbClr val="000000"/>
                </a:solidFill>
              </a:rPr>
              <a:t> Las reglas de EBNF pueden ser procesadas por herramientas de software que automáticamente crean el código necesario para analizar la sintaxis de un programa.</a:t>
            </a:r>
            <a:endParaRPr>
              <a:solidFill>
                <a:srgbClr val="000000"/>
              </a:solidFill>
            </a:endParaRPr>
          </a:p>
          <a:p>
            <a:pPr indent="0" lvl="0" marL="0" rtl="0" algn="l">
              <a:lnSpc>
                <a:spcPct val="150000"/>
              </a:lnSpc>
              <a:spcBef>
                <a:spcPts val="1200"/>
              </a:spcBef>
              <a:spcAft>
                <a:spcPts val="1200"/>
              </a:spcAft>
              <a:buNone/>
            </a:pPr>
            <a:r>
              <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70"/>
          <p:cNvSpPr txBox="1"/>
          <p:nvPr>
            <p:ph type="title"/>
          </p:nvPr>
        </p:nvSpPr>
        <p:spPr>
          <a:xfrm>
            <a:off x="830400" y="6560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Notación y Símbolos</a:t>
            </a:r>
            <a:endParaRPr/>
          </a:p>
        </p:txBody>
      </p:sp>
      <p:sp>
        <p:nvSpPr>
          <p:cNvPr id="522" name="Google Shape;522;p70"/>
          <p:cNvSpPr txBox="1"/>
          <p:nvPr>
            <p:ph idx="1" type="body"/>
          </p:nvPr>
        </p:nvSpPr>
        <p:spPr>
          <a:xfrm>
            <a:off x="729325" y="1237075"/>
            <a:ext cx="8083800" cy="3102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EBNF utiliza una serie de símbolos para representar las reglas gramaticales. A diferencia de la BNF original, que usa la recursión para repeticiones y opciones, EBNF introduce símbolos más intuitivos.</a:t>
            </a:r>
            <a:endParaRPr/>
          </a:p>
        </p:txBody>
      </p:sp>
      <p:graphicFrame>
        <p:nvGraphicFramePr>
          <p:cNvPr id="523" name="Google Shape;523;p70"/>
          <p:cNvGraphicFramePr/>
          <p:nvPr/>
        </p:nvGraphicFramePr>
        <p:xfrm>
          <a:off x="727800" y="2136275"/>
          <a:ext cx="3000000" cy="3000000"/>
        </p:xfrm>
        <a:graphic>
          <a:graphicData uri="http://schemas.openxmlformats.org/drawingml/2006/table">
            <a:tbl>
              <a:tblPr>
                <a:noFill/>
                <a:tableStyleId>{A93C4C41-8EF1-4E32-AC6D-5B815111848D}</a:tableStyleId>
              </a:tblPr>
              <a:tblGrid>
                <a:gridCol w="698575"/>
                <a:gridCol w="2549250"/>
                <a:gridCol w="4440575"/>
              </a:tblGrid>
              <a:tr h="182700">
                <a:tc>
                  <a:txBody>
                    <a:bodyPr/>
                    <a:lstStyle/>
                    <a:p>
                      <a:pPr indent="0" lvl="0" marL="0" rtl="0" algn="l">
                        <a:lnSpc>
                          <a:spcPct val="115000"/>
                        </a:lnSpc>
                        <a:spcBef>
                          <a:spcPts val="0"/>
                        </a:spcBef>
                        <a:spcAft>
                          <a:spcPts val="0"/>
                        </a:spcAft>
                        <a:buNone/>
                      </a:pPr>
                      <a:r>
                        <a:rPr lang="es" sz="1300">
                          <a:latin typeface="Lato"/>
                          <a:ea typeface="Lato"/>
                          <a:cs typeface="Lato"/>
                          <a:sym typeface="Lato"/>
                        </a:rPr>
                        <a:t>Símbolo</a:t>
                      </a:r>
                      <a:endParaRPr sz="13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300">
                          <a:latin typeface="Lato"/>
                          <a:ea typeface="Lato"/>
                          <a:cs typeface="Lato"/>
                          <a:sym typeface="Lato"/>
                        </a:rPr>
                        <a:t>Significado</a:t>
                      </a:r>
                      <a:endParaRPr sz="13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300">
                          <a:latin typeface="Lato"/>
                          <a:ea typeface="Lato"/>
                          <a:cs typeface="Lato"/>
                          <a:sym typeface="Lato"/>
                        </a:rPr>
                        <a:t>Ejemplo</a:t>
                      </a:r>
                      <a:endParaRPr sz="13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r>
              <a:tr h="294325">
                <a:tc>
                  <a:txBody>
                    <a:bodyPr/>
                    <a:lstStyle/>
                    <a:p>
                      <a:pPr indent="0" lvl="0" marL="0" rtl="0" algn="ctr">
                        <a:lnSpc>
                          <a:spcPct val="115000"/>
                        </a:lnSpc>
                        <a:spcBef>
                          <a:spcPts val="0"/>
                        </a:spcBef>
                        <a:spcAft>
                          <a:spcPts val="0"/>
                        </a:spcAft>
                        <a:buNone/>
                      </a:pPr>
                      <a:r>
                        <a:rPr lang="es" sz="1300">
                          <a:latin typeface="Lato"/>
                          <a:ea typeface="Lato"/>
                          <a:cs typeface="Lato"/>
                          <a:sym typeface="Lato"/>
                        </a:rPr>
                        <a:t>=</a:t>
                      </a:r>
                      <a:endParaRPr sz="13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300">
                          <a:latin typeface="Lato"/>
                          <a:ea typeface="Lato"/>
                          <a:cs typeface="Lato"/>
                          <a:sym typeface="Lato"/>
                        </a:rPr>
                        <a:t>Definición (se define como)</a:t>
                      </a:r>
                      <a:endParaRPr sz="13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300">
                          <a:latin typeface="Lato"/>
                          <a:ea typeface="Lato"/>
                          <a:cs typeface="Lato"/>
                          <a:sym typeface="Lato"/>
                        </a:rPr>
                        <a:t>&lt;declaración&gt; = &lt;tipo&gt; &lt;nombre&gt;</a:t>
                      </a:r>
                      <a:endParaRPr sz="1300">
                        <a:latin typeface="Lato"/>
                        <a:ea typeface="Lato"/>
                        <a:cs typeface="Lato"/>
                        <a:sym typeface="Lato"/>
                      </a:endParaRPr>
                    </a:p>
                  </a:txBody>
                  <a:tcPr marT="19050" marB="19050" marR="91425" marL="91425" anchor="b">
                    <a:lnL cap="flat" cmpd="sng" w="6350">
                      <a:solidFill>
                        <a:srgbClr val="CCCCCC"/>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r>
              <a:tr h="385650">
                <a:tc>
                  <a:txBody>
                    <a:bodyPr/>
                    <a:lstStyle/>
                    <a:p>
                      <a:pPr indent="0" lvl="0" marL="0" rtl="0" algn="l">
                        <a:lnSpc>
                          <a:spcPct val="115000"/>
                        </a:lnSpc>
                        <a:spcBef>
                          <a:spcPts val="0"/>
                        </a:spcBef>
                        <a:spcAft>
                          <a:spcPts val="0"/>
                        </a:spcAft>
                        <a:buNone/>
                      </a:pPr>
                      <a:r>
                        <a:rPr lang="es" sz="1300">
                          <a:latin typeface="Lato"/>
                          <a:ea typeface="Lato"/>
                          <a:cs typeface="Lato"/>
                          <a:sym typeface="Lato"/>
                        </a:rPr>
                        <a:t>(...)</a:t>
                      </a:r>
                      <a:endParaRPr sz="13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300">
                          <a:latin typeface="Lato"/>
                          <a:ea typeface="Lato"/>
                          <a:cs typeface="Lato"/>
                          <a:sym typeface="Lato"/>
                        </a:rPr>
                        <a:t>Agrupación</a:t>
                      </a:r>
                      <a:endParaRPr sz="13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300">
                          <a:latin typeface="Lato"/>
                          <a:ea typeface="Lato"/>
                          <a:cs typeface="Lato"/>
                          <a:sym typeface="Lato"/>
                        </a:rPr>
                        <a:t>&lt;expresión&gt; = (&lt;expresión&gt;)</a:t>
                      </a:r>
                      <a:endParaRPr sz="1300">
                        <a:latin typeface="Lato"/>
                        <a:ea typeface="Lato"/>
                        <a:cs typeface="Lato"/>
                        <a:sym typeface="Lato"/>
                      </a:endParaRPr>
                    </a:p>
                  </a:txBody>
                  <a:tcPr marT="19050" marB="19050" marR="91425" marL="91425" anchor="b">
                    <a:lnL cap="flat" cmpd="sng" w="6350">
                      <a:solidFill>
                        <a:srgbClr val="CCCCCC"/>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r>
              <a:tr h="477000">
                <a:tc>
                  <a:txBody>
                    <a:bodyPr/>
                    <a:lstStyle/>
                    <a:p>
                      <a:pPr indent="0" lvl="0" marL="0" rtl="0" algn="l">
                        <a:lnSpc>
                          <a:spcPct val="115000"/>
                        </a:lnSpc>
                        <a:spcBef>
                          <a:spcPts val="0"/>
                        </a:spcBef>
                        <a:spcAft>
                          <a:spcPts val="0"/>
                        </a:spcAft>
                        <a:buNone/>
                      </a:pPr>
                      <a:r>
                        <a:rPr lang="es" sz="1300">
                          <a:latin typeface="Lato"/>
                          <a:ea typeface="Lato"/>
                          <a:cs typeface="Lato"/>
                          <a:sym typeface="Lato"/>
                        </a:rPr>
                        <a:t>[...]</a:t>
                      </a:r>
                      <a:endParaRPr sz="13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300">
                          <a:latin typeface="Lato"/>
                          <a:ea typeface="Lato"/>
                          <a:cs typeface="Lato"/>
                          <a:sym typeface="Lato"/>
                        </a:rPr>
                        <a:t>Opción (cero o una vez)</a:t>
                      </a:r>
                      <a:endParaRPr sz="13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300">
                          <a:latin typeface="Lato"/>
                          <a:ea typeface="Lato"/>
                          <a:cs typeface="Lato"/>
                          <a:sym typeface="Lato"/>
                        </a:rPr>
                        <a:t>&lt;si_entonces&gt; = IF &lt;condición&gt; [THEN &lt;sentencia&gt;]</a:t>
                      </a:r>
                      <a:endParaRPr sz="1300">
                        <a:latin typeface="Lato"/>
                        <a:ea typeface="Lato"/>
                        <a:cs typeface="Lato"/>
                        <a:sym typeface="Lato"/>
                      </a:endParaRPr>
                    </a:p>
                  </a:txBody>
                  <a:tcPr marT="19050" marB="19050" marR="91425" marL="91425" anchor="b">
                    <a:lnL cap="flat" cmpd="sng" w="6350">
                      <a:solidFill>
                        <a:srgbClr val="CCCCCC"/>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r>
              <a:tr h="385650">
                <a:tc>
                  <a:txBody>
                    <a:bodyPr/>
                    <a:lstStyle/>
                    <a:p>
                      <a:pPr indent="0" lvl="0" marL="0" rtl="0" algn="l">
                        <a:lnSpc>
                          <a:spcPct val="115000"/>
                        </a:lnSpc>
                        <a:spcBef>
                          <a:spcPts val="0"/>
                        </a:spcBef>
                        <a:spcAft>
                          <a:spcPts val="0"/>
                        </a:spcAft>
                        <a:buNone/>
                      </a:pPr>
                      <a:r>
                        <a:rPr lang="es" sz="1300">
                          <a:latin typeface="Lato"/>
                          <a:ea typeface="Lato"/>
                          <a:cs typeface="Lato"/>
                          <a:sym typeface="Lato"/>
                        </a:rPr>
                        <a:t>{...}</a:t>
                      </a:r>
                      <a:endParaRPr sz="13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300">
                          <a:latin typeface="Lato"/>
                          <a:ea typeface="Lato"/>
                          <a:cs typeface="Lato"/>
                          <a:sym typeface="Lato"/>
                        </a:rPr>
                        <a:t>Repetición (cero o más veces)</a:t>
                      </a:r>
                      <a:endParaRPr sz="13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300">
                          <a:latin typeface="Lato"/>
                          <a:ea typeface="Lato"/>
                          <a:cs typeface="Lato"/>
                          <a:sym typeface="Lato"/>
                        </a:rPr>
                        <a:t>&lt;lista_numeros&gt; = &lt;numero&gt; {, &lt;numero&gt;}</a:t>
                      </a:r>
                      <a:endParaRPr sz="1300">
                        <a:latin typeface="Lato"/>
                        <a:ea typeface="Lato"/>
                        <a:cs typeface="Lato"/>
                        <a:sym typeface="Lato"/>
                      </a:endParaRPr>
                    </a:p>
                  </a:txBody>
                  <a:tcPr marT="19050" marB="19050" marR="91425" marL="91425" anchor="b">
                    <a:lnL cap="flat" cmpd="sng" w="6350">
                      <a:solidFill>
                        <a:srgbClr val="CCCCCC"/>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r>
              <a:tr h="294325">
                <a:tc>
                  <a:txBody>
                    <a:bodyPr/>
                    <a:lstStyle/>
                    <a:p>
                      <a:pPr indent="0" lvl="0" marL="0" rtl="0" algn="l">
                        <a:lnSpc>
                          <a:spcPct val="115000"/>
                        </a:lnSpc>
                        <a:spcBef>
                          <a:spcPts val="0"/>
                        </a:spcBef>
                        <a:spcAft>
                          <a:spcPts val="0"/>
                        </a:spcAft>
                        <a:buNone/>
                      </a:pPr>
                      <a:r>
                        <a:rPr lang="es" sz="1300">
                          <a:latin typeface="Lato"/>
                          <a:ea typeface="Lato"/>
                          <a:cs typeface="Lato"/>
                          <a:sym typeface="Lato"/>
                        </a:rPr>
                        <a:t>(...)*</a:t>
                      </a:r>
                      <a:endParaRPr sz="13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300">
                          <a:latin typeface="Lato"/>
                          <a:ea typeface="Lato"/>
                          <a:cs typeface="Lato"/>
                          <a:sym typeface="Lato"/>
                        </a:rPr>
                        <a:t>Repetición (cero o más veces)</a:t>
                      </a:r>
                      <a:endParaRPr sz="13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300">
                          <a:latin typeface="Lato"/>
                          <a:ea typeface="Lato"/>
                          <a:cs typeface="Lato"/>
                          <a:sym typeface="Lato"/>
                        </a:rPr>
                        <a:t> </a:t>
                      </a:r>
                      <a:r>
                        <a:rPr lang="es" sz="1300">
                          <a:latin typeface="Lato"/>
                          <a:ea typeface="Lato"/>
                          <a:cs typeface="Lato"/>
                          <a:sym typeface="Lato"/>
                        </a:rPr>
                        <a:t>&lt;lista_numeros&gt; = &lt;numero&gt; (, &lt;numero&gt;)</a:t>
                      </a:r>
                      <a:endParaRPr sz="13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r>
              <a:tr h="202975">
                <a:tc>
                  <a:txBody>
                    <a:bodyPr/>
                    <a:lstStyle/>
                    <a:p>
                      <a:pPr indent="0" lvl="0" marL="0" rtl="0" algn="l">
                        <a:lnSpc>
                          <a:spcPct val="115000"/>
                        </a:lnSpc>
                        <a:spcBef>
                          <a:spcPts val="0"/>
                        </a:spcBef>
                        <a:spcAft>
                          <a:spcPts val="0"/>
                        </a:spcAft>
                        <a:buNone/>
                      </a:pPr>
                      <a:r>
                        <a:rPr lang="es" sz="1300">
                          <a:latin typeface="Lato"/>
                          <a:ea typeface="Lato"/>
                          <a:cs typeface="Lato"/>
                          <a:sym typeface="Lato"/>
                        </a:rPr>
                        <a:t>"..."</a:t>
                      </a:r>
                      <a:endParaRPr sz="13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300">
                          <a:latin typeface="Lato"/>
                          <a:ea typeface="Lato"/>
                          <a:cs typeface="Lato"/>
                          <a:sym typeface="Lato"/>
                        </a:rPr>
                        <a:t>Terminal (símbolo literal)</a:t>
                      </a:r>
                      <a:endParaRPr sz="13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300">
                          <a:latin typeface="Lato"/>
                          <a:ea typeface="Lato"/>
                          <a:cs typeface="Lato"/>
                          <a:sym typeface="Lato"/>
                        </a:rPr>
                        <a:t>BEGIN "END"</a:t>
                      </a:r>
                      <a:endParaRPr sz="1300">
                        <a:latin typeface="Lato"/>
                        <a:ea typeface="Lato"/>
                        <a:cs typeface="Lato"/>
                        <a:sym typeface="Lato"/>
                      </a:endParaRPr>
                    </a:p>
                  </a:txBody>
                  <a:tcPr marT="19050" marB="19050" marR="28575" marL="28575" anchor="b">
                    <a:lnL cap="flat" cmpd="sng" w="6350">
                      <a:solidFill>
                        <a:srgbClr val="CCCCCC"/>
                      </a:solidFill>
                      <a:prstDash val="solid"/>
                      <a:round/>
                      <a:headEnd len="sm" w="sm" type="none"/>
                      <a:tailEnd len="sm" w="sm" type="none"/>
                    </a:lnL>
                    <a:lnR cap="flat" cmpd="sng" w="6350">
                      <a:solidFill>
                        <a:srgbClr val="CCCCCC"/>
                      </a:solidFill>
                      <a:prstDash val="solid"/>
                      <a:round/>
                      <a:headEnd len="sm" w="sm" type="none"/>
                      <a:tailEnd len="sm" w="sm" type="none"/>
                    </a:lnR>
                    <a:lnT cap="flat" cmpd="sng" w="6350">
                      <a:solidFill>
                        <a:srgbClr val="CCCCCC"/>
                      </a:solidFill>
                      <a:prstDash val="solid"/>
                      <a:round/>
                      <a:headEnd len="sm" w="sm" type="none"/>
                      <a:tailEnd len="sm" w="sm" type="none"/>
                    </a:lnT>
                    <a:lnB cap="flat" cmpd="sng" w="6350">
                      <a:solidFill>
                        <a:srgbClr val="CCCCCC"/>
                      </a:solidFill>
                      <a:prstDash val="solid"/>
                      <a:round/>
                      <a:headEnd len="sm" w="sm" type="none"/>
                      <a:tailEnd len="sm" w="sm" type="none"/>
                    </a:lnB>
                  </a:tcPr>
                </a:tc>
              </a:tr>
            </a:tbl>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71"/>
          <p:cNvSpPr txBox="1"/>
          <p:nvPr>
            <p:ph type="title"/>
          </p:nvPr>
        </p:nvSpPr>
        <p:spPr>
          <a:xfrm>
            <a:off x="808175" y="24500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Imagina que quieres definir la sintaxis de una instrucción IF-ELSE simple.</a:t>
            </a:r>
            <a:endParaRPr/>
          </a:p>
        </p:txBody>
      </p:sp>
      <p:sp>
        <p:nvSpPr>
          <p:cNvPr id="529" name="Google Shape;529;p71"/>
          <p:cNvSpPr txBox="1"/>
          <p:nvPr>
            <p:ph idx="1" type="body"/>
          </p:nvPr>
        </p:nvSpPr>
        <p:spPr>
          <a:xfrm>
            <a:off x="729325" y="1237075"/>
            <a:ext cx="3774300" cy="31029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0"/>
              </a:spcAft>
              <a:buNone/>
            </a:pPr>
            <a:r>
              <a:rPr lang="es">
                <a:solidFill>
                  <a:srgbClr val="000000"/>
                </a:solidFill>
              </a:rPr>
              <a:t>Una instrucción </a:t>
            </a:r>
            <a:r>
              <a:rPr lang="es">
                <a:solidFill>
                  <a:srgbClr val="188038"/>
                </a:solidFill>
              </a:rPr>
              <a:t>IF-ELSE</a:t>
            </a:r>
            <a:r>
              <a:rPr lang="es">
                <a:solidFill>
                  <a:srgbClr val="000000"/>
                </a:solidFill>
              </a:rPr>
              <a:t> comienza con la palabra "IF", seguida de una condición entre paréntesis.</a:t>
            </a:r>
            <a:endParaRPr>
              <a:solidFill>
                <a:srgbClr val="000000"/>
              </a:solidFill>
            </a:endParaRPr>
          </a:p>
          <a:p>
            <a:pPr indent="0" lvl="0" marL="0" rtl="0" algn="l">
              <a:lnSpc>
                <a:spcPct val="150000"/>
              </a:lnSpc>
              <a:spcBef>
                <a:spcPts val="1200"/>
              </a:spcBef>
              <a:spcAft>
                <a:spcPts val="0"/>
              </a:spcAft>
              <a:buNone/>
            </a:pPr>
            <a:r>
              <a:rPr lang="es">
                <a:solidFill>
                  <a:srgbClr val="000000"/>
                </a:solidFill>
              </a:rPr>
              <a:t> Luego, viene la palabra "THEN" seguida de una o más sentencias. </a:t>
            </a:r>
            <a:endParaRPr>
              <a:solidFill>
                <a:srgbClr val="000000"/>
              </a:solidFill>
            </a:endParaRPr>
          </a:p>
          <a:p>
            <a:pPr indent="0" lvl="0" marL="0" rtl="0" algn="l">
              <a:lnSpc>
                <a:spcPct val="150000"/>
              </a:lnSpc>
              <a:spcBef>
                <a:spcPts val="1200"/>
              </a:spcBef>
              <a:spcAft>
                <a:spcPts val="0"/>
              </a:spcAft>
              <a:buNone/>
            </a:pPr>
            <a:r>
              <a:rPr lang="es">
                <a:solidFill>
                  <a:srgbClr val="000000"/>
                </a:solidFill>
              </a:rPr>
              <a:t>Opcionalmente, puede tener la palabra "ELSE", seguida de una o más sentencias. </a:t>
            </a:r>
            <a:endParaRPr>
              <a:solidFill>
                <a:srgbClr val="000000"/>
              </a:solidFill>
            </a:endParaRPr>
          </a:p>
          <a:p>
            <a:pPr indent="0" lvl="0" marL="0" rtl="0" algn="l">
              <a:lnSpc>
                <a:spcPct val="150000"/>
              </a:lnSpc>
              <a:spcBef>
                <a:spcPts val="1200"/>
              </a:spcBef>
              <a:spcAft>
                <a:spcPts val="1200"/>
              </a:spcAft>
              <a:buNone/>
            </a:pPr>
            <a:r>
              <a:rPr lang="es">
                <a:solidFill>
                  <a:srgbClr val="000000"/>
                </a:solidFill>
              </a:rPr>
              <a:t>Finalmente, termina con la palabra "ENDIF".</a:t>
            </a:r>
            <a:endParaRPr/>
          </a:p>
        </p:txBody>
      </p:sp>
      <p:sp>
        <p:nvSpPr>
          <p:cNvPr id="530" name="Google Shape;530;p71"/>
          <p:cNvSpPr txBox="1"/>
          <p:nvPr>
            <p:ph idx="2" type="body"/>
          </p:nvPr>
        </p:nvSpPr>
        <p:spPr>
          <a:xfrm>
            <a:off x="4643600" y="1237075"/>
            <a:ext cx="4180800" cy="37140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es"/>
              <a:t>&lt;instruccion_if&gt; =</a:t>
            </a:r>
            <a:endParaRPr/>
          </a:p>
          <a:p>
            <a:pPr indent="0" lvl="0" marL="0" rtl="0" algn="l">
              <a:lnSpc>
                <a:spcPct val="100000"/>
              </a:lnSpc>
              <a:spcBef>
                <a:spcPts val="0"/>
              </a:spcBef>
              <a:spcAft>
                <a:spcPts val="0"/>
              </a:spcAft>
              <a:buNone/>
            </a:pPr>
            <a:r>
              <a:rPr lang="es"/>
              <a:t> "IF" "(" &lt;condicion&gt; ")" "THEN" </a:t>
            </a:r>
            <a:endParaRPr/>
          </a:p>
          <a:p>
            <a:pPr indent="0" lvl="0" marL="0" rtl="0" algn="l">
              <a:lnSpc>
                <a:spcPct val="100000"/>
              </a:lnSpc>
              <a:spcBef>
                <a:spcPts val="0"/>
              </a:spcBef>
              <a:spcAft>
                <a:spcPts val="0"/>
              </a:spcAft>
              <a:buNone/>
            </a:pPr>
            <a:r>
              <a:rPr lang="es"/>
              <a:t>                   &lt;sentencia&gt; { &lt;sentencia&gt; } </a:t>
            </a:r>
            <a:endParaRPr/>
          </a:p>
          <a:p>
            <a:pPr indent="0" lvl="0" marL="0" rtl="0" algn="l">
              <a:lnSpc>
                <a:spcPct val="100000"/>
              </a:lnSpc>
              <a:spcBef>
                <a:spcPts val="0"/>
              </a:spcBef>
              <a:spcAft>
                <a:spcPts val="0"/>
              </a:spcAft>
              <a:buNone/>
            </a:pPr>
            <a:r>
              <a:rPr lang="es"/>
              <a:t>                   [ "ELSE" &lt;sentencia&gt; { &lt;sentencia&gt; } ] "ENDIF"</a:t>
            </a:r>
            <a:endParaRPr/>
          </a:p>
          <a:p>
            <a:pPr indent="0" lvl="0" marL="0" rtl="0" algn="l">
              <a:spcBef>
                <a:spcPts val="0"/>
              </a:spcBef>
              <a:spcAft>
                <a:spcPts val="0"/>
              </a:spcAft>
              <a:buNone/>
            </a:pPr>
            <a:r>
              <a:t/>
            </a:r>
            <a:endParaRPr/>
          </a:p>
          <a:p>
            <a:pPr indent="0" lvl="0" marL="0" rtl="0" algn="l">
              <a:spcBef>
                <a:spcPts val="1200"/>
              </a:spcBef>
              <a:spcAft>
                <a:spcPts val="0"/>
              </a:spcAft>
              <a:buNone/>
            </a:pPr>
            <a:r>
              <a:rPr lang="es">
                <a:solidFill>
                  <a:srgbClr val="188038"/>
                </a:solidFill>
              </a:rPr>
              <a:t>"IF"</a:t>
            </a:r>
            <a:r>
              <a:rPr lang="es">
                <a:solidFill>
                  <a:srgbClr val="000000"/>
                </a:solidFill>
              </a:rPr>
              <a:t>: La palabra clave literal.</a:t>
            </a:r>
            <a:endParaRPr>
              <a:solidFill>
                <a:srgbClr val="000000"/>
              </a:solidFill>
            </a:endParaRPr>
          </a:p>
          <a:p>
            <a:pPr indent="0" lvl="0" marL="0" rtl="0" algn="l">
              <a:spcBef>
                <a:spcPts val="1200"/>
              </a:spcBef>
              <a:spcAft>
                <a:spcPts val="0"/>
              </a:spcAft>
              <a:buNone/>
            </a:pPr>
            <a:r>
              <a:rPr lang="es">
                <a:solidFill>
                  <a:srgbClr val="188038"/>
                </a:solidFill>
              </a:rPr>
              <a:t>(...)</a:t>
            </a:r>
            <a:r>
              <a:rPr lang="es">
                <a:solidFill>
                  <a:srgbClr val="000000"/>
                </a:solidFill>
              </a:rPr>
              <a:t>: Agrupa los símbolos.</a:t>
            </a:r>
            <a:endParaRPr>
              <a:solidFill>
                <a:srgbClr val="000000"/>
              </a:solidFill>
            </a:endParaRPr>
          </a:p>
          <a:p>
            <a:pPr indent="0" lvl="0" marL="0" rtl="0" algn="l">
              <a:spcBef>
                <a:spcPts val="1200"/>
              </a:spcBef>
              <a:spcAft>
                <a:spcPts val="0"/>
              </a:spcAft>
              <a:buNone/>
            </a:pPr>
            <a:r>
              <a:rPr lang="es">
                <a:solidFill>
                  <a:srgbClr val="188038"/>
                </a:solidFill>
              </a:rPr>
              <a:t>[...]</a:t>
            </a:r>
            <a:r>
              <a:rPr lang="es">
                <a:solidFill>
                  <a:srgbClr val="000000"/>
                </a:solidFill>
              </a:rPr>
              <a:t>: Indica que la sección </a:t>
            </a:r>
            <a:r>
              <a:rPr lang="es">
                <a:solidFill>
                  <a:srgbClr val="188038"/>
                </a:solidFill>
              </a:rPr>
              <a:t>ELSE</a:t>
            </a:r>
            <a:r>
              <a:rPr lang="es">
                <a:solidFill>
                  <a:srgbClr val="000000"/>
                </a:solidFill>
              </a:rPr>
              <a:t> es opcional (puede aparecer cero o una vez).</a:t>
            </a:r>
            <a:endParaRPr>
              <a:solidFill>
                <a:srgbClr val="000000"/>
              </a:solidFill>
            </a:endParaRPr>
          </a:p>
          <a:p>
            <a:pPr indent="0" lvl="0" marL="0" rtl="0" algn="l">
              <a:spcBef>
                <a:spcPts val="1200"/>
              </a:spcBef>
              <a:spcAft>
                <a:spcPts val="1200"/>
              </a:spcAft>
              <a:buNone/>
            </a:pPr>
            <a:r>
              <a:rPr lang="es">
                <a:solidFill>
                  <a:srgbClr val="188038"/>
                </a:solidFill>
              </a:rPr>
              <a:t>{&lt;sentencia&gt;}</a:t>
            </a:r>
            <a:r>
              <a:rPr lang="es">
                <a:solidFill>
                  <a:srgbClr val="000000"/>
                </a:solidFill>
              </a:rPr>
              <a:t>: Permite que haya una o más sentencias después de </a:t>
            </a:r>
            <a:r>
              <a:rPr lang="es">
                <a:solidFill>
                  <a:srgbClr val="188038"/>
                </a:solidFill>
              </a:rPr>
              <a:t>THEN</a:t>
            </a:r>
            <a:r>
              <a:rPr lang="es">
                <a:solidFill>
                  <a:srgbClr val="000000"/>
                </a:solidFill>
              </a:rPr>
              <a:t> y </a:t>
            </a:r>
            <a:r>
              <a:rPr lang="es">
                <a:solidFill>
                  <a:srgbClr val="188038"/>
                </a:solidFill>
              </a:rPr>
              <a:t>ELSE</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72"/>
          <p:cNvSpPr txBox="1"/>
          <p:nvPr>
            <p:ph type="title"/>
          </p:nvPr>
        </p:nvSpPr>
        <p:spPr>
          <a:xfrm>
            <a:off x="830400" y="656050"/>
            <a:ext cx="7688400" cy="535200"/>
          </a:xfrm>
          <a:prstGeom prst="rect">
            <a:avLst/>
          </a:prstGeom>
        </p:spPr>
        <p:txBody>
          <a:bodyPr anchorCtr="0" anchor="t" bIns="91425" lIns="91425" spcFirstLastPara="1" rIns="91425" wrap="square" tIns="91425">
            <a:normAutofit fontScale="90000"/>
          </a:bodyPr>
          <a:lstStyle/>
          <a:p>
            <a:pPr indent="0" lvl="0" marL="0" rtl="0" algn="l">
              <a:lnSpc>
                <a:spcPct val="119900"/>
              </a:lnSpc>
              <a:spcBef>
                <a:spcPts val="0"/>
              </a:spcBef>
              <a:spcAft>
                <a:spcPts val="0"/>
              </a:spcAft>
              <a:buNone/>
            </a:pPr>
            <a:r>
              <a:rPr b="0" lang="es" sz="3150">
                <a:solidFill>
                  <a:srgbClr val="161616"/>
                </a:solidFill>
                <a:highlight>
                  <a:srgbClr val="FFFFFF"/>
                </a:highlight>
                <a:latin typeface="Arial"/>
                <a:ea typeface="Arial"/>
                <a:cs typeface="Arial"/>
                <a:sym typeface="Arial"/>
              </a:rPr>
              <a:t>Notación de sintaxis SQL</a:t>
            </a:r>
            <a:endParaRPr b="0" sz="3150">
              <a:solidFill>
                <a:srgbClr val="161616"/>
              </a:solidFill>
              <a:highlight>
                <a:srgbClr val="FFFFFF"/>
              </a:highlight>
              <a:latin typeface="Arial"/>
              <a:ea typeface="Arial"/>
              <a:cs typeface="Arial"/>
              <a:sym typeface="Arial"/>
            </a:endParaRPr>
          </a:p>
          <a:p>
            <a:pPr indent="0" lvl="0" marL="0" rtl="0" algn="l">
              <a:lnSpc>
                <a:spcPct val="115000"/>
              </a:lnSpc>
              <a:spcBef>
                <a:spcPts val="600"/>
              </a:spcBef>
              <a:spcAft>
                <a:spcPts val="0"/>
              </a:spcAft>
              <a:buNone/>
            </a:pPr>
            <a:r>
              <a:t/>
            </a:r>
            <a:endParaRPr b="0" sz="1100">
              <a:solidFill>
                <a:srgbClr val="000000"/>
              </a:solidFill>
              <a:latin typeface="Arial"/>
              <a:ea typeface="Arial"/>
              <a:cs typeface="Arial"/>
              <a:sym typeface="Arial"/>
            </a:endParaRPr>
          </a:p>
          <a:p>
            <a:pPr indent="0" lvl="0" marL="0" rtl="0" algn="l">
              <a:spcBef>
                <a:spcPts val="0"/>
              </a:spcBef>
              <a:spcAft>
                <a:spcPts val="0"/>
              </a:spcAft>
              <a:buNone/>
            </a:pPr>
            <a:r>
              <a:t/>
            </a:r>
            <a:endParaRPr/>
          </a:p>
        </p:txBody>
      </p:sp>
      <p:sp>
        <p:nvSpPr>
          <p:cNvPr id="536" name="Google Shape;536;p72"/>
          <p:cNvSpPr txBox="1"/>
          <p:nvPr>
            <p:ph idx="1" type="body"/>
          </p:nvPr>
        </p:nvSpPr>
        <p:spPr>
          <a:xfrm>
            <a:off x="729325" y="1237075"/>
            <a:ext cx="3774300" cy="3102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537" name="Google Shape;537;p72"/>
          <p:cNvSpPr txBox="1"/>
          <p:nvPr>
            <p:ph idx="2" type="body"/>
          </p:nvPr>
        </p:nvSpPr>
        <p:spPr>
          <a:xfrm>
            <a:off x="4643600" y="1237075"/>
            <a:ext cx="3774300" cy="3102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538" name="Google Shape;538;p72"/>
          <p:cNvPicPr preferRelativeResize="0"/>
          <p:nvPr/>
        </p:nvPicPr>
        <p:blipFill>
          <a:blip r:embed="rId3">
            <a:alphaModFix/>
          </a:blip>
          <a:stretch>
            <a:fillRect/>
          </a:stretch>
        </p:blipFill>
        <p:spPr>
          <a:xfrm>
            <a:off x="1215213" y="1224577"/>
            <a:ext cx="6713573" cy="3724999"/>
          </a:xfrm>
          <a:prstGeom prst="rect">
            <a:avLst/>
          </a:prstGeom>
          <a:noFill/>
          <a:ln>
            <a:noFill/>
          </a:ln>
        </p:spPr>
      </p:pic>
      <p:sp>
        <p:nvSpPr>
          <p:cNvPr id="539" name="Google Shape;539;p72"/>
          <p:cNvSpPr txBox="1"/>
          <p:nvPr/>
        </p:nvSpPr>
        <p:spPr>
          <a:xfrm>
            <a:off x="-66654" y="4852381"/>
            <a:ext cx="76884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00"/>
              <a:t>https://www.ibm.com/docs/es/SSSHTQ_8.1.0/pdf/netcoolomnibus-8.1.0-documentation.pdf</a:t>
            </a:r>
            <a:endParaRPr/>
          </a:p>
        </p:txBody>
      </p:sp>
      <p:sp>
        <p:nvSpPr>
          <p:cNvPr id="540" name="Google Shape;540;p72"/>
          <p:cNvSpPr txBox="1"/>
          <p:nvPr/>
        </p:nvSpPr>
        <p:spPr>
          <a:xfrm>
            <a:off x="-66654" y="4688031"/>
            <a:ext cx="74358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00"/>
              <a:t>https://www.ibm.com/docs/es/netcoolomnibus/8.1.0?topic=commands-sql-syntax-notation</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73"/>
          <p:cNvSpPr txBox="1"/>
          <p:nvPr>
            <p:ph type="title"/>
          </p:nvPr>
        </p:nvSpPr>
        <p:spPr>
          <a:xfrm>
            <a:off x="830400" y="6560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Y la gramática de python?</a:t>
            </a:r>
            <a:endParaRPr/>
          </a:p>
        </p:txBody>
      </p:sp>
      <p:sp>
        <p:nvSpPr>
          <p:cNvPr id="546" name="Google Shape;546;p73"/>
          <p:cNvSpPr txBox="1"/>
          <p:nvPr>
            <p:ph idx="1" type="body"/>
          </p:nvPr>
        </p:nvSpPr>
        <p:spPr>
          <a:xfrm>
            <a:off x="359200" y="1237075"/>
            <a:ext cx="4144500" cy="31029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0"/>
              </a:spcAft>
              <a:buNone/>
            </a:pPr>
            <a:r>
              <a:rPr lang="es"/>
              <a:t>L</a:t>
            </a:r>
            <a:r>
              <a:rPr lang="es"/>
              <a:t>a gramática completa de Python, está derivada directamente de la utilizada para generar el analizador CPython </a:t>
            </a:r>
            <a:r>
              <a:rPr lang="es"/>
              <a:t>(</a:t>
            </a:r>
            <a:r>
              <a:rPr lang="es" u="sng">
                <a:solidFill>
                  <a:schemeClr val="hlink"/>
                </a:solidFill>
                <a:hlinkClick r:id="rId3"/>
              </a:rPr>
              <a:t>https://github.com/python/cpython/blob/3.13/Grammar/python.gram</a:t>
            </a:r>
            <a:r>
              <a:rPr lang="es"/>
              <a:t>). </a:t>
            </a:r>
            <a:endParaRPr/>
          </a:p>
          <a:p>
            <a:pPr indent="0" lvl="0" marL="0" rtl="0" algn="l">
              <a:lnSpc>
                <a:spcPct val="150000"/>
              </a:lnSpc>
              <a:spcBef>
                <a:spcPts val="1200"/>
              </a:spcBef>
              <a:spcAft>
                <a:spcPts val="1200"/>
              </a:spcAft>
              <a:buNone/>
            </a:pPr>
            <a:r>
              <a:rPr lang="es"/>
              <a:t>Esta versión omite detalles relacionados con la generación de código y la recuperación de errores. </a:t>
            </a:r>
            <a:r>
              <a:rPr lang="es" u="sng">
                <a:solidFill>
                  <a:schemeClr val="hlink"/>
                </a:solidFill>
                <a:hlinkClick r:id="rId4"/>
              </a:rPr>
              <a:t>https://docs.python.org/3/reference/grammar.html</a:t>
            </a:r>
            <a:r>
              <a:rPr lang="es"/>
              <a:t> </a:t>
            </a:r>
            <a:endParaRPr/>
          </a:p>
        </p:txBody>
      </p:sp>
      <p:sp>
        <p:nvSpPr>
          <p:cNvPr id="547" name="Google Shape;547;p73"/>
          <p:cNvSpPr txBox="1"/>
          <p:nvPr>
            <p:ph idx="2" type="body"/>
          </p:nvPr>
        </p:nvSpPr>
        <p:spPr>
          <a:xfrm>
            <a:off x="4643600" y="1237075"/>
            <a:ext cx="3774300" cy="31029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0"/>
              </a:spcAft>
              <a:buNone/>
            </a:pPr>
            <a:r>
              <a:rPr lang="es"/>
              <a:t>La notación de la gramática de python es una combinación de EBNF (Extended Backus–Naur Form) y PEG (Parsing expression grammar) .</a:t>
            </a:r>
            <a:endParaRPr/>
          </a:p>
          <a:p>
            <a:pPr indent="0" lvl="0" marL="0" rtl="0" algn="l">
              <a:lnSpc>
                <a:spcPct val="150000"/>
              </a:lnSpc>
              <a:spcBef>
                <a:spcPts val="1200"/>
              </a:spcBef>
              <a:spcAft>
                <a:spcPts val="1200"/>
              </a:spcAft>
              <a:buNone/>
            </a:pPr>
            <a:r>
              <a:rPr b="1" lang="es">
                <a:solidFill>
                  <a:srgbClr val="FF0000"/>
                </a:solidFill>
              </a:rPr>
              <a:t>Tarea: Estudiar la gramática de python en la documentación oficial </a:t>
            </a:r>
            <a:r>
              <a:rPr lang="es" u="sng">
                <a:solidFill>
                  <a:schemeClr val="accent5"/>
                </a:solidFill>
                <a:hlinkClick r:id="rId5">
                  <a:extLst>
                    <a:ext uri="{A12FA001-AC4F-418D-AE19-62706E023703}">
                      <ahyp:hlinkClr val="tx"/>
                    </a:ext>
                  </a:extLst>
                </a:hlinkClick>
              </a:rPr>
              <a:t>https://docs.python.org/3/reference/grammar.html</a:t>
            </a:r>
            <a:r>
              <a:rPr lang="es"/>
              <a:t>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74"/>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latin typeface="Lato"/>
                <a:ea typeface="Lato"/>
                <a:cs typeface="Lato"/>
                <a:sym typeface="Lato"/>
              </a:rPr>
              <a:t>Gracias</a:t>
            </a:r>
            <a:endParaRPr>
              <a:latin typeface="Lato"/>
              <a:ea typeface="Lato"/>
              <a:cs typeface="Lato"/>
              <a:sym typeface="Lato"/>
            </a:endParaRPr>
          </a:p>
        </p:txBody>
      </p:sp>
      <p:sp>
        <p:nvSpPr>
          <p:cNvPr id="553" name="Google Shape;553;p74"/>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fontScale="62500" lnSpcReduction="20000"/>
          </a:bodyPr>
          <a:lstStyle/>
          <a:p>
            <a:pPr indent="0" lvl="0" marL="0" rtl="0" algn="l">
              <a:spcBef>
                <a:spcPts val="0"/>
              </a:spcBef>
              <a:spcAft>
                <a:spcPts val="0"/>
              </a:spcAft>
              <a:buNone/>
            </a:pPr>
            <a:r>
              <a:rPr b="1" i="1" lang="es" sz="4200"/>
              <a:t>Fin de la Presentación</a:t>
            </a:r>
            <a:endParaRPr i="1"/>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75"/>
          <p:cNvSpPr txBox="1"/>
          <p:nvPr>
            <p:ph type="title"/>
          </p:nvPr>
        </p:nvSpPr>
        <p:spPr>
          <a:xfrm>
            <a:off x="830400" y="6560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Analicemos una máquina de sumas de un solo bit</a:t>
            </a:r>
            <a:endParaRPr/>
          </a:p>
        </p:txBody>
      </p:sp>
      <p:sp>
        <p:nvSpPr>
          <p:cNvPr id="559" name="Google Shape;559;p75"/>
          <p:cNvSpPr txBox="1"/>
          <p:nvPr>
            <p:ph idx="1" type="body"/>
          </p:nvPr>
        </p:nvSpPr>
        <p:spPr>
          <a:xfrm>
            <a:off x="729325" y="1237075"/>
            <a:ext cx="3774300" cy="3102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U</a:t>
            </a:r>
            <a:r>
              <a:rPr lang="es"/>
              <a:t>n sumador tiene tres entradas (</a:t>
            </a:r>
            <a:r>
              <a:rPr b="1" lang="es"/>
              <a:t>A, B, Acarreo C_in</a:t>
            </a:r>
            <a:r>
              <a:rPr lang="es"/>
              <a:t>) y dos salidas (</a:t>
            </a:r>
            <a:r>
              <a:rPr b="1" lang="es">
                <a:solidFill>
                  <a:srgbClr val="FF0000"/>
                </a:solidFill>
              </a:rPr>
              <a:t>Suma S</a:t>
            </a:r>
            <a:r>
              <a:rPr lang="es"/>
              <a:t>, </a:t>
            </a:r>
            <a:r>
              <a:rPr b="1" lang="es">
                <a:solidFill>
                  <a:srgbClr val="0000FF"/>
                </a:solidFill>
              </a:rPr>
              <a:t>Acarreo C_out</a:t>
            </a:r>
            <a:r>
              <a:rPr lang="es"/>
              <a:t>)</a:t>
            </a:r>
            <a:endParaRPr/>
          </a:p>
        </p:txBody>
      </p:sp>
      <p:sp>
        <p:nvSpPr>
          <p:cNvPr id="560" name="Google Shape;560;p75"/>
          <p:cNvSpPr txBox="1"/>
          <p:nvPr>
            <p:ph idx="2" type="body"/>
          </p:nvPr>
        </p:nvSpPr>
        <p:spPr>
          <a:xfrm>
            <a:off x="4643600" y="1237075"/>
            <a:ext cx="3774300" cy="3102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La suma es 1, cuando hay un número impar de unos en la entrada </a:t>
            </a:r>
            <a:r>
              <a:rPr b="1" lang="es">
                <a:solidFill>
                  <a:srgbClr val="FF0000"/>
                </a:solidFill>
                <a:latin typeface="Arial"/>
                <a:ea typeface="Arial"/>
                <a:cs typeface="Arial"/>
                <a:sym typeface="Arial"/>
              </a:rPr>
              <a:t>Suma</a:t>
            </a:r>
            <a:r>
              <a:rPr lang="es"/>
              <a:t> = </a:t>
            </a:r>
            <a:r>
              <a:rPr b="1" lang="es"/>
              <a:t>A</a:t>
            </a:r>
            <a:r>
              <a:rPr lang="es"/>
              <a:t>  xor  </a:t>
            </a:r>
            <a:r>
              <a:rPr b="1" lang="es"/>
              <a:t>B</a:t>
            </a:r>
            <a:r>
              <a:rPr lang="es"/>
              <a:t>  xor  </a:t>
            </a:r>
            <a:r>
              <a:rPr b="1" lang="es"/>
              <a:t>C_in</a:t>
            </a:r>
            <a:endParaRPr b="1"/>
          </a:p>
          <a:p>
            <a:pPr indent="0" lvl="0" marL="0" rtl="0" algn="l">
              <a:spcBef>
                <a:spcPts val="1200"/>
              </a:spcBef>
              <a:spcAft>
                <a:spcPts val="0"/>
              </a:spcAft>
              <a:buNone/>
            </a:pPr>
            <a:r>
              <a:rPr lang="es"/>
              <a:t>El acarreo (</a:t>
            </a:r>
            <a:r>
              <a:rPr b="1" lang="es"/>
              <a:t>C_out</a:t>
            </a:r>
            <a:r>
              <a:rPr lang="es"/>
              <a:t>) es 1 cuando hay dos o tres 1s en las entradas. Su expresión es </a:t>
            </a:r>
            <a:endParaRPr/>
          </a:p>
          <a:p>
            <a:pPr indent="0" lvl="0" marL="0" rtl="0" algn="l">
              <a:spcBef>
                <a:spcPts val="1200"/>
              </a:spcBef>
              <a:spcAft>
                <a:spcPts val="0"/>
              </a:spcAft>
              <a:buNone/>
            </a:pPr>
            <a:r>
              <a:rPr b="1" lang="es">
                <a:solidFill>
                  <a:srgbClr val="0000FF"/>
                </a:solidFill>
              </a:rPr>
              <a:t>C_out </a:t>
            </a:r>
            <a:r>
              <a:rPr lang="es"/>
              <a:t>= (</a:t>
            </a:r>
            <a:r>
              <a:rPr b="1" lang="es"/>
              <a:t>A </a:t>
            </a:r>
            <a:r>
              <a:rPr lang="es"/>
              <a:t>and </a:t>
            </a:r>
            <a:r>
              <a:rPr b="1" lang="es"/>
              <a:t>B</a:t>
            </a:r>
            <a:r>
              <a:rPr lang="es"/>
              <a:t>) or (</a:t>
            </a:r>
            <a:r>
              <a:rPr b="1" lang="es"/>
              <a:t>C_in</a:t>
            </a:r>
            <a:r>
              <a:rPr lang="es"/>
              <a:t> and (</a:t>
            </a:r>
            <a:r>
              <a:rPr b="1" lang="es"/>
              <a:t>A</a:t>
            </a:r>
            <a:r>
              <a:rPr lang="es"/>
              <a:t> xor </a:t>
            </a:r>
            <a:r>
              <a:rPr b="1" lang="es"/>
              <a:t>B</a:t>
            </a:r>
            <a:r>
              <a:rPr lang="es"/>
              <a:t>))</a:t>
            </a:r>
            <a:endParaRPr b="1"/>
          </a:p>
          <a:p>
            <a:pPr indent="0" lvl="0" marL="0" rtl="0" algn="l">
              <a:spcBef>
                <a:spcPts val="1200"/>
              </a:spcBef>
              <a:spcAft>
                <a:spcPts val="1200"/>
              </a:spcAft>
              <a:buNone/>
            </a:pPr>
            <a:r>
              <a:t/>
            </a:r>
            <a:endParaRPr b="1"/>
          </a:p>
        </p:txBody>
      </p:sp>
      <p:graphicFrame>
        <p:nvGraphicFramePr>
          <p:cNvPr id="561" name="Google Shape;561;p75"/>
          <p:cNvGraphicFramePr/>
          <p:nvPr/>
        </p:nvGraphicFramePr>
        <p:xfrm>
          <a:off x="830400" y="1895300"/>
          <a:ext cx="3000000" cy="3000000"/>
        </p:xfrm>
        <a:graphic>
          <a:graphicData uri="http://schemas.openxmlformats.org/drawingml/2006/table">
            <a:tbl>
              <a:tblPr>
                <a:noFill/>
                <a:tableStyleId>{A93C4C41-8EF1-4E32-AC6D-5B815111848D}</a:tableStyleId>
              </a:tblPr>
              <a:tblGrid>
                <a:gridCol w="493150"/>
                <a:gridCol w="453150"/>
                <a:gridCol w="442475"/>
                <a:gridCol w="623775"/>
                <a:gridCol w="573125"/>
              </a:tblGrid>
              <a:tr h="278475">
                <a:tc>
                  <a:txBody>
                    <a:bodyPr/>
                    <a:lstStyle/>
                    <a:p>
                      <a:pPr indent="0" lvl="0" marL="0" rtl="0" algn="ctr">
                        <a:lnSpc>
                          <a:spcPct val="115000"/>
                        </a:lnSpc>
                        <a:spcBef>
                          <a:spcPts val="0"/>
                        </a:spcBef>
                        <a:spcAft>
                          <a:spcPts val="0"/>
                        </a:spcAft>
                        <a:buNone/>
                      </a:pPr>
                      <a:r>
                        <a:rPr b="1" lang="es" sz="1000"/>
                        <a:t>A</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s" sz="1000"/>
                        <a:t>B</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s" sz="1000"/>
                        <a:t>C_in</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s" sz="1000">
                          <a:solidFill>
                            <a:srgbClr val="FF0000"/>
                          </a:solidFill>
                        </a:rPr>
                        <a:t>Suma</a:t>
                      </a:r>
                      <a:endParaRPr b="1" sz="1000">
                        <a:solidFill>
                          <a:srgbClr val="FF0000"/>
                        </a:solidFill>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s" sz="1000">
                          <a:solidFill>
                            <a:srgbClr val="0000FF"/>
                          </a:solidFill>
                        </a:rPr>
                        <a:t>C_out</a:t>
                      </a:r>
                      <a:endParaRPr b="1" sz="1000">
                        <a:solidFill>
                          <a:srgbClr val="0000FF"/>
                        </a:solidFill>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78475">
                <a:tc>
                  <a:txBody>
                    <a:bodyPr/>
                    <a:lstStyle/>
                    <a:p>
                      <a:pPr indent="0" lvl="0" marL="0" rtl="0" algn="r">
                        <a:lnSpc>
                          <a:spcPct val="115000"/>
                        </a:lnSpc>
                        <a:spcBef>
                          <a:spcPts val="0"/>
                        </a:spcBef>
                        <a:spcAft>
                          <a:spcPts val="0"/>
                        </a:spcAft>
                        <a:buNone/>
                      </a:pPr>
                      <a:r>
                        <a:rPr lang="es" sz="1000"/>
                        <a:t>0</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s" sz="1000"/>
                        <a:t>0</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s" sz="1000"/>
                        <a:t>0</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s" sz="1000">
                          <a:solidFill>
                            <a:srgbClr val="FF0000"/>
                          </a:solidFill>
                        </a:rPr>
                        <a:t>0</a:t>
                      </a:r>
                      <a:endParaRPr sz="1000">
                        <a:solidFill>
                          <a:srgbClr val="FF0000"/>
                        </a:solidFill>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s" sz="1000">
                          <a:solidFill>
                            <a:srgbClr val="0000FF"/>
                          </a:solidFill>
                        </a:rPr>
                        <a:t>0</a:t>
                      </a:r>
                      <a:endParaRPr sz="1000">
                        <a:solidFill>
                          <a:srgbClr val="0000FF"/>
                        </a:solidFill>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78475">
                <a:tc>
                  <a:txBody>
                    <a:bodyPr/>
                    <a:lstStyle/>
                    <a:p>
                      <a:pPr indent="0" lvl="0" marL="0" rtl="0" algn="r">
                        <a:lnSpc>
                          <a:spcPct val="115000"/>
                        </a:lnSpc>
                        <a:spcBef>
                          <a:spcPts val="0"/>
                        </a:spcBef>
                        <a:spcAft>
                          <a:spcPts val="0"/>
                        </a:spcAft>
                        <a:buNone/>
                      </a:pPr>
                      <a:r>
                        <a:rPr b="1" lang="es" sz="1000"/>
                        <a:t>0</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es" sz="1000"/>
                        <a:t>0</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es" sz="1000"/>
                        <a:t>1</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es" sz="1000">
                          <a:solidFill>
                            <a:srgbClr val="FF0000"/>
                          </a:solidFill>
                        </a:rPr>
                        <a:t>1</a:t>
                      </a:r>
                      <a:endParaRPr b="1" sz="1000">
                        <a:solidFill>
                          <a:srgbClr val="FF0000"/>
                        </a:solidFill>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s" sz="1000">
                          <a:solidFill>
                            <a:srgbClr val="0000FF"/>
                          </a:solidFill>
                        </a:rPr>
                        <a:t>0</a:t>
                      </a:r>
                      <a:endParaRPr sz="1000">
                        <a:solidFill>
                          <a:srgbClr val="0000FF"/>
                        </a:solidFill>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78475">
                <a:tc>
                  <a:txBody>
                    <a:bodyPr/>
                    <a:lstStyle/>
                    <a:p>
                      <a:pPr indent="0" lvl="0" marL="0" rtl="0" algn="r">
                        <a:lnSpc>
                          <a:spcPct val="115000"/>
                        </a:lnSpc>
                        <a:spcBef>
                          <a:spcPts val="0"/>
                        </a:spcBef>
                        <a:spcAft>
                          <a:spcPts val="0"/>
                        </a:spcAft>
                        <a:buNone/>
                      </a:pPr>
                      <a:r>
                        <a:rPr b="1" lang="es" sz="1000"/>
                        <a:t>0</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es" sz="1000"/>
                        <a:t>1</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es" sz="1000"/>
                        <a:t>0</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es" sz="1000">
                          <a:solidFill>
                            <a:srgbClr val="FF0000"/>
                          </a:solidFill>
                        </a:rPr>
                        <a:t>1</a:t>
                      </a:r>
                      <a:endParaRPr b="1" sz="1000">
                        <a:solidFill>
                          <a:srgbClr val="FF0000"/>
                        </a:solidFill>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s" sz="1000">
                          <a:solidFill>
                            <a:srgbClr val="0000FF"/>
                          </a:solidFill>
                        </a:rPr>
                        <a:t>0</a:t>
                      </a:r>
                      <a:endParaRPr sz="1000">
                        <a:solidFill>
                          <a:srgbClr val="0000FF"/>
                        </a:solidFill>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78475">
                <a:tc>
                  <a:txBody>
                    <a:bodyPr/>
                    <a:lstStyle/>
                    <a:p>
                      <a:pPr indent="0" lvl="0" marL="0" rtl="0" algn="r">
                        <a:lnSpc>
                          <a:spcPct val="115000"/>
                        </a:lnSpc>
                        <a:spcBef>
                          <a:spcPts val="0"/>
                        </a:spcBef>
                        <a:spcAft>
                          <a:spcPts val="0"/>
                        </a:spcAft>
                        <a:buNone/>
                      </a:pPr>
                      <a:r>
                        <a:rPr lang="es" sz="1000"/>
                        <a:t>0</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s" sz="1000"/>
                        <a:t>1</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s" sz="1000"/>
                        <a:t>1</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s" sz="1000">
                          <a:solidFill>
                            <a:srgbClr val="FF0000"/>
                          </a:solidFill>
                        </a:rPr>
                        <a:t>0</a:t>
                      </a:r>
                      <a:endParaRPr sz="1000">
                        <a:solidFill>
                          <a:srgbClr val="FF0000"/>
                        </a:solidFill>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s" sz="1000">
                          <a:solidFill>
                            <a:srgbClr val="0000FF"/>
                          </a:solidFill>
                        </a:rPr>
                        <a:t>1</a:t>
                      </a:r>
                      <a:endParaRPr sz="1000">
                        <a:solidFill>
                          <a:srgbClr val="0000FF"/>
                        </a:solidFill>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78475">
                <a:tc>
                  <a:txBody>
                    <a:bodyPr/>
                    <a:lstStyle/>
                    <a:p>
                      <a:pPr indent="0" lvl="0" marL="0" rtl="0" algn="r">
                        <a:lnSpc>
                          <a:spcPct val="115000"/>
                        </a:lnSpc>
                        <a:spcBef>
                          <a:spcPts val="0"/>
                        </a:spcBef>
                        <a:spcAft>
                          <a:spcPts val="0"/>
                        </a:spcAft>
                        <a:buNone/>
                      </a:pPr>
                      <a:r>
                        <a:rPr b="1" lang="es" sz="1000"/>
                        <a:t>1</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es" sz="1000"/>
                        <a:t>0</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es" sz="1000"/>
                        <a:t>0</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es" sz="1000">
                          <a:solidFill>
                            <a:srgbClr val="FF0000"/>
                          </a:solidFill>
                        </a:rPr>
                        <a:t>1</a:t>
                      </a:r>
                      <a:endParaRPr b="1" sz="1000">
                        <a:solidFill>
                          <a:srgbClr val="FF0000"/>
                        </a:solidFill>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s" sz="1000">
                          <a:solidFill>
                            <a:srgbClr val="0000FF"/>
                          </a:solidFill>
                        </a:rPr>
                        <a:t>0</a:t>
                      </a:r>
                      <a:endParaRPr sz="1000">
                        <a:solidFill>
                          <a:srgbClr val="0000FF"/>
                        </a:solidFill>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78475">
                <a:tc>
                  <a:txBody>
                    <a:bodyPr/>
                    <a:lstStyle/>
                    <a:p>
                      <a:pPr indent="0" lvl="0" marL="0" rtl="0" algn="r">
                        <a:lnSpc>
                          <a:spcPct val="115000"/>
                        </a:lnSpc>
                        <a:spcBef>
                          <a:spcPts val="0"/>
                        </a:spcBef>
                        <a:spcAft>
                          <a:spcPts val="0"/>
                        </a:spcAft>
                        <a:buNone/>
                      </a:pPr>
                      <a:r>
                        <a:rPr lang="es" sz="1000"/>
                        <a:t>1</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s" sz="1000"/>
                        <a:t>0</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s" sz="1000"/>
                        <a:t>1</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s" sz="1000">
                          <a:solidFill>
                            <a:srgbClr val="FF0000"/>
                          </a:solidFill>
                        </a:rPr>
                        <a:t>0</a:t>
                      </a:r>
                      <a:endParaRPr sz="1000">
                        <a:solidFill>
                          <a:srgbClr val="FF0000"/>
                        </a:solidFill>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s" sz="1000">
                          <a:solidFill>
                            <a:srgbClr val="0000FF"/>
                          </a:solidFill>
                        </a:rPr>
                        <a:t>1</a:t>
                      </a:r>
                      <a:endParaRPr sz="1000">
                        <a:solidFill>
                          <a:srgbClr val="0000FF"/>
                        </a:solidFill>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78475">
                <a:tc>
                  <a:txBody>
                    <a:bodyPr/>
                    <a:lstStyle/>
                    <a:p>
                      <a:pPr indent="0" lvl="0" marL="0" rtl="0" algn="r">
                        <a:lnSpc>
                          <a:spcPct val="115000"/>
                        </a:lnSpc>
                        <a:spcBef>
                          <a:spcPts val="0"/>
                        </a:spcBef>
                        <a:spcAft>
                          <a:spcPts val="0"/>
                        </a:spcAft>
                        <a:buNone/>
                      </a:pPr>
                      <a:r>
                        <a:rPr lang="es" sz="1000"/>
                        <a:t>1</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s" sz="1000"/>
                        <a:t>1</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s" sz="1000"/>
                        <a:t>0</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s" sz="1000">
                          <a:solidFill>
                            <a:srgbClr val="FF0000"/>
                          </a:solidFill>
                        </a:rPr>
                        <a:t>0</a:t>
                      </a:r>
                      <a:endParaRPr sz="1000">
                        <a:solidFill>
                          <a:srgbClr val="FF0000"/>
                        </a:solidFill>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s" sz="1000">
                          <a:solidFill>
                            <a:srgbClr val="0000FF"/>
                          </a:solidFill>
                        </a:rPr>
                        <a:t>1</a:t>
                      </a:r>
                      <a:endParaRPr sz="1000">
                        <a:solidFill>
                          <a:srgbClr val="0000FF"/>
                        </a:solidFill>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78475">
                <a:tc>
                  <a:txBody>
                    <a:bodyPr/>
                    <a:lstStyle/>
                    <a:p>
                      <a:pPr indent="0" lvl="0" marL="0" rtl="0" algn="r">
                        <a:lnSpc>
                          <a:spcPct val="115000"/>
                        </a:lnSpc>
                        <a:spcBef>
                          <a:spcPts val="0"/>
                        </a:spcBef>
                        <a:spcAft>
                          <a:spcPts val="0"/>
                        </a:spcAft>
                        <a:buNone/>
                      </a:pPr>
                      <a:r>
                        <a:rPr b="1" lang="es" sz="1000"/>
                        <a:t>1</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es" sz="1000"/>
                        <a:t>1</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es" sz="1000"/>
                        <a:t>1</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es" sz="1000">
                          <a:solidFill>
                            <a:srgbClr val="FF0000"/>
                          </a:solidFill>
                        </a:rPr>
                        <a:t>1</a:t>
                      </a:r>
                      <a:endParaRPr b="1" sz="1000">
                        <a:solidFill>
                          <a:srgbClr val="FF0000"/>
                        </a:solidFill>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s" sz="1000">
                          <a:solidFill>
                            <a:srgbClr val="0000FF"/>
                          </a:solidFill>
                        </a:rPr>
                        <a:t>1</a:t>
                      </a:r>
                      <a:endParaRPr sz="1000">
                        <a:solidFill>
                          <a:srgbClr val="0000FF"/>
                        </a:solidFill>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bl>
          </a:graphicData>
        </a:graphic>
      </p:graphicFrame>
      <p:sp>
        <p:nvSpPr>
          <p:cNvPr id="562" name="Google Shape;562;p75"/>
          <p:cNvSpPr txBox="1"/>
          <p:nvPr/>
        </p:nvSpPr>
        <p:spPr>
          <a:xfrm>
            <a:off x="95275" y="4478975"/>
            <a:ext cx="38526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00">
                <a:solidFill>
                  <a:schemeClr val="dk2"/>
                </a:solidFill>
                <a:latin typeface="Lato"/>
                <a:ea typeface="Lato"/>
                <a:cs typeface="Lato"/>
                <a:sym typeface="Lato"/>
              </a:rPr>
              <a:t>Una </a:t>
            </a:r>
            <a:r>
              <a:rPr lang="es" sz="1300">
                <a:solidFill>
                  <a:schemeClr val="dk2"/>
                </a:solidFill>
                <a:latin typeface="Lato"/>
                <a:ea typeface="Lato"/>
                <a:cs typeface="Lato"/>
                <a:sym typeface="Lato"/>
              </a:rPr>
              <a:t>tabla de verdad enumera todas las posibles combinaciones de entrada y sus salidas.</a:t>
            </a:r>
            <a:endParaRPr/>
          </a:p>
        </p:txBody>
      </p:sp>
      <p:pic>
        <p:nvPicPr>
          <p:cNvPr id="563" name="Google Shape;563;p75"/>
          <p:cNvPicPr preferRelativeResize="0"/>
          <p:nvPr/>
        </p:nvPicPr>
        <p:blipFill>
          <a:blip r:embed="rId3">
            <a:alphaModFix/>
          </a:blip>
          <a:stretch>
            <a:fillRect/>
          </a:stretch>
        </p:blipFill>
        <p:spPr>
          <a:xfrm>
            <a:off x="4503622" y="2730725"/>
            <a:ext cx="3969029" cy="2412775"/>
          </a:xfrm>
          <a:prstGeom prst="rect">
            <a:avLst/>
          </a:prstGeom>
          <a:noFill/>
          <a:ln>
            <a:noFill/>
          </a:ln>
        </p:spPr>
      </p:pic>
      <p:cxnSp>
        <p:nvCxnSpPr>
          <p:cNvPr id="564" name="Google Shape;564;p75"/>
          <p:cNvCxnSpPr/>
          <p:nvPr/>
        </p:nvCxnSpPr>
        <p:spPr>
          <a:xfrm flipH="1" rot="10800000">
            <a:off x="3413325" y="3287125"/>
            <a:ext cx="1251000" cy="994500"/>
          </a:xfrm>
          <a:prstGeom prst="straightConnector1">
            <a:avLst/>
          </a:prstGeom>
          <a:noFill/>
          <a:ln cap="flat" cmpd="sng" w="19050">
            <a:solidFill>
              <a:schemeClr val="dk2"/>
            </a:solidFill>
            <a:prstDash val="solid"/>
            <a:round/>
            <a:headEnd len="med" w="med" type="none"/>
            <a:tailEnd len="med" w="med" type="stealth"/>
          </a:ln>
        </p:spPr>
      </p:cxn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76"/>
          <p:cNvSpPr txBox="1"/>
          <p:nvPr>
            <p:ph type="title"/>
          </p:nvPr>
        </p:nvSpPr>
        <p:spPr>
          <a:xfrm>
            <a:off x="830400" y="6560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Suma = A  xor  B  xor  C_in</a:t>
            </a:r>
            <a:endParaRPr/>
          </a:p>
          <a:p>
            <a:pPr indent="0" lvl="0" marL="0" rtl="0" algn="l">
              <a:spcBef>
                <a:spcPts val="0"/>
              </a:spcBef>
              <a:spcAft>
                <a:spcPts val="0"/>
              </a:spcAft>
              <a:buNone/>
            </a:pPr>
            <a:r>
              <a:t/>
            </a:r>
            <a:endParaRPr/>
          </a:p>
        </p:txBody>
      </p:sp>
      <p:sp>
        <p:nvSpPr>
          <p:cNvPr id="570" name="Google Shape;570;p76"/>
          <p:cNvSpPr txBox="1"/>
          <p:nvPr>
            <p:ph idx="1" type="body"/>
          </p:nvPr>
        </p:nvSpPr>
        <p:spPr>
          <a:xfrm>
            <a:off x="729325" y="1237075"/>
            <a:ext cx="3774300" cy="3102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1 + 1 + 1</a:t>
            </a:r>
            <a:endParaRPr/>
          </a:p>
        </p:txBody>
      </p:sp>
      <p:sp>
        <p:nvSpPr>
          <p:cNvPr id="571" name="Google Shape;571;p76"/>
          <p:cNvSpPr txBox="1"/>
          <p:nvPr>
            <p:ph idx="2" type="body"/>
          </p:nvPr>
        </p:nvSpPr>
        <p:spPr>
          <a:xfrm>
            <a:off x="4643600" y="1237075"/>
            <a:ext cx="3774300" cy="3102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1 + 0 + 1</a:t>
            </a:r>
            <a:endParaRPr/>
          </a:p>
        </p:txBody>
      </p:sp>
      <p:pic>
        <p:nvPicPr>
          <p:cNvPr id="572" name="Google Shape;572;p76"/>
          <p:cNvPicPr preferRelativeResize="0"/>
          <p:nvPr/>
        </p:nvPicPr>
        <p:blipFill>
          <a:blip r:embed="rId3">
            <a:alphaModFix/>
          </a:blip>
          <a:stretch>
            <a:fillRect/>
          </a:stretch>
        </p:blipFill>
        <p:spPr>
          <a:xfrm>
            <a:off x="4643600" y="1666250"/>
            <a:ext cx="4041600" cy="2390800"/>
          </a:xfrm>
          <a:prstGeom prst="rect">
            <a:avLst/>
          </a:prstGeom>
          <a:noFill/>
          <a:ln>
            <a:noFill/>
          </a:ln>
        </p:spPr>
      </p:pic>
      <p:pic>
        <p:nvPicPr>
          <p:cNvPr id="573" name="Google Shape;573;p76"/>
          <p:cNvPicPr preferRelativeResize="0"/>
          <p:nvPr/>
        </p:nvPicPr>
        <p:blipFill>
          <a:blip r:embed="rId4">
            <a:alphaModFix/>
          </a:blip>
          <a:stretch>
            <a:fillRect/>
          </a:stretch>
        </p:blipFill>
        <p:spPr>
          <a:xfrm>
            <a:off x="230000" y="1666250"/>
            <a:ext cx="3975775" cy="2433575"/>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77"/>
          <p:cNvSpPr txBox="1"/>
          <p:nvPr>
            <p:ph type="title"/>
          </p:nvPr>
        </p:nvSpPr>
        <p:spPr>
          <a:xfrm>
            <a:off x="830400" y="6560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C_out = (A and B) or (C_in and (A xor B))</a:t>
            </a:r>
            <a:endParaRPr/>
          </a:p>
        </p:txBody>
      </p:sp>
      <p:sp>
        <p:nvSpPr>
          <p:cNvPr id="579" name="Google Shape;579;p77"/>
          <p:cNvSpPr txBox="1"/>
          <p:nvPr>
            <p:ph idx="1" type="body"/>
          </p:nvPr>
        </p:nvSpPr>
        <p:spPr>
          <a:xfrm>
            <a:off x="729325" y="1237075"/>
            <a:ext cx="3774300" cy="3102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1 + 1 + 1</a:t>
            </a:r>
            <a:endParaRPr/>
          </a:p>
        </p:txBody>
      </p:sp>
      <p:sp>
        <p:nvSpPr>
          <p:cNvPr id="580" name="Google Shape;580;p77"/>
          <p:cNvSpPr txBox="1"/>
          <p:nvPr>
            <p:ph idx="2" type="body"/>
          </p:nvPr>
        </p:nvSpPr>
        <p:spPr>
          <a:xfrm>
            <a:off x="4643600" y="1237075"/>
            <a:ext cx="3774300" cy="3102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1 + 0 + 1</a:t>
            </a:r>
            <a:endParaRPr/>
          </a:p>
        </p:txBody>
      </p:sp>
      <p:pic>
        <p:nvPicPr>
          <p:cNvPr id="581" name="Google Shape;581;p77"/>
          <p:cNvPicPr preferRelativeResize="0"/>
          <p:nvPr/>
        </p:nvPicPr>
        <p:blipFill>
          <a:blip r:embed="rId3">
            <a:alphaModFix/>
          </a:blip>
          <a:stretch>
            <a:fillRect/>
          </a:stretch>
        </p:blipFill>
        <p:spPr>
          <a:xfrm>
            <a:off x="729325" y="1752350"/>
            <a:ext cx="3774301" cy="2069358"/>
          </a:xfrm>
          <a:prstGeom prst="rect">
            <a:avLst/>
          </a:prstGeom>
          <a:noFill/>
          <a:ln>
            <a:noFill/>
          </a:ln>
        </p:spPr>
      </p:pic>
      <p:pic>
        <p:nvPicPr>
          <p:cNvPr id="582" name="Google Shape;582;p77"/>
          <p:cNvPicPr preferRelativeResize="0"/>
          <p:nvPr/>
        </p:nvPicPr>
        <p:blipFill>
          <a:blip r:embed="rId4">
            <a:alphaModFix/>
          </a:blip>
          <a:stretch>
            <a:fillRect/>
          </a:stretch>
        </p:blipFill>
        <p:spPr>
          <a:xfrm>
            <a:off x="4643600" y="1752350"/>
            <a:ext cx="3774300" cy="2054523"/>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p78"/>
          <p:cNvSpPr txBox="1"/>
          <p:nvPr>
            <p:ph type="title"/>
          </p:nvPr>
        </p:nvSpPr>
        <p:spPr>
          <a:xfrm>
            <a:off x="830400" y="6560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Conversión de -60 a Binario</a:t>
            </a:r>
            <a:endParaRPr/>
          </a:p>
        </p:txBody>
      </p:sp>
      <p:sp>
        <p:nvSpPr>
          <p:cNvPr id="588" name="Google Shape;588;p78"/>
          <p:cNvSpPr txBox="1"/>
          <p:nvPr>
            <p:ph idx="1" type="body"/>
          </p:nvPr>
        </p:nvSpPr>
        <p:spPr>
          <a:xfrm>
            <a:off x="729450" y="1237075"/>
            <a:ext cx="7688700" cy="31029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s"/>
              <a:t>Para convertir el número 60 a binario, se realizan divisiones sucesivas por 2.</a:t>
            </a:r>
            <a:endParaRPr/>
          </a:p>
          <a:p>
            <a:pPr indent="-298450" lvl="0" marL="457200" rtl="0" algn="l">
              <a:spcBef>
                <a:spcPts val="1200"/>
              </a:spcBef>
              <a:spcAft>
                <a:spcPts val="0"/>
              </a:spcAft>
              <a:buClr>
                <a:srgbClr val="000000"/>
              </a:buClr>
              <a:buSzPts val="1100"/>
              <a:buFont typeface="Arial"/>
              <a:buChar char="●"/>
            </a:pPr>
            <a:r>
              <a:rPr lang="es"/>
              <a:t>60÷2=30, residuo 0</a:t>
            </a:r>
            <a:endParaRPr/>
          </a:p>
          <a:p>
            <a:pPr indent="-298450" lvl="0" marL="457200" rtl="0" algn="l">
              <a:spcBef>
                <a:spcPts val="0"/>
              </a:spcBef>
              <a:spcAft>
                <a:spcPts val="0"/>
              </a:spcAft>
              <a:buClr>
                <a:srgbClr val="000000"/>
              </a:buClr>
              <a:buSzPts val="1100"/>
              <a:buFont typeface="Arial"/>
              <a:buChar char="●"/>
            </a:pPr>
            <a:r>
              <a:rPr lang="es"/>
              <a:t>30÷2=15, residuo 0</a:t>
            </a:r>
            <a:endParaRPr/>
          </a:p>
          <a:p>
            <a:pPr indent="-298450" lvl="0" marL="457200" rtl="0" algn="l">
              <a:spcBef>
                <a:spcPts val="0"/>
              </a:spcBef>
              <a:spcAft>
                <a:spcPts val="0"/>
              </a:spcAft>
              <a:buClr>
                <a:srgbClr val="000000"/>
              </a:buClr>
              <a:buSzPts val="1100"/>
              <a:buFont typeface="Arial"/>
              <a:buChar char="●"/>
            </a:pPr>
            <a:r>
              <a:rPr lang="es"/>
              <a:t>15÷2=7, residuo 1</a:t>
            </a:r>
            <a:endParaRPr/>
          </a:p>
          <a:p>
            <a:pPr indent="-298450" lvl="0" marL="457200" rtl="0" algn="l">
              <a:spcBef>
                <a:spcPts val="0"/>
              </a:spcBef>
              <a:spcAft>
                <a:spcPts val="0"/>
              </a:spcAft>
              <a:buClr>
                <a:srgbClr val="000000"/>
              </a:buClr>
              <a:buSzPts val="1100"/>
              <a:buFont typeface="Arial"/>
              <a:buChar char="●"/>
            </a:pPr>
            <a:r>
              <a:rPr lang="es"/>
              <a:t>7÷2=3, residuo 1</a:t>
            </a:r>
            <a:endParaRPr/>
          </a:p>
          <a:p>
            <a:pPr indent="-298450" lvl="0" marL="457200" rtl="0" algn="l">
              <a:spcBef>
                <a:spcPts val="0"/>
              </a:spcBef>
              <a:spcAft>
                <a:spcPts val="0"/>
              </a:spcAft>
              <a:buClr>
                <a:srgbClr val="000000"/>
              </a:buClr>
              <a:buSzPts val="1100"/>
              <a:buFont typeface="Arial"/>
              <a:buChar char="●"/>
            </a:pPr>
            <a:r>
              <a:rPr lang="es"/>
              <a:t>3÷2=1, residuo 1</a:t>
            </a:r>
            <a:endParaRPr/>
          </a:p>
          <a:p>
            <a:pPr indent="-298450" lvl="0" marL="457200" rtl="0" algn="l">
              <a:spcBef>
                <a:spcPts val="0"/>
              </a:spcBef>
              <a:spcAft>
                <a:spcPts val="0"/>
              </a:spcAft>
              <a:buClr>
                <a:srgbClr val="000000"/>
              </a:buClr>
              <a:buSzPts val="1100"/>
              <a:buFont typeface="Arial"/>
              <a:buChar char="●"/>
            </a:pPr>
            <a:r>
              <a:rPr lang="es"/>
              <a:t>1÷2=0, residuo 1</a:t>
            </a:r>
            <a:endParaRPr/>
          </a:p>
          <a:p>
            <a:pPr indent="0" lvl="0" marL="0" rtl="0" algn="l">
              <a:spcBef>
                <a:spcPts val="1200"/>
              </a:spcBef>
              <a:spcAft>
                <a:spcPts val="0"/>
              </a:spcAft>
              <a:buNone/>
            </a:pPr>
            <a:r>
              <a:rPr lang="es"/>
              <a:t>Al leer los residuos de abajo hacia arriba, se obtiene el número binario de 60: 111100</a:t>
            </a:r>
            <a:r>
              <a:rPr baseline="-25000" lang="es"/>
              <a:t>2​</a:t>
            </a:r>
            <a:r>
              <a:rPr lang="es"/>
              <a:t>.</a:t>
            </a:r>
            <a:endParaRPr/>
          </a:p>
          <a:p>
            <a:pPr indent="0" lvl="0" marL="0" rtl="0" algn="l">
              <a:spcBef>
                <a:spcPts val="1200"/>
              </a:spcBef>
              <a:spcAft>
                <a:spcPts val="0"/>
              </a:spcAft>
              <a:buNone/>
            </a:pPr>
            <a:r>
              <a:rPr lang="es"/>
              <a:t>Peeerooo, ¿qué sucede con el signo menos?</a:t>
            </a:r>
            <a:endParaRPr/>
          </a:p>
          <a:p>
            <a:pPr indent="0" lvl="0" marL="0" rtl="0" algn="l">
              <a:spcBef>
                <a:spcPts val="1200"/>
              </a:spcBef>
              <a:spcAft>
                <a:spcPts val="1200"/>
              </a:spcAft>
              <a:buNone/>
            </a:pPr>
            <a:r>
              <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79"/>
          <p:cNvSpPr txBox="1"/>
          <p:nvPr>
            <p:ph type="title"/>
          </p:nvPr>
        </p:nvSpPr>
        <p:spPr>
          <a:xfrm>
            <a:off x="830400" y="410475"/>
            <a:ext cx="7688700" cy="780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Representación del Signo Negativo </a:t>
            </a:r>
            <a:endParaRPr/>
          </a:p>
          <a:p>
            <a:pPr indent="0" lvl="0" marL="0" rtl="0" algn="l">
              <a:spcBef>
                <a:spcPts val="0"/>
              </a:spcBef>
              <a:spcAft>
                <a:spcPts val="0"/>
              </a:spcAft>
              <a:buNone/>
            </a:pPr>
            <a:r>
              <a:rPr lang="es"/>
              <a:t>(Complemento a Dos)</a:t>
            </a:r>
            <a:endParaRPr/>
          </a:p>
        </p:txBody>
      </p:sp>
      <p:sp>
        <p:nvSpPr>
          <p:cNvPr id="594" name="Google Shape;594;p79"/>
          <p:cNvSpPr txBox="1"/>
          <p:nvPr>
            <p:ph idx="1" type="body"/>
          </p:nvPr>
        </p:nvSpPr>
        <p:spPr>
          <a:xfrm>
            <a:off x="729450" y="1237075"/>
            <a:ext cx="7688700" cy="36969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s"/>
              <a:t>El signo negativo se representa usando el complemento a dos. Este método es preferido en la computación porque simplifica las operaciones de suma y resta. El proceso es el siguiente:</a:t>
            </a:r>
            <a:endParaRPr/>
          </a:p>
          <a:p>
            <a:pPr indent="-298450" lvl="0" marL="457200" rtl="0" algn="l">
              <a:spcBef>
                <a:spcPts val="1200"/>
              </a:spcBef>
              <a:spcAft>
                <a:spcPts val="0"/>
              </a:spcAft>
              <a:buClr>
                <a:srgbClr val="000000"/>
              </a:buClr>
              <a:buSzPts val="1100"/>
              <a:buFont typeface="Arial"/>
              <a:buAutoNum type="arabicPeriod"/>
            </a:pPr>
            <a:r>
              <a:rPr b="1" lang="es"/>
              <a:t>Añadir un bit de signo:</a:t>
            </a:r>
            <a:r>
              <a:rPr lang="es"/>
              <a:t> Primero, se debe trabajar con un número de bits fijo, generalmente 8, 16, 32 o 64. Para este ejemplo, usaremos 8 bits. El número </a:t>
            </a:r>
            <a:r>
              <a:rPr lang="es">
                <a:solidFill>
                  <a:srgbClr val="188038"/>
                </a:solidFill>
              </a:rPr>
              <a:t>111100</a:t>
            </a:r>
            <a:r>
              <a:rPr baseline="-25000" lang="es"/>
              <a:t>2</a:t>
            </a:r>
            <a:r>
              <a:rPr lang="es"/>
              <a:t>​ se convierte en </a:t>
            </a:r>
            <a:r>
              <a:rPr lang="es">
                <a:solidFill>
                  <a:srgbClr val="FF0000"/>
                </a:solidFill>
              </a:rPr>
              <a:t>00</a:t>
            </a:r>
            <a:r>
              <a:rPr lang="es">
                <a:solidFill>
                  <a:srgbClr val="188038"/>
                </a:solidFill>
              </a:rPr>
              <a:t>111100</a:t>
            </a:r>
            <a:r>
              <a:rPr baseline="-25000" lang="es"/>
              <a:t>2</a:t>
            </a:r>
            <a:r>
              <a:rPr lang="es"/>
              <a:t>​. El bit más a la izquierda (el bit de signo) es </a:t>
            </a:r>
            <a:r>
              <a:rPr lang="es">
                <a:solidFill>
                  <a:srgbClr val="FF0000"/>
                </a:solidFill>
              </a:rPr>
              <a:t>0</a:t>
            </a:r>
            <a:r>
              <a:rPr lang="es"/>
              <a:t>, lo que indica que el número es positivo.</a:t>
            </a:r>
            <a:endParaRPr/>
          </a:p>
          <a:p>
            <a:pPr indent="-298450" lvl="0" marL="457200" rtl="0" algn="l">
              <a:spcBef>
                <a:spcPts val="0"/>
              </a:spcBef>
              <a:spcAft>
                <a:spcPts val="0"/>
              </a:spcAft>
              <a:buClr>
                <a:srgbClr val="000000"/>
              </a:buClr>
              <a:buSzPts val="1100"/>
              <a:buFont typeface="Arial"/>
              <a:buAutoNum type="arabicPeriod"/>
            </a:pPr>
            <a:r>
              <a:rPr b="1" lang="es"/>
              <a:t>Invertir los bits: </a:t>
            </a:r>
            <a:r>
              <a:rPr lang="es"/>
              <a:t>Se cambian todos los 0 por 1 y todos los 1 por 0. Esto se conoce como el </a:t>
            </a:r>
            <a:r>
              <a:rPr b="1" i="1" lang="es"/>
              <a:t>complemento a uno</a:t>
            </a:r>
            <a:r>
              <a:rPr lang="es"/>
              <a:t>.</a:t>
            </a:r>
            <a:endParaRPr/>
          </a:p>
          <a:p>
            <a:pPr indent="-298450" lvl="1" marL="914400" rtl="0" algn="l">
              <a:spcBef>
                <a:spcPts val="0"/>
              </a:spcBef>
              <a:spcAft>
                <a:spcPts val="0"/>
              </a:spcAft>
              <a:buClr>
                <a:srgbClr val="000000"/>
              </a:buClr>
              <a:buSzPts val="1100"/>
              <a:buFont typeface="Arial"/>
              <a:buChar char="○"/>
            </a:pPr>
            <a:r>
              <a:rPr lang="es" sz="1300">
                <a:solidFill>
                  <a:srgbClr val="FF0000"/>
                </a:solidFill>
              </a:rPr>
              <a:t>00</a:t>
            </a:r>
            <a:r>
              <a:rPr lang="es" sz="1300">
                <a:solidFill>
                  <a:srgbClr val="188038"/>
                </a:solidFill>
              </a:rPr>
              <a:t>111100</a:t>
            </a:r>
            <a:r>
              <a:rPr baseline="-25000" lang="es" sz="1300"/>
              <a:t>2</a:t>
            </a:r>
            <a:r>
              <a:rPr lang="es" sz="1300"/>
              <a:t>​ se convierte en </a:t>
            </a:r>
            <a:r>
              <a:rPr lang="es" sz="1300">
                <a:solidFill>
                  <a:srgbClr val="FF0000"/>
                </a:solidFill>
              </a:rPr>
              <a:t>11</a:t>
            </a:r>
            <a:r>
              <a:rPr lang="es" sz="1300">
                <a:solidFill>
                  <a:srgbClr val="188038"/>
                </a:solidFill>
              </a:rPr>
              <a:t>000011</a:t>
            </a:r>
            <a:r>
              <a:rPr baseline="-25000" lang="es" sz="1300"/>
              <a:t>2​</a:t>
            </a:r>
            <a:r>
              <a:rPr lang="es" sz="1300"/>
              <a:t>.</a:t>
            </a:r>
            <a:endParaRPr sz="1300"/>
          </a:p>
          <a:p>
            <a:pPr indent="-298450" lvl="0" marL="457200" rtl="0" algn="l">
              <a:spcBef>
                <a:spcPts val="0"/>
              </a:spcBef>
              <a:spcAft>
                <a:spcPts val="0"/>
              </a:spcAft>
              <a:buClr>
                <a:srgbClr val="000000"/>
              </a:buClr>
              <a:buSzPts val="1100"/>
              <a:buFont typeface="Arial"/>
              <a:buAutoNum type="arabicPeriod"/>
            </a:pPr>
            <a:r>
              <a:rPr b="1" lang="es"/>
              <a:t>Sumar uno: </a:t>
            </a:r>
            <a:r>
              <a:rPr lang="es"/>
              <a:t>Finalmente, se suma 1 al resultado del paso anterior.</a:t>
            </a:r>
            <a:endParaRPr/>
          </a:p>
          <a:p>
            <a:pPr indent="-298450" lvl="1" marL="914400" rtl="0" algn="l">
              <a:spcBef>
                <a:spcPts val="0"/>
              </a:spcBef>
              <a:spcAft>
                <a:spcPts val="0"/>
              </a:spcAft>
              <a:buClr>
                <a:srgbClr val="000000"/>
              </a:buClr>
              <a:buSzPts val="1100"/>
              <a:buFont typeface="Arial"/>
              <a:buChar char="○"/>
            </a:pPr>
            <a:r>
              <a:rPr lang="es" sz="1300"/>
              <a:t>11000011</a:t>
            </a:r>
            <a:r>
              <a:rPr baseline="-25000" lang="es" sz="1300"/>
              <a:t>2​</a:t>
            </a:r>
            <a:r>
              <a:rPr lang="es" sz="1300"/>
              <a:t>+1</a:t>
            </a:r>
            <a:r>
              <a:rPr baseline="-25000" lang="es" sz="1300"/>
              <a:t>2</a:t>
            </a:r>
            <a:r>
              <a:rPr lang="es" sz="1300"/>
              <a:t>​=11000100</a:t>
            </a:r>
            <a:r>
              <a:rPr baseline="-25000" lang="es" sz="1300"/>
              <a:t>2</a:t>
            </a:r>
            <a:r>
              <a:rPr lang="es" sz="1300"/>
              <a:t>​.</a:t>
            </a:r>
            <a:endParaRPr sz="1300"/>
          </a:p>
          <a:p>
            <a:pPr indent="0" lvl="0" marL="0" rtl="0" algn="l">
              <a:spcBef>
                <a:spcPts val="1200"/>
              </a:spcBef>
              <a:spcAft>
                <a:spcPts val="0"/>
              </a:spcAft>
              <a:buNone/>
            </a:pPr>
            <a:r>
              <a:rPr lang="es"/>
              <a:t>Por lo tanto, la representación binaria de -60 en complemento a dos de 8 bits es 11000100</a:t>
            </a:r>
            <a:r>
              <a:rPr baseline="-25000" lang="es"/>
              <a:t>2</a:t>
            </a:r>
            <a:r>
              <a:rPr lang="es"/>
              <a:t>​.</a:t>
            </a:r>
            <a:endParaRPr/>
          </a:p>
          <a:p>
            <a:pPr indent="0" lvl="0" marL="0" rtl="0" algn="l">
              <a:spcBef>
                <a:spcPts val="1200"/>
              </a:spcBef>
              <a:spcAft>
                <a:spcPts val="1200"/>
              </a:spcAft>
              <a:buNone/>
            </a:pPr>
            <a:r>
              <a:rPr lang="es"/>
              <a:t>En este sistema, el bit más significativo (el de la izquierda) se utiliza para el signo: 0 para los números positivos y 1 para los números negativos. El resto de los bits representan el valor del número.</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p80"/>
          <p:cNvSpPr txBox="1"/>
          <p:nvPr>
            <p:ph type="title"/>
          </p:nvPr>
        </p:nvSpPr>
        <p:spPr>
          <a:xfrm>
            <a:off x="830400" y="6560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Proceso de Conversión para obtener -60</a:t>
            </a:r>
            <a:endParaRPr/>
          </a:p>
        </p:txBody>
      </p:sp>
      <p:sp>
        <p:nvSpPr>
          <p:cNvPr id="600" name="Google Shape;600;p80"/>
          <p:cNvSpPr txBox="1"/>
          <p:nvPr>
            <p:ph idx="1" type="body"/>
          </p:nvPr>
        </p:nvSpPr>
        <p:spPr>
          <a:xfrm>
            <a:off x="729450" y="1237075"/>
            <a:ext cx="7688700" cy="3839400"/>
          </a:xfrm>
          <a:prstGeom prst="rect">
            <a:avLst/>
          </a:prstGeom>
        </p:spPr>
        <p:txBody>
          <a:bodyPr anchorCtr="0" anchor="t" bIns="91425" lIns="91425" spcFirstLastPara="1" rIns="91425" wrap="square" tIns="91425">
            <a:normAutofit fontScale="85000" lnSpcReduction="20000"/>
          </a:bodyPr>
          <a:lstStyle/>
          <a:p>
            <a:pPr indent="0" lvl="0" marL="0" rtl="0" algn="l">
              <a:lnSpc>
                <a:spcPct val="150000"/>
              </a:lnSpc>
              <a:spcBef>
                <a:spcPts val="1200"/>
              </a:spcBef>
              <a:spcAft>
                <a:spcPts val="0"/>
              </a:spcAft>
              <a:buNone/>
            </a:pPr>
            <a:r>
              <a:rPr lang="es"/>
              <a:t>Para convertir un número binario en complemento a dos a su valor decimal, debes seguir estos pasos:</a:t>
            </a:r>
            <a:endParaRPr/>
          </a:p>
          <a:p>
            <a:pPr indent="0" lvl="0" marL="0" rtl="0" algn="l">
              <a:lnSpc>
                <a:spcPct val="150000"/>
              </a:lnSpc>
              <a:spcBef>
                <a:spcPts val="1200"/>
              </a:spcBef>
              <a:spcAft>
                <a:spcPts val="0"/>
              </a:spcAft>
              <a:buNone/>
            </a:pPr>
            <a:r>
              <a:rPr lang="es"/>
              <a:t>L</a:t>
            </a:r>
            <a:r>
              <a:rPr lang="es"/>
              <a:t>a representación binaria de -60 en complemento a dos de 8 bits es 11000100</a:t>
            </a:r>
            <a:r>
              <a:rPr baseline="-25000" lang="es"/>
              <a:t>2</a:t>
            </a:r>
            <a:r>
              <a:rPr lang="es"/>
              <a:t>​.</a:t>
            </a:r>
            <a:endParaRPr/>
          </a:p>
          <a:p>
            <a:pPr indent="-287973" lvl="0" marL="457200" rtl="0" algn="l">
              <a:lnSpc>
                <a:spcPct val="150000"/>
              </a:lnSpc>
              <a:spcBef>
                <a:spcPts val="1200"/>
              </a:spcBef>
              <a:spcAft>
                <a:spcPts val="0"/>
              </a:spcAft>
              <a:buClr>
                <a:srgbClr val="000000"/>
              </a:buClr>
              <a:buSzPct val="84615"/>
              <a:buFont typeface="Arial"/>
              <a:buAutoNum type="arabicPeriod"/>
            </a:pPr>
            <a:r>
              <a:rPr b="1" lang="es"/>
              <a:t>Identificar el bit de signo: </a:t>
            </a:r>
            <a:r>
              <a:rPr lang="es"/>
              <a:t>El primer bit (el más a la izquierda) es 1, lo que indica que el número es negativo. Por lo tanto, el resultado será un número negativo.</a:t>
            </a:r>
            <a:endParaRPr/>
          </a:p>
          <a:p>
            <a:pPr indent="-287973" lvl="0" marL="457200" rtl="0" algn="l">
              <a:lnSpc>
                <a:spcPct val="150000"/>
              </a:lnSpc>
              <a:spcBef>
                <a:spcPts val="0"/>
              </a:spcBef>
              <a:spcAft>
                <a:spcPts val="0"/>
              </a:spcAft>
              <a:buClr>
                <a:srgbClr val="000000"/>
              </a:buClr>
              <a:buSzPct val="84615"/>
              <a:buFont typeface="Arial"/>
              <a:buAutoNum type="arabicPeriod"/>
            </a:pPr>
            <a:r>
              <a:rPr b="1" lang="es"/>
              <a:t>Invertir y sumar 1:</a:t>
            </a:r>
            <a:r>
              <a:rPr lang="es"/>
              <a:t> El método más sencillo para la conversión es aplicar el proceso de complemento a dos a la inversa.</a:t>
            </a:r>
            <a:endParaRPr/>
          </a:p>
          <a:p>
            <a:pPr indent="-287973" lvl="1" marL="914400" rtl="0" algn="l">
              <a:lnSpc>
                <a:spcPct val="150000"/>
              </a:lnSpc>
              <a:spcBef>
                <a:spcPts val="0"/>
              </a:spcBef>
              <a:spcAft>
                <a:spcPts val="0"/>
              </a:spcAft>
              <a:buClr>
                <a:srgbClr val="000000"/>
              </a:buClr>
              <a:buSzPct val="84615"/>
              <a:buFont typeface="Arial"/>
              <a:buChar char="○"/>
            </a:pPr>
            <a:r>
              <a:rPr b="1" lang="es" sz="1300"/>
              <a:t>Restar 1:</a:t>
            </a:r>
            <a:r>
              <a:rPr lang="es" sz="1300"/>
              <a:t> 11000100</a:t>
            </a:r>
            <a:r>
              <a:rPr baseline="-25000" lang="es" sz="1300"/>
              <a:t>2​</a:t>
            </a:r>
            <a:r>
              <a:rPr lang="es" sz="1300"/>
              <a:t>−1</a:t>
            </a:r>
            <a:r>
              <a:rPr baseline="-25000" lang="es" sz="1300"/>
              <a:t>2</a:t>
            </a:r>
            <a:r>
              <a:rPr lang="es" sz="1300"/>
              <a:t>​=11000011</a:t>
            </a:r>
            <a:r>
              <a:rPr baseline="-25000" lang="es" sz="1300"/>
              <a:t>2​</a:t>
            </a:r>
            <a:r>
              <a:rPr lang="es" sz="1300"/>
              <a:t>.</a:t>
            </a:r>
            <a:endParaRPr sz="1300"/>
          </a:p>
          <a:p>
            <a:pPr indent="-287973" lvl="1" marL="914400" rtl="0" algn="l">
              <a:lnSpc>
                <a:spcPct val="150000"/>
              </a:lnSpc>
              <a:spcBef>
                <a:spcPts val="0"/>
              </a:spcBef>
              <a:spcAft>
                <a:spcPts val="0"/>
              </a:spcAft>
              <a:buClr>
                <a:srgbClr val="000000"/>
              </a:buClr>
              <a:buSzPct val="84615"/>
              <a:buFont typeface="Arial"/>
              <a:buChar char="○"/>
            </a:pPr>
            <a:r>
              <a:rPr b="1" lang="es" sz="1300"/>
              <a:t>Invertir los bits:</a:t>
            </a:r>
            <a:r>
              <a:rPr lang="es" sz="1300"/>
              <a:t> 11000011</a:t>
            </a:r>
            <a:r>
              <a:rPr baseline="-25000" lang="es" sz="1300"/>
              <a:t>2​</a:t>
            </a:r>
            <a:r>
              <a:rPr lang="es" sz="1300"/>
              <a:t> se convierte en 00111100</a:t>
            </a:r>
            <a:r>
              <a:rPr baseline="-25000" lang="es" sz="1300"/>
              <a:t>2</a:t>
            </a:r>
            <a:r>
              <a:rPr lang="es" sz="1300"/>
              <a:t>​.</a:t>
            </a:r>
            <a:endParaRPr sz="1300"/>
          </a:p>
          <a:p>
            <a:pPr indent="-287973" lvl="0" marL="457200" rtl="0" algn="l">
              <a:lnSpc>
                <a:spcPct val="150000"/>
              </a:lnSpc>
              <a:spcBef>
                <a:spcPts val="0"/>
              </a:spcBef>
              <a:spcAft>
                <a:spcPts val="0"/>
              </a:spcAft>
              <a:buClr>
                <a:srgbClr val="000000"/>
              </a:buClr>
              <a:buSzPct val="84615"/>
              <a:buFont typeface="Arial"/>
              <a:buAutoNum type="arabicPeriod"/>
            </a:pPr>
            <a:r>
              <a:rPr b="1" lang="es"/>
              <a:t>Convertir a decimal: </a:t>
            </a:r>
            <a:r>
              <a:rPr lang="es"/>
              <a:t>Ahora, convierte el número positivo resultante (00111100</a:t>
            </a:r>
            <a:r>
              <a:rPr baseline="-25000" lang="es"/>
              <a:t>2</a:t>
            </a:r>
            <a:r>
              <a:rPr lang="es"/>
              <a:t>​) a decimal. Se hace multiplicando cada bit por la potencia de 2 que le corresponde.</a:t>
            </a:r>
            <a:endParaRPr/>
          </a:p>
          <a:p>
            <a:pPr indent="-287973" lvl="1" marL="914400" rtl="0" algn="l">
              <a:lnSpc>
                <a:spcPct val="150000"/>
              </a:lnSpc>
              <a:spcBef>
                <a:spcPts val="0"/>
              </a:spcBef>
              <a:spcAft>
                <a:spcPts val="0"/>
              </a:spcAft>
              <a:buClr>
                <a:srgbClr val="000000"/>
              </a:buClr>
              <a:buSzPct val="84615"/>
              <a:buFont typeface="Arial"/>
              <a:buChar char="○"/>
            </a:pPr>
            <a:r>
              <a:rPr lang="es" sz="1300"/>
              <a:t>(0×2</a:t>
            </a:r>
            <a:r>
              <a:rPr baseline="30000" lang="es" sz="1300"/>
              <a:t>7</a:t>
            </a:r>
            <a:r>
              <a:rPr lang="es" sz="1300"/>
              <a:t>)+(0×2</a:t>
            </a:r>
            <a:r>
              <a:rPr baseline="30000" lang="es" sz="1300"/>
              <a:t>6</a:t>
            </a:r>
            <a:r>
              <a:rPr lang="es" sz="1300"/>
              <a:t>)+(1×2</a:t>
            </a:r>
            <a:r>
              <a:rPr baseline="30000" lang="es" sz="1300"/>
              <a:t>5</a:t>
            </a:r>
            <a:r>
              <a:rPr lang="es" sz="1300"/>
              <a:t>)+(1×2</a:t>
            </a:r>
            <a:r>
              <a:rPr baseline="30000" lang="es" sz="1300"/>
              <a:t>4</a:t>
            </a:r>
            <a:r>
              <a:rPr lang="es" sz="1300"/>
              <a:t>)+(1×2</a:t>
            </a:r>
            <a:r>
              <a:rPr baseline="30000" lang="es" sz="1300"/>
              <a:t>3</a:t>
            </a:r>
            <a:r>
              <a:rPr lang="es" sz="1300"/>
              <a:t>)+(1×2</a:t>
            </a:r>
            <a:r>
              <a:rPr baseline="30000" lang="es" sz="1300"/>
              <a:t>2</a:t>
            </a:r>
            <a:r>
              <a:rPr lang="es" sz="1300"/>
              <a:t>)+(0×2</a:t>
            </a:r>
            <a:r>
              <a:rPr baseline="30000" lang="es" sz="1300"/>
              <a:t>1)</a:t>
            </a:r>
            <a:r>
              <a:rPr lang="es" sz="1300"/>
              <a:t>+(0×2</a:t>
            </a:r>
            <a:r>
              <a:rPr baseline="30000" lang="es" sz="1300"/>
              <a:t>0</a:t>
            </a:r>
            <a:r>
              <a:rPr lang="es" sz="1300"/>
              <a:t>)</a:t>
            </a:r>
            <a:endParaRPr sz="1300"/>
          </a:p>
          <a:p>
            <a:pPr indent="-287973" lvl="1" marL="914400" rtl="0" algn="l">
              <a:lnSpc>
                <a:spcPct val="150000"/>
              </a:lnSpc>
              <a:spcBef>
                <a:spcPts val="0"/>
              </a:spcBef>
              <a:spcAft>
                <a:spcPts val="0"/>
              </a:spcAft>
              <a:buClr>
                <a:srgbClr val="000000"/>
              </a:buClr>
              <a:buSzPct val="84615"/>
              <a:buFont typeface="Arial"/>
              <a:buChar char="○"/>
            </a:pPr>
            <a:r>
              <a:rPr lang="es" sz="1300"/>
              <a:t>(0)+(0)+(32)+(16)+(8)+(4)+(0)+(0)=60</a:t>
            </a:r>
            <a:endParaRPr sz="1300"/>
          </a:p>
          <a:p>
            <a:pPr indent="-287973" lvl="0" marL="457200" rtl="0" algn="l">
              <a:lnSpc>
                <a:spcPct val="150000"/>
              </a:lnSpc>
              <a:spcBef>
                <a:spcPts val="0"/>
              </a:spcBef>
              <a:spcAft>
                <a:spcPts val="0"/>
              </a:spcAft>
              <a:buClr>
                <a:srgbClr val="000000"/>
              </a:buClr>
              <a:buSzPct val="100000"/>
              <a:buFont typeface="Arial"/>
              <a:buAutoNum type="arabicPeriod"/>
            </a:pPr>
            <a:r>
              <a:rPr b="1" lang="es"/>
              <a:t>Aplicar el signo: </a:t>
            </a:r>
            <a:r>
              <a:rPr lang="es"/>
              <a:t>Como el bit de signo original era 1, el resultado es -60.</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