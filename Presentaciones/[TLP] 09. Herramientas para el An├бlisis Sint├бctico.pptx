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1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y="5143500" cx="9144000"/>
  <p:notesSz cx="6858000" cy="9144000"/>
  <p:embeddedFontLst>
    <p:embeddedFont>
      <p:font typeface="Raleway"/>
      <p:regular r:id="rId24"/>
      <p:bold r:id="rId25"/>
      <p:italic r:id="rId26"/>
      <p:boldItalic r:id="rId27"/>
    </p:embeddedFont>
    <p:embeddedFont>
      <p:font typeface="Garamond"/>
      <p:regular r:id="rId28"/>
      <p:bold r:id="rId29"/>
      <p:italic r:id="rId30"/>
      <p:boldItalic r:id="rId31"/>
    </p:embeddedFont>
    <p:embeddedFont>
      <p:font typeface="Lato"/>
      <p:regular r:id="rId32"/>
      <p:bold r:id="rId33"/>
      <p:italic r:id="rId34"/>
      <p:boldItalic r:id="rId35"/>
    </p:embeddedFont>
    <p:embeddedFont>
      <p:font typeface="Corbel"/>
      <p:regular r:id="rId36"/>
      <p:bold r:id="rId37"/>
      <p:italic r:id="rId38"/>
      <p:boldItalic r:id="rId3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font" Target="fonts/Raleway-regular.fntdata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Raleway-italic.fntdata"/><Relationship Id="rId25" Type="http://schemas.openxmlformats.org/officeDocument/2006/relationships/font" Target="fonts/Raleway-bold.fntdata"/><Relationship Id="rId28" Type="http://schemas.openxmlformats.org/officeDocument/2006/relationships/font" Target="fonts/Garamond-regular.fntdata"/><Relationship Id="rId27" Type="http://schemas.openxmlformats.org/officeDocument/2006/relationships/font" Target="fonts/Raleway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Garamond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Garamond-boldItalic.fntdata"/><Relationship Id="rId30" Type="http://schemas.openxmlformats.org/officeDocument/2006/relationships/font" Target="fonts/Garamond-italic.fntdata"/><Relationship Id="rId11" Type="http://schemas.openxmlformats.org/officeDocument/2006/relationships/slide" Target="slides/slide6.xml"/><Relationship Id="rId33" Type="http://schemas.openxmlformats.org/officeDocument/2006/relationships/font" Target="fonts/Lato-bold.fntdata"/><Relationship Id="rId10" Type="http://schemas.openxmlformats.org/officeDocument/2006/relationships/slide" Target="slides/slide5.xml"/><Relationship Id="rId32" Type="http://schemas.openxmlformats.org/officeDocument/2006/relationships/font" Target="fonts/Lato-regular.fntdata"/><Relationship Id="rId13" Type="http://schemas.openxmlformats.org/officeDocument/2006/relationships/slide" Target="slides/slide8.xml"/><Relationship Id="rId35" Type="http://schemas.openxmlformats.org/officeDocument/2006/relationships/font" Target="fonts/Lato-boldItalic.fntdata"/><Relationship Id="rId12" Type="http://schemas.openxmlformats.org/officeDocument/2006/relationships/slide" Target="slides/slide7.xml"/><Relationship Id="rId34" Type="http://schemas.openxmlformats.org/officeDocument/2006/relationships/font" Target="fonts/Lato-italic.fntdata"/><Relationship Id="rId15" Type="http://schemas.openxmlformats.org/officeDocument/2006/relationships/slide" Target="slides/slide10.xml"/><Relationship Id="rId37" Type="http://schemas.openxmlformats.org/officeDocument/2006/relationships/font" Target="fonts/Corbel-bold.fntdata"/><Relationship Id="rId14" Type="http://schemas.openxmlformats.org/officeDocument/2006/relationships/slide" Target="slides/slide9.xml"/><Relationship Id="rId36" Type="http://schemas.openxmlformats.org/officeDocument/2006/relationships/font" Target="fonts/Corbel-regular.fntdata"/><Relationship Id="rId17" Type="http://schemas.openxmlformats.org/officeDocument/2006/relationships/slide" Target="slides/slide12.xml"/><Relationship Id="rId39" Type="http://schemas.openxmlformats.org/officeDocument/2006/relationships/font" Target="fonts/Corbel-boldItalic.fntdata"/><Relationship Id="rId16" Type="http://schemas.openxmlformats.org/officeDocument/2006/relationships/slide" Target="slides/slide11.xml"/><Relationship Id="rId38" Type="http://schemas.openxmlformats.org/officeDocument/2006/relationships/font" Target="fonts/Corbel-italic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7a74099c92_0_6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7a74099c92_0_6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9becfeeab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9becfeeab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9becfeeab4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9becfeeab4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9becfeeab4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9becfeeab4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9becfeeab4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9becfeeab4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9becfeeab4_1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9becfeeab4_1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9becfeeab4_1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9becfeeab4_1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9becfeeab4_1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9becfeeab4_1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9becfeeab4_1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9becfeeab4_1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9becfeeab4_1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39becfeeab4_1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9becfeeab4_1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39becfeeab4_1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9becfeeab4_1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39becfeeab4_1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9becfeeab4_1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9becfeeab4_1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9becfeeab4_1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39becfeeab4_1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9becfeeab4_1_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39becfeeab4_1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9becfeeab4_1_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39becfeeab4_1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9becfeeab4_1_1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39becfeeab4_1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9becfeeab4_1_1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39becfeeab4_1_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oogle Shape;24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5" name="Google Shape;25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7" name="Google Shape;27;p4"/>
          <p:cNvSpPr txBox="1"/>
          <p:nvPr>
            <p:ph type="title"/>
          </p:nvPr>
        </p:nvSpPr>
        <p:spPr>
          <a:xfrm>
            <a:off x="830400" y="6560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8" name="Google Shape;28;p4"/>
          <p:cNvSpPr txBox="1"/>
          <p:nvPr>
            <p:ph idx="1" type="body"/>
          </p:nvPr>
        </p:nvSpPr>
        <p:spPr>
          <a:xfrm>
            <a:off x="729450" y="1237075"/>
            <a:ext cx="7688700" cy="310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Google Shape;31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2" name="Google Shape;32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4" name="Google Shape;34;p5"/>
          <p:cNvSpPr txBox="1"/>
          <p:nvPr>
            <p:ph type="title"/>
          </p:nvPr>
        </p:nvSpPr>
        <p:spPr>
          <a:xfrm>
            <a:off x="830400" y="6560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5" name="Google Shape;35;p5"/>
          <p:cNvSpPr txBox="1"/>
          <p:nvPr>
            <p:ph idx="1" type="body"/>
          </p:nvPr>
        </p:nvSpPr>
        <p:spPr>
          <a:xfrm>
            <a:off x="358750" y="1237075"/>
            <a:ext cx="4144800" cy="383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Char char="●"/>
              <a:defRPr>
                <a:solidFill>
                  <a:schemeClr val="dk2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○"/>
              <a:defRPr>
                <a:solidFill>
                  <a:schemeClr val="dk2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■"/>
              <a:defRPr>
                <a:solidFill>
                  <a:schemeClr val="dk2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  <a:defRPr>
                <a:solidFill>
                  <a:schemeClr val="dk2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○"/>
              <a:defRPr>
                <a:solidFill>
                  <a:schemeClr val="dk2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■"/>
              <a:defRPr>
                <a:solidFill>
                  <a:schemeClr val="dk2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  <a:defRPr>
                <a:solidFill>
                  <a:schemeClr val="dk2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○"/>
              <a:defRPr>
                <a:solidFill>
                  <a:schemeClr val="dk2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6" name="Google Shape;36;p5"/>
          <p:cNvSpPr txBox="1"/>
          <p:nvPr>
            <p:ph idx="2" type="body"/>
          </p:nvPr>
        </p:nvSpPr>
        <p:spPr>
          <a:xfrm>
            <a:off x="4643600" y="1237075"/>
            <a:ext cx="4188600" cy="383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Char char="●"/>
              <a:defRPr>
                <a:solidFill>
                  <a:schemeClr val="dk2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○"/>
              <a:defRPr>
                <a:solidFill>
                  <a:schemeClr val="dk2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■"/>
              <a:defRPr>
                <a:solidFill>
                  <a:schemeClr val="dk2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  <a:defRPr>
                <a:solidFill>
                  <a:schemeClr val="dk2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○"/>
              <a:defRPr>
                <a:solidFill>
                  <a:schemeClr val="dk2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■"/>
              <a:defRPr>
                <a:solidFill>
                  <a:schemeClr val="dk2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  <a:defRPr>
                <a:solidFill>
                  <a:schemeClr val="dk2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○"/>
              <a:defRPr>
                <a:solidFill>
                  <a:schemeClr val="dk2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7" name="Google Shape;37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0" name="Google Shape;40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1" name="Google Shape;41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3" name="Google Shape;43;p6"/>
          <p:cNvSpPr txBox="1"/>
          <p:nvPr>
            <p:ph type="title"/>
          </p:nvPr>
        </p:nvSpPr>
        <p:spPr>
          <a:xfrm>
            <a:off x="830400" y="6560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4" name="Google Shape;44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7" name="Google Shape;47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8" name="Google Shape;48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" name="Google Shape;49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0" name="Google Shape;50;p7"/>
          <p:cNvSpPr txBox="1"/>
          <p:nvPr>
            <p:ph type="title"/>
          </p:nvPr>
        </p:nvSpPr>
        <p:spPr>
          <a:xfrm>
            <a:off x="830400" y="703450"/>
            <a:ext cx="7827600" cy="48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1" name="Google Shape;51;p7"/>
          <p:cNvSpPr txBox="1"/>
          <p:nvPr>
            <p:ph idx="1" type="body"/>
          </p:nvPr>
        </p:nvSpPr>
        <p:spPr>
          <a:xfrm>
            <a:off x="721225" y="1237075"/>
            <a:ext cx="3300900" cy="314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2" name="Google Shape;52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" name="Google Shape;54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5" name="Google Shape;55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" name="Google Shape;56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7" name="Google Shape;57;p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8" name="Google Shape;58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1" name="Google Shape;61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2" name="Google Shape;62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" name="Google Shape;63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4" name="Google Shape;64;p9"/>
          <p:cNvSpPr txBox="1"/>
          <p:nvPr>
            <p:ph type="title"/>
          </p:nvPr>
        </p:nvSpPr>
        <p:spPr>
          <a:xfrm>
            <a:off x="358750" y="286450"/>
            <a:ext cx="4213200" cy="90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5" name="Google Shape;65;p9"/>
          <p:cNvSpPr txBox="1"/>
          <p:nvPr>
            <p:ph idx="1" type="subTitle"/>
          </p:nvPr>
        </p:nvSpPr>
        <p:spPr>
          <a:xfrm>
            <a:off x="830400" y="1399200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6" name="Google Shape;66;p9"/>
          <p:cNvSpPr txBox="1"/>
          <p:nvPr>
            <p:ph idx="2" type="body"/>
          </p:nvPr>
        </p:nvSpPr>
        <p:spPr>
          <a:xfrm>
            <a:off x="4848175" y="389350"/>
            <a:ext cx="3964200" cy="436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7" name="Google Shape;67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0" name="Google Shape;70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2" name="Google Shape;72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3" name="Google Shape;73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5" name="Google Shape;75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6" name="Google Shape;76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>
  <p:cSld name="Comparación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3"/>
          <p:cNvSpPr txBox="1"/>
          <p:nvPr>
            <p:ph idx="1" type="body"/>
          </p:nvPr>
        </p:nvSpPr>
        <p:spPr>
          <a:xfrm>
            <a:off x="324000" y="1008533"/>
            <a:ext cx="4104000" cy="2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b="1" sz="1800">
                <a:solidFill>
                  <a:srgbClr val="3F3F3F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3F3F3F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3F3F3F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3F3F3F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82" name="Google Shape;82;p13"/>
          <p:cNvSpPr txBox="1"/>
          <p:nvPr>
            <p:ph idx="2" type="body"/>
          </p:nvPr>
        </p:nvSpPr>
        <p:spPr>
          <a:xfrm>
            <a:off x="324000" y="1441261"/>
            <a:ext cx="4104000" cy="314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Char char="●"/>
              <a:defRPr>
                <a:solidFill>
                  <a:srgbClr val="3F3F3F"/>
                </a:solidFill>
              </a:defRPr>
            </a:lvl1pPr>
            <a:lvl2pPr indent="-3048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3F3F3F"/>
              </a:buClr>
              <a:buSzPts val="1200"/>
              <a:buChar char="○"/>
              <a:defRPr>
                <a:solidFill>
                  <a:srgbClr val="3F3F3F"/>
                </a:solidFill>
              </a:defRPr>
            </a:lvl2pPr>
            <a:lvl3pPr indent="-29845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3F3F3F"/>
              </a:buClr>
              <a:buSzPts val="1100"/>
              <a:buChar char="■"/>
              <a:defRPr>
                <a:solidFill>
                  <a:srgbClr val="3F3F3F"/>
                </a:solidFill>
              </a:defRPr>
            </a:lvl3pPr>
            <a:lvl4pPr indent="-29845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3F3F3F"/>
              </a:buClr>
              <a:buSzPts val="1100"/>
              <a:buChar char="●"/>
              <a:defRPr>
                <a:solidFill>
                  <a:srgbClr val="3F3F3F"/>
                </a:solidFill>
              </a:defRPr>
            </a:lvl4pPr>
            <a:lvl5pPr indent="-29845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3F3F3F"/>
              </a:buClr>
              <a:buSzPts val="1100"/>
              <a:buChar char="○"/>
              <a:defRPr>
                <a:solidFill>
                  <a:srgbClr val="3F3F3F"/>
                </a:solidFill>
              </a:defRPr>
            </a:lvl5pPr>
            <a:lvl6pPr indent="-3175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indent="-317500" lvl="6" marL="3200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indent="-317500" lvl="7" marL="3657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indent="-317500" lvl="8" marL="411480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/>
        </p:txBody>
      </p:sp>
      <p:sp>
        <p:nvSpPr>
          <p:cNvPr id="83" name="Google Shape;83;p13"/>
          <p:cNvSpPr txBox="1"/>
          <p:nvPr>
            <p:ph idx="12" type="sldNum"/>
          </p:nvPr>
        </p:nvSpPr>
        <p:spPr>
          <a:xfrm>
            <a:off x="8779668" y="4767263"/>
            <a:ext cx="277800" cy="273900"/>
          </a:xfrm>
          <a:prstGeom prst="rect">
            <a:avLst/>
          </a:prstGeom>
          <a:solidFill>
            <a:srgbClr val="F2F2F2">
              <a:alpha val="498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0" lvl="0" marL="0" marR="0" algn="ctr">
              <a:spcBef>
                <a:spcPts val="0"/>
              </a:spcBef>
              <a:buNone/>
              <a:defRPr b="0" i="1" sz="900" u="none" cap="none" strike="noStrike">
                <a:solidFill>
                  <a:srgbClr val="3F3F3F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indent="0" lvl="1" marL="0" marR="0" algn="ctr">
              <a:spcBef>
                <a:spcPts val="0"/>
              </a:spcBef>
              <a:buNone/>
              <a:defRPr b="0" i="1" sz="900" u="none" cap="none" strike="noStrike">
                <a:solidFill>
                  <a:srgbClr val="3F3F3F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indent="0" lvl="2" marL="0" marR="0" algn="ctr">
              <a:spcBef>
                <a:spcPts val="0"/>
              </a:spcBef>
              <a:buNone/>
              <a:defRPr b="0" i="1" sz="900" u="none" cap="none" strike="noStrike">
                <a:solidFill>
                  <a:srgbClr val="3F3F3F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indent="0" lvl="3" marL="0" marR="0" algn="ctr">
              <a:spcBef>
                <a:spcPts val="0"/>
              </a:spcBef>
              <a:buNone/>
              <a:defRPr b="0" i="1" sz="900" u="none" cap="none" strike="noStrike">
                <a:solidFill>
                  <a:srgbClr val="3F3F3F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indent="0" lvl="4" marL="0" marR="0" algn="ctr">
              <a:spcBef>
                <a:spcPts val="0"/>
              </a:spcBef>
              <a:buNone/>
              <a:defRPr b="0" i="1" sz="900" u="none" cap="none" strike="noStrike">
                <a:solidFill>
                  <a:srgbClr val="3F3F3F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indent="0" lvl="5" marL="0" marR="0" algn="ctr">
              <a:spcBef>
                <a:spcPts val="0"/>
              </a:spcBef>
              <a:buNone/>
              <a:defRPr b="0" i="1" sz="900" u="none" cap="none" strike="noStrike">
                <a:solidFill>
                  <a:srgbClr val="3F3F3F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indent="0" lvl="6" marL="0" marR="0" algn="ctr">
              <a:spcBef>
                <a:spcPts val="0"/>
              </a:spcBef>
              <a:buNone/>
              <a:defRPr b="0" i="1" sz="900" u="none" cap="none" strike="noStrike">
                <a:solidFill>
                  <a:srgbClr val="3F3F3F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indent="0" lvl="7" marL="0" marR="0" algn="ctr">
              <a:spcBef>
                <a:spcPts val="0"/>
              </a:spcBef>
              <a:buNone/>
              <a:defRPr b="0" i="1" sz="900" u="none" cap="none" strike="noStrike">
                <a:solidFill>
                  <a:srgbClr val="3F3F3F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indent="0" lvl="8" marL="0" marR="0" algn="ctr">
              <a:spcBef>
                <a:spcPts val="0"/>
              </a:spcBef>
              <a:buNone/>
              <a:defRPr b="0" i="1" sz="900" u="none" cap="none" strike="noStrike">
                <a:solidFill>
                  <a:srgbClr val="3F3F3F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84" name="Google Shape;84;p13"/>
          <p:cNvSpPr txBox="1"/>
          <p:nvPr>
            <p:ph idx="11" type="ftr"/>
          </p:nvPr>
        </p:nvSpPr>
        <p:spPr>
          <a:xfrm>
            <a:off x="324000" y="4767263"/>
            <a:ext cx="3086100" cy="273900"/>
          </a:xfrm>
          <a:prstGeom prst="rect">
            <a:avLst/>
          </a:prstGeom>
          <a:noFill/>
          <a:ln cap="flat" cmpd="sng" w="7150">
            <a:solidFill>
              <a:srgbClr val="F2F2F2">
                <a:alpha val="498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5400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85" name="Google Shape;85;p13"/>
          <p:cNvSpPr txBox="1"/>
          <p:nvPr>
            <p:ph type="title"/>
          </p:nvPr>
        </p:nvSpPr>
        <p:spPr>
          <a:xfrm>
            <a:off x="387625" y="324000"/>
            <a:ext cx="8441400" cy="521700"/>
          </a:xfrm>
          <a:prstGeom prst="rect">
            <a:avLst/>
          </a:prstGeom>
          <a:solidFill>
            <a:srgbClr val="F2F2F2">
              <a:alpha val="49800"/>
            </a:srgbClr>
          </a:solidFill>
          <a:ln>
            <a:noFill/>
          </a:ln>
        </p:spPr>
        <p:txBody>
          <a:bodyPr anchorCtr="0" anchor="ctr" bIns="0" lIns="13500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6" name="Google Shape;86;p13"/>
          <p:cNvSpPr/>
          <p:nvPr/>
        </p:nvSpPr>
        <p:spPr>
          <a:xfrm>
            <a:off x="324000" y="324000"/>
            <a:ext cx="63600" cy="521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87" name="Google Shape;87;p13"/>
          <p:cNvSpPr txBox="1"/>
          <p:nvPr>
            <p:ph idx="3" type="body"/>
          </p:nvPr>
        </p:nvSpPr>
        <p:spPr>
          <a:xfrm>
            <a:off x="4716002" y="1008533"/>
            <a:ext cx="4113000" cy="2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b="1" sz="1800"/>
            </a:lvl1pPr>
            <a:lvl2pPr indent="-3175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3F3F3F"/>
              </a:buClr>
              <a:buSzPts val="1400"/>
              <a:buChar char="○"/>
              <a:defRPr/>
            </a:lvl2pPr>
            <a:lvl3pPr indent="-3175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3F3F3F"/>
              </a:buClr>
              <a:buSzPts val="1400"/>
              <a:buChar char="■"/>
              <a:defRPr/>
            </a:lvl3pPr>
            <a:lvl4pPr indent="-3175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3F3F3F"/>
              </a:buClr>
              <a:buSzPts val="1400"/>
              <a:buChar char="●"/>
              <a:defRPr/>
            </a:lvl4pPr>
            <a:lvl5pPr indent="-3175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3F3F3F"/>
              </a:buClr>
              <a:buSzPts val="1400"/>
              <a:buChar char="○"/>
              <a:defRPr/>
            </a:lvl5pPr>
            <a:lvl6pPr indent="-3175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indent="-317500" lvl="6" marL="3200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indent="-317500" lvl="7" marL="3657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indent="-317500" lvl="8" marL="411480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3"/>
          <p:cNvSpPr txBox="1"/>
          <p:nvPr>
            <p:ph idx="4" type="body"/>
          </p:nvPr>
        </p:nvSpPr>
        <p:spPr>
          <a:xfrm>
            <a:off x="4716002" y="1441262"/>
            <a:ext cx="4113000" cy="314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3F3F3F"/>
              </a:buClr>
              <a:buSzPts val="1400"/>
              <a:buChar char="○"/>
              <a:defRPr/>
            </a:lvl2pPr>
            <a:lvl3pPr indent="-3175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3F3F3F"/>
              </a:buClr>
              <a:buSzPts val="1400"/>
              <a:buChar char="■"/>
              <a:defRPr/>
            </a:lvl3pPr>
            <a:lvl4pPr indent="-3175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3F3F3F"/>
              </a:buClr>
              <a:buSzPts val="1400"/>
              <a:buChar char="●"/>
              <a:defRPr/>
            </a:lvl4pPr>
            <a:lvl5pPr indent="-3175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3F3F3F"/>
              </a:buClr>
              <a:buSzPts val="1400"/>
              <a:buChar char="○"/>
              <a:defRPr/>
            </a:lvl5pPr>
            <a:lvl6pPr indent="-3175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indent="-317500" lvl="6" marL="3200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indent="-317500" lvl="7" marL="3657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indent="-317500" lvl="8" marL="411480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lumna 3">
  <p:cSld name="Columna 3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4"/>
          <p:cNvSpPr txBox="1"/>
          <p:nvPr>
            <p:ph idx="1" type="body"/>
          </p:nvPr>
        </p:nvSpPr>
        <p:spPr>
          <a:xfrm>
            <a:off x="324000" y="1242000"/>
            <a:ext cx="2700000" cy="33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Char char="●"/>
              <a:defRPr>
                <a:solidFill>
                  <a:srgbClr val="3F3F3F"/>
                </a:solidFill>
              </a:defRPr>
            </a:lvl1pPr>
            <a:lvl2pPr indent="-3048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3F3F3F"/>
              </a:buClr>
              <a:buSzPts val="1200"/>
              <a:buChar char="○"/>
              <a:defRPr>
                <a:solidFill>
                  <a:srgbClr val="3F3F3F"/>
                </a:solidFill>
              </a:defRPr>
            </a:lvl2pPr>
            <a:lvl3pPr indent="-29845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3F3F3F"/>
              </a:buClr>
              <a:buSzPts val="1100"/>
              <a:buChar char="■"/>
              <a:defRPr>
                <a:solidFill>
                  <a:srgbClr val="3F3F3F"/>
                </a:solidFill>
              </a:defRPr>
            </a:lvl3pPr>
            <a:lvl4pPr indent="-29845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3F3F3F"/>
              </a:buClr>
              <a:buSzPts val="1100"/>
              <a:buChar char="●"/>
              <a:defRPr>
                <a:solidFill>
                  <a:srgbClr val="3F3F3F"/>
                </a:solidFill>
              </a:defRPr>
            </a:lvl4pPr>
            <a:lvl5pPr indent="-29845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3F3F3F"/>
              </a:buClr>
              <a:buSzPts val="1100"/>
              <a:buChar char="○"/>
              <a:defRPr>
                <a:solidFill>
                  <a:srgbClr val="3F3F3F"/>
                </a:solidFill>
              </a:defRPr>
            </a:lvl5pPr>
            <a:lvl6pPr indent="-3175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indent="-317500" lvl="6" marL="3200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indent="-317500" lvl="7" marL="3657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indent="-317500" lvl="8" marL="411480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/>
        </p:txBody>
      </p:sp>
      <p:sp>
        <p:nvSpPr>
          <p:cNvPr id="91" name="Google Shape;91;p14"/>
          <p:cNvSpPr txBox="1"/>
          <p:nvPr>
            <p:ph idx="2" type="body"/>
          </p:nvPr>
        </p:nvSpPr>
        <p:spPr>
          <a:xfrm>
            <a:off x="3226163" y="1242000"/>
            <a:ext cx="2700600" cy="33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3F3F3F"/>
              </a:buClr>
              <a:buSzPts val="1400"/>
              <a:buChar char="○"/>
              <a:defRPr/>
            </a:lvl2pPr>
            <a:lvl3pPr indent="-3175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3F3F3F"/>
              </a:buClr>
              <a:buSzPts val="1400"/>
              <a:buChar char="■"/>
              <a:defRPr/>
            </a:lvl3pPr>
            <a:lvl4pPr indent="-3175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3F3F3F"/>
              </a:buClr>
              <a:buSzPts val="1400"/>
              <a:buChar char="●"/>
              <a:defRPr/>
            </a:lvl4pPr>
            <a:lvl5pPr indent="-3175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3F3F3F"/>
              </a:buClr>
              <a:buSzPts val="1400"/>
              <a:buChar char="○"/>
              <a:defRPr/>
            </a:lvl5pPr>
            <a:lvl6pPr indent="-3175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indent="-317500" lvl="6" marL="3200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indent="-317500" lvl="7" marL="3657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indent="-317500" lvl="8" marL="411480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/>
        </p:txBody>
      </p:sp>
      <p:sp>
        <p:nvSpPr>
          <p:cNvPr id="92" name="Google Shape;92;p14"/>
          <p:cNvSpPr txBox="1"/>
          <p:nvPr>
            <p:ph idx="3" type="body"/>
          </p:nvPr>
        </p:nvSpPr>
        <p:spPr>
          <a:xfrm>
            <a:off x="6128663" y="1242000"/>
            <a:ext cx="2700600" cy="33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3F3F3F"/>
              </a:buClr>
              <a:buSzPts val="1400"/>
              <a:buChar char="○"/>
              <a:defRPr/>
            </a:lvl2pPr>
            <a:lvl3pPr indent="-3175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3F3F3F"/>
              </a:buClr>
              <a:buSzPts val="1400"/>
              <a:buChar char="■"/>
              <a:defRPr/>
            </a:lvl3pPr>
            <a:lvl4pPr indent="-3175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3F3F3F"/>
              </a:buClr>
              <a:buSzPts val="1400"/>
              <a:buChar char="●"/>
              <a:defRPr/>
            </a:lvl4pPr>
            <a:lvl5pPr indent="-3175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3F3F3F"/>
              </a:buClr>
              <a:buSzPts val="1400"/>
              <a:buChar char="○"/>
              <a:defRPr/>
            </a:lvl5pPr>
            <a:lvl6pPr indent="-3175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indent="-317500" lvl="6" marL="3200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indent="-317500" lvl="7" marL="3657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indent="-317500" lvl="8" marL="411480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/>
        </p:txBody>
      </p:sp>
      <p:sp>
        <p:nvSpPr>
          <p:cNvPr id="93" name="Google Shape;93;p14"/>
          <p:cNvSpPr txBox="1"/>
          <p:nvPr>
            <p:ph idx="11" type="ftr"/>
          </p:nvPr>
        </p:nvSpPr>
        <p:spPr>
          <a:xfrm>
            <a:off x="324000" y="4767263"/>
            <a:ext cx="3086100" cy="273900"/>
          </a:xfrm>
          <a:prstGeom prst="rect">
            <a:avLst/>
          </a:prstGeom>
          <a:noFill/>
          <a:ln cap="flat" cmpd="sng" w="7150">
            <a:solidFill>
              <a:srgbClr val="F2F2F2">
                <a:alpha val="498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5400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94" name="Google Shape;94;p14"/>
          <p:cNvSpPr txBox="1"/>
          <p:nvPr>
            <p:ph idx="12" type="sldNum"/>
          </p:nvPr>
        </p:nvSpPr>
        <p:spPr>
          <a:xfrm>
            <a:off x="8779668" y="4767263"/>
            <a:ext cx="277800" cy="273900"/>
          </a:xfrm>
          <a:prstGeom prst="rect">
            <a:avLst/>
          </a:prstGeom>
          <a:solidFill>
            <a:srgbClr val="F2F2F2">
              <a:alpha val="498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95" name="Google Shape;95;p14"/>
          <p:cNvSpPr txBox="1"/>
          <p:nvPr>
            <p:ph type="title"/>
          </p:nvPr>
        </p:nvSpPr>
        <p:spPr>
          <a:xfrm>
            <a:off x="387625" y="324000"/>
            <a:ext cx="8441400" cy="521700"/>
          </a:xfrm>
          <a:prstGeom prst="rect">
            <a:avLst/>
          </a:prstGeom>
          <a:solidFill>
            <a:srgbClr val="F2F2F2">
              <a:alpha val="49800"/>
            </a:srgbClr>
          </a:solidFill>
          <a:ln>
            <a:noFill/>
          </a:ln>
        </p:spPr>
        <p:txBody>
          <a:bodyPr anchorCtr="0" anchor="ctr" bIns="0" lIns="13500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4"/>
          <p:cNvSpPr/>
          <p:nvPr/>
        </p:nvSpPr>
        <p:spPr>
          <a:xfrm>
            <a:off x="324000" y="324000"/>
            <a:ext cx="63600" cy="521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97" name="Google Shape;97;p14"/>
          <p:cNvSpPr txBox="1"/>
          <p:nvPr>
            <p:ph idx="4" type="body"/>
          </p:nvPr>
        </p:nvSpPr>
        <p:spPr>
          <a:xfrm>
            <a:off x="323850" y="945000"/>
            <a:ext cx="8504700" cy="1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3F3F3F"/>
              </a:buClr>
              <a:buSzPts val="12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3F3F3F"/>
              </a:buClr>
              <a:buSzPts val="11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3F3F3F"/>
              </a:buClr>
              <a:buSzPts val="11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3F3F3F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indent="-317500" lvl="6" marL="3200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indent="-317500" lvl="7" marL="3657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indent="-317500" lvl="8" marL="411480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2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Lato"/>
              <a:buChar char="●"/>
              <a:defRPr sz="13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Lato"/>
              <a:buChar char="○"/>
              <a:defRPr sz="11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Lato"/>
              <a:buChar char="■"/>
              <a:defRPr sz="11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Lato"/>
              <a:buChar char="●"/>
              <a:defRPr sz="11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Lato"/>
              <a:buChar char="○"/>
              <a:defRPr sz="11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Lato"/>
              <a:buChar char="■"/>
              <a:defRPr sz="11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Lato"/>
              <a:buChar char="●"/>
              <a:defRPr sz="11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Lato"/>
              <a:buChar char="○"/>
              <a:defRPr sz="11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Lato"/>
              <a:buChar char="■"/>
              <a:defRPr sz="11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www.w3schools.com/xml/default.asp" TargetMode="External"/><Relationship Id="rId4" Type="http://schemas.openxmlformats.org/officeDocument/2006/relationships/hyperlink" Target="https://www.w3schools.com/js/js_json_intro.asp" TargetMode="External"/><Relationship Id="rId5" Type="http://schemas.openxmlformats.org/officeDocument/2006/relationships/hyperlink" Target="https://www.w3schools.com/js/js_json_intro.asp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4.png"/><Relationship Id="rId4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hyperlink" Target="http://www.dabeaz.com/generators/" TargetMode="External"/><Relationship Id="rId4" Type="http://schemas.openxmlformats.org/officeDocument/2006/relationships/hyperlink" Target="http://www.dabeaz.com/generators/" TargetMode="External"/><Relationship Id="rId5" Type="http://schemas.openxmlformats.org/officeDocument/2006/relationships/image" Target="../media/image4.png"/><Relationship Id="rId6" Type="http://schemas.openxmlformats.org/officeDocument/2006/relationships/image" Target="../media/image18.png"/><Relationship Id="rId7" Type="http://schemas.openxmlformats.org/officeDocument/2006/relationships/image" Target="../media/image15.png"/><Relationship Id="rId8" Type="http://schemas.openxmlformats.org/officeDocument/2006/relationships/image" Target="../media/image1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Relationship Id="rId4" Type="http://schemas.openxmlformats.org/officeDocument/2006/relationships/image" Target="../media/image16.png"/><Relationship Id="rId5" Type="http://schemas.openxmlformats.org/officeDocument/2006/relationships/image" Target="../media/image8.png"/><Relationship Id="rId6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Relationship Id="rId4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://effbot.org/zone/python-for-statement.htm" TargetMode="External"/><Relationship Id="rId4" Type="http://schemas.openxmlformats.org/officeDocument/2006/relationships/hyperlink" Target="http://effbot.org/zone/python-for-statement.htm" TargetMode="Externa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1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0.png"/><Relationship Id="rId4" Type="http://schemas.openxmlformats.org/officeDocument/2006/relationships/image" Target="../media/image1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s://colab.research.google.com/drive/1AI8ExurFDb6EeAZWkA_aIVwjo5Jld8XJ?usp=sharing" TargetMode="Externa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5.png"/><Relationship Id="rId4" Type="http://schemas.openxmlformats.org/officeDocument/2006/relationships/image" Target="../media/image2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2.png"/><Relationship Id="rId4" Type="http://schemas.openxmlformats.org/officeDocument/2006/relationships/hyperlink" Target="https://www.programiz.com/python-programming/global-keyword" TargetMode="External"/><Relationship Id="rId5" Type="http://schemas.openxmlformats.org/officeDocument/2006/relationships/hyperlink" Target="https://www.programiz.com/python-programming/global-keyword" TargetMode="Externa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Relationship Id="rId3" Type="http://schemas.openxmlformats.org/officeDocument/2006/relationships/hyperlink" Target="https://forms.gle/VWi17qGcDLt8UBLYA" TargetMode="External"/><Relationship Id="rId4" Type="http://schemas.openxmlformats.org/officeDocument/2006/relationships/hyperlink" Target="https://forms.gle/VWi17qGcDLt8UBLYA" TargetMode="External"/><Relationship Id="rId5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5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" sz="2880">
                <a:latin typeface="Lato"/>
                <a:ea typeface="Lato"/>
                <a:cs typeface="Lato"/>
                <a:sym typeface="Lato"/>
              </a:rPr>
              <a:t>[TLP] Algunas herramientas para el Análisis Sintáctico</a:t>
            </a:r>
            <a:endParaRPr sz="288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3" name="Google Shape;103;p15"/>
          <p:cNvSpPr txBox="1"/>
          <p:nvPr>
            <p:ph idx="1" type="subTitle"/>
          </p:nvPr>
        </p:nvSpPr>
        <p:spPr>
          <a:xfrm>
            <a:off x="729625" y="2987150"/>
            <a:ext cx="7688100" cy="195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62500" lnSpcReduction="20000"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57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200"/>
              <a:t>Fernán A. Villa-Garzón.		Carolina Valencia-García.</a:t>
            </a:r>
            <a:endParaRPr sz="22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200"/>
              <a:t>favillao@unal.edu.co 		marvalenciaga@unal.edu.co </a:t>
            </a:r>
            <a:endParaRPr sz="22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200"/>
              <a:t>Profesor Asociado		Monitora	</a:t>
            </a:r>
            <a:endParaRPr sz="22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200"/>
              <a:t>Oficina M8A-315. 		Oficina M8A-402</a:t>
            </a:r>
            <a:endParaRPr sz="22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200"/>
              <a:t>Asesoría, por favor Agendar por Google Calendar.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6"/>
          <p:cNvSpPr txBox="1"/>
          <p:nvPr>
            <p:ph idx="1" type="body"/>
          </p:nvPr>
        </p:nvSpPr>
        <p:spPr>
          <a:xfrm>
            <a:off x="358750" y="1237075"/>
            <a:ext cx="4144800" cy="383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700"/>
              <a:t>El parser o analizador léxico permite generar un árbol sintáctico con las expresiones, el cual facilita la evaluación de las mismas.</a:t>
            </a:r>
            <a:endParaRPr sz="1700"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700"/>
              <a:t>También tiene como función </a:t>
            </a:r>
            <a:r>
              <a:rPr lang="es" sz="1700"/>
              <a:t>validar</a:t>
            </a:r>
            <a:r>
              <a:rPr lang="es" sz="1700"/>
              <a:t> que las expresiones </a:t>
            </a:r>
            <a:r>
              <a:rPr lang="es" sz="1700"/>
              <a:t>están</a:t>
            </a:r>
            <a:r>
              <a:rPr lang="es" sz="1700"/>
              <a:t> escritas en el orden correcto.</a:t>
            </a:r>
            <a:endParaRPr sz="1700"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109" name="Google Shape;109;p16"/>
          <p:cNvSpPr txBox="1"/>
          <p:nvPr>
            <p:ph type="title"/>
          </p:nvPr>
        </p:nvSpPr>
        <p:spPr>
          <a:xfrm>
            <a:off x="830400" y="301326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El analizador sintáctico tiene como entradas los lexemas que entrega el analizador léxico.</a:t>
            </a:r>
            <a:endParaRPr/>
          </a:p>
        </p:txBody>
      </p:sp>
      <p:sp>
        <p:nvSpPr>
          <p:cNvPr id="110" name="Google Shape;110;p16"/>
          <p:cNvSpPr txBox="1"/>
          <p:nvPr>
            <p:ph idx="2" type="body"/>
          </p:nvPr>
        </p:nvSpPr>
        <p:spPr>
          <a:xfrm>
            <a:off x="4643600" y="1237075"/>
            <a:ext cx="4188600" cy="383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s" sz="1800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Un parser se requiere específicamente para:</a:t>
            </a:r>
            <a:endParaRPr sz="1800">
              <a:solidFill>
                <a:srgbClr val="40404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200"/>
              <a:buFont typeface="Arial"/>
              <a:buChar char="●"/>
            </a:pPr>
            <a:r>
              <a:rPr lang="es" sz="1200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Analizar bibliotecas XML, JSON</a:t>
            </a:r>
            <a:endParaRPr sz="1200">
              <a:solidFill>
                <a:srgbClr val="40404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●"/>
            </a:pPr>
            <a:r>
              <a:rPr b="1" lang="es" sz="1200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Lecturas recomendadas:</a:t>
            </a:r>
            <a:endParaRPr b="1" sz="1200">
              <a:solidFill>
                <a:srgbClr val="40404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●"/>
            </a:pPr>
            <a:r>
              <a:rPr b="1" lang="es" sz="1200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XML Tutorial: </a:t>
            </a:r>
            <a:r>
              <a:rPr lang="es" sz="12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https://www.w3schools.com/xml/default.asp</a:t>
            </a:r>
            <a:endParaRPr sz="1200" u="sng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●"/>
            </a:pPr>
            <a:r>
              <a:rPr b="1" lang="es" sz="1200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JS JSON.</a:t>
            </a:r>
            <a:r>
              <a:rPr b="1" lang="es" sz="1200">
                <a:solidFill>
                  <a:srgbClr val="404040"/>
                </a:solidFill>
                <a:uFill>
                  <a:noFill/>
                </a:u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s" sz="12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5"/>
              </a:rPr>
              <a:t>https://www.w3schools.com/js/js_json_intro.asp</a:t>
            </a:r>
            <a:endParaRPr sz="1200" u="sng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●"/>
            </a:pPr>
            <a:r>
              <a:rPr lang="es" sz="1200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Analizar una estructura de datos no estándar, definida por el desarrollador.</a:t>
            </a:r>
            <a:endParaRPr sz="1200">
              <a:solidFill>
                <a:srgbClr val="40404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●"/>
            </a:pPr>
            <a:r>
              <a:rPr lang="es" sz="1200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Realizar Traductores, un código X a uno Y.</a:t>
            </a:r>
            <a:endParaRPr sz="1200">
              <a:solidFill>
                <a:srgbClr val="40404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Char char="●"/>
            </a:pPr>
            <a:r>
              <a:rPr lang="es" sz="1200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Analizar un lenguaje definido para una tarea muy específica, por ejemplo: controlar las compuertas del canal de panamá. </a:t>
            </a:r>
            <a:r>
              <a:rPr lang="es" sz="1600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7"/>
          <p:cNvSpPr txBox="1"/>
          <p:nvPr>
            <p:ph type="title"/>
          </p:nvPr>
        </p:nvSpPr>
        <p:spPr>
          <a:xfrm>
            <a:off x="830400" y="6560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Recordemos</a:t>
            </a:r>
            <a:endParaRPr/>
          </a:p>
        </p:txBody>
      </p:sp>
      <p:pic>
        <p:nvPicPr>
          <p:cNvPr id="116" name="Google Shape;116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8987" y="1743025"/>
            <a:ext cx="8526026" cy="1657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8"/>
          <p:cNvSpPr txBox="1"/>
          <p:nvPr>
            <p:ph type="title"/>
          </p:nvPr>
        </p:nvSpPr>
        <p:spPr>
          <a:xfrm>
            <a:off x="830400" y="6560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Conceptos preliminares:</a:t>
            </a:r>
            <a:endParaRPr/>
          </a:p>
        </p:txBody>
      </p:sp>
      <p:sp>
        <p:nvSpPr>
          <p:cNvPr id="122" name="Google Shape;122;p18"/>
          <p:cNvSpPr txBox="1"/>
          <p:nvPr>
            <p:ph idx="1" type="body"/>
          </p:nvPr>
        </p:nvSpPr>
        <p:spPr>
          <a:xfrm>
            <a:off x="358750" y="1237075"/>
            <a:ext cx="4144800" cy="383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40404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s" sz="1800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Iterables y Generadores</a:t>
            </a:r>
            <a:endParaRPr sz="1800">
              <a:solidFill>
                <a:srgbClr val="40404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s" sz="1800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Funciones Lambda</a:t>
            </a:r>
            <a:endParaRPr sz="1800">
              <a:solidFill>
                <a:srgbClr val="40404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s" sz="1800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Funciones Anidadas</a:t>
            </a:r>
            <a:endParaRPr sz="1800">
              <a:solidFill>
                <a:srgbClr val="40404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s" sz="1800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Core del Parser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9"/>
          <p:cNvSpPr txBox="1"/>
          <p:nvPr>
            <p:ph type="title"/>
          </p:nvPr>
        </p:nvSpPr>
        <p:spPr>
          <a:xfrm>
            <a:off x="358750" y="336125"/>
            <a:ext cx="84735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Iterables, cuando se crea una lista y cada uno de los elementos se llama uno a uno sin contadores.</a:t>
            </a:r>
            <a:endParaRPr/>
          </a:p>
        </p:txBody>
      </p:sp>
      <p:sp>
        <p:nvSpPr>
          <p:cNvPr id="128" name="Google Shape;128;p19"/>
          <p:cNvSpPr txBox="1"/>
          <p:nvPr>
            <p:ph idx="1" type="body"/>
          </p:nvPr>
        </p:nvSpPr>
        <p:spPr>
          <a:xfrm>
            <a:off x="358750" y="1237075"/>
            <a:ext cx="8191800" cy="383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Ejemplo:</a:t>
            </a:r>
            <a:endParaRPr b="1" sz="1800">
              <a:solidFill>
                <a:srgbClr val="40404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35353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35353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1800"/>
              <a:buFont typeface="Arial"/>
              <a:buChar char="-"/>
            </a:pPr>
            <a:r>
              <a:rPr lang="es" sz="1800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Entonces la lista autos es un objeto iterable…</a:t>
            </a:r>
            <a:endParaRPr sz="1800">
              <a:solidFill>
                <a:srgbClr val="40404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800"/>
              <a:buFont typeface="Arial"/>
              <a:buChar char="-"/>
            </a:pPr>
            <a:r>
              <a:rPr lang="es" sz="1800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En un ciclo </a:t>
            </a:r>
            <a:r>
              <a:rPr lang="es" sz="1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for</a:t>
            </a:r>
            <a:r>
              <a:rPr lang="e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… </a:t>
            </a:r>
            <a:r>
              <a:rPr lang="es" sz="1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in</a:t>
            </a:r>
            <a:r>
              <a:rPr lang="es" sz="1800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… : </a:t>
            </a:r>
            <a:r>
              <a:rPr lang="es" sz="1800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solo se pueden usar objetos iterables.</a:t>
            </a:r>
            <a:endParaRPr sz="1800">
              <a:solidFill>
                <a:srgbClr val="40404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800"/>
              <a:buFont typeface="Arial"/>
              <a:buChar char="-"/>
            </a:pPr>
            <a:r>
              <a:rPr lang="es" sz="1800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Algunos iterables son: list, string, file…</a:t>
            </a:r>
            <a:endParaRPr sz="1800">
              <a:solidFill>
                <a:srgbClr val="40404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800"/>
              <a:buFont typeface="Arial"/>
              <a:buChar char="-"/>
            </a:pPr>
            <a:r>
              <a:rPr lang="es" sz="1800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Los iterables son útiles porque se pueden recorrer sin una variable iteradora.</a:t>
            </a:r>
            <a:endParaRPr sz="1800">
              <a:solidFill>
                <a:srgbClr val="40404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s" sz="18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PERO</a:t>
            </a:r>
            <a:r>
              <a:rPr lang="es" sz="1800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 almacena todos los valores en memoria y esto no es bueno cuando se tienen muchos valores.</a:t>
            </a:r>
            <a:endParaRPr sz="1800">
              <a:solidFill>
                <a:srgbClr val="40404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29" name="Google Shape;12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0350" y="1405400"/>
            <a:ext cx="5676725" cy="1166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393950" y="916025"/>
            <a:ext cx="1499000" cy="2373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0"/>
          <p:cNvSpPr txBox="1"/>
          <p:nvPr>
            <p:ph type="title"/>
          </p:nvPr>
        </p:nvSpPr>
        <p:spPr>
          <a:xfrm>
            <a:off x="358750" y="26230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Los generadores son iteradores, pero solo puede iterar sobre ellos una vez.</a:t>
            </a:r>
            <a:endParaRPr/>
          </a:p>
        </p:txBody>
      </p:sp>
      <p:sp>
        <p:nvSpPr>
          <p:cNvPr id="136" name="Google Shape;136;p20"/>
          <p:cNvSpPr txBox="1"/>
          <p:nvPr>
            <p:ph idx="1" type="body"/>
          </p:nvPr>
        </p:nvSpPr>
        <p:spPr>
          <a:xfrm>
            <a:off x="1389100" y="1237075"/>
            <a:ext cx="7276500" cy="373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s" sz="1800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No almacenan todos los valores en memoria, generan los valores sobre la marcha.</a:t>
            </a:r>
            <a:endParaRPr sz="1800">
              <a:solidFill>
                <a:srgbClr val="40404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s" sz="1800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Ejemplo:</a:t>
            </a:r>
            <a:endParaRPr sz="1800">
              <a:solidFill>
                <a:srgbClr val="40404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35353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35353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4328" lvl="0" marL="457200" rtl="0" algn="l"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ct val="100000"/>
              <a:buFont typeface="Arial"/>
              <a:buChar char="-"/>
            </a:pPr>
            <a:r>
              <a:rPr lang="es" sz="1800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Sintácticamente los generadores se escriben con (), pareciéndose a las tuplas.</a:t>
            </a:r>
            <a:endParaRPr sz="1800">
              <a:solidFill>
                <a:srgbClr val="40404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ct val="100000"/>
              <a:buFont typeface="Arial"/>
              <a:buChar char="-"/>
            </a:pPr>
            <a:r>
              <a:rPr lang="es" sz="1800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Solo se puede iterar una vez sobre un generador, luego queda vacío.</a:t>
            </a:r>
            <a:endParaRPr sz="1800">
              <a:solidFill>
                <a:srgbClr val="40404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ct val="100000"/>
              <a:buFont typeface="Arial"/>
              <a:buChar char="-"/>
            </a:pPr>
            <a:r>
              <a:rPr lang="es" sz="1800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Lectura recomendada: </a:t>
            </a:r>
            <a:r>
              <a:rPr b="1" lang="es" sz="1800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Generator Tricks for Systems Programmers.</a:t>
            </a:r>
            <a:r>
              <a:rPr b="1" lang="es" sz="1800">
                <a:solidFill>
                  <a:srgbClr val="404040"/>
                </a:solidFill>
                <a:uFill>
                  <a:noFill/>
                </a:u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s" sz="12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http://www.dabeaz.com/generators/</a:t>
            </a:r>
            <a:endParaRPr sz="1800">
              <a:solidFill>
                <a:srgbClr val="40404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ct val="100000"/>
              <a:buFont typeface="Arial"/>
              <a:buChar char="-"/>
            </a:pPr>
            <a:r>
              <a:rPr lang="es" sz="1800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El generador entrega un puntero al objeto, mientras que el iterable lista contiene los valores.</a:t>
            </a:r>
            <a:endParaRPr sz="1800">
              <a:solidFill>
                <a:srgbClr val="40404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37" name="Google Shape;137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357125" y="1725925"/>
            <a:ext cx="5028625" cy="1175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574425" y="1627488"/>
            <a:ext cx="1408925" cy="1372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2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-1" y="3040700"/>
            <a:ext cx="1651565" cy="186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2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621350" y="4433925"/>
            <a:ext cx="4044251" cy="657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1"/>
          <p:cNvSpPr txBox="1"/>
          <p:nvPr>
            <p:ph type="title"/>
          </p:nvPr>
        </p:nvSpPr>
        <p:spPr>
          <a:xfrm>
            <a:off x="358750" y="368925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yield es un comando similar a return, su función es retornar un generador.</a:t>
            </a:r>
            <a:endParaRPr/>
          </a:p>
        </p:txBody>
      </p:sp>
      <p:pic>
        <p:nvPicPr>
          <p:cNvPr id="146" name="Google Shape;146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3750" y="1295162"/>
            <a:ext cx="3901600" cy="2553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14625" y="904125"/>
            <a:ext cx="3645300" cy="25531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19525" y="3916375"/>
            <a:ext cx="3095626" cy="1188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842725" y="3631350"/>
            <a:ext cx="3258400" cy="1512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2"/>
          <p:cNvSpPr txBox="1"/>
          <p:nvPr>
            <p:ph type="title"/>
          </p:nvPr>
        </p:nvSpPr>
        <p:spPr>
          <a:xfrm>
            <a:off x="358750" y="262275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Solo se retorna el puntero al objeto generador, sin ejecutar el código que realiza la acción.</a:t>
            </a:r>
            <a:endParaRPr/>
          </a:p>
        </p:txBody>
      </p:sp>
      <p:sp>
        <p:nvSpPr>
          <p:cNvPr id="155" name="Google Shape;155;p22"/>
          <p:cNvSpPr txBox="1"/>
          <p:nvPr>
            <p:ph idx="1" type="body"/>
          </p:nvPr>
        </p:nvSpPr>
        <p:spPr>
          <a:xfrm>
            <a:off x="358750" y="1237075"/>
            <a:ext cx="4144800" cy="383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-334328" lvl="0" marL="457200" rtl="0" algn="just"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ct val="100000"/>
              <a:buFont typeface="Arial"/>
              <a:buChar char="-"/>
            </a:pPr>
            <a:r>
              <a:rPr lang="es" sz="1800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El código de </a:t>
            </a:r>
            <a:r>
              <a:rPr b="1" lang="es" sz="1800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crearGenerador</a:t>
            </a:r>
            <a:r>
              <a:rPr lang="es" sz="1800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  solo se ejecuta cuando iteramos sobre </a:t>
            </a:r>
            <a:r>
              <a:rPr b="1" lang="es" sz="1800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miGenerador</a:t>
            </a:r>
            <a:r>
              <a:rPr lang="es" sz="1800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800">
              <a:solidFill>
                <a:srgbClr val="40404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4328" lvl="0" marL="457200" rtl="0" algn="just"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ct val="100000"/>
              <a:buFont typeface="Arial"/>
              <a:buChar char="-"/>
            </a:pPr>
            <a:r>
              <a:rPr lang="es" sz="1800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La primera vez que se itere sobre </a:t>
            </a:r>
            <a:r>
              <a:rPr b="1" lang="es" sz="1800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miGenerador</a:t>
            </a:r>
            <a:r>
              <a:rPr lang="es" sz="1800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 ejecutará el código de </a:t>
            </a:r>
            <a:r>
              <a:rPr b="1" lang="es" sz="1800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crearGenerador</a:t>
            </a:r>
            <a:r>
              <a:rPr lang="es" sz="1800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 desde el principio hasta que llegue al </a:t>
            </a:r>
            <a:r>
              <a:rPr b="1" lang="es" sz="1800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yield, </a:t>
            </a:r>
            <a:r>
              <a:rPr lang="es" sz="1800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y devuelve el valor.</a:t>
            </a:r>
            <a:endParaRPr sz="1800">
              <a:solidFill>
                <a:srgbClr val="40404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4328" lvl="0" marL="457200" rtl="0" algn="just"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ct val="100000"/>
              <a:buFont typeface="Arial"/>
              <a:buChar char="-"/>
            </a:pPr>
            <a:r>
              <a:rPr lang="es" sz="1800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Para la siguiente iteración de </a:t>
            </a:r>
            <a:r>
              <a:rPr b="1" lang="es" sz="1800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miGenerador</a:t>
            </a:r>
            <a:r>
              <a:rPr lang="es" sz="1800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 ejecutará una vez más el ciclo de </a:t>
            </a:r>
            <a:r>
              <a:rPr b="1" lang="es" sz="1800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crearGenerador</a:t>
            </a:r>
            <a:r>
              <a:rPr lang="es" sz="1800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, y devolverá el siguiente valor, hasta que no haya ningún valor que devolver.</a:t>
            </a:r>
            <a:endParaRPr sz="1800">
              <a:solidFill>
                <a:srgbClr val="40404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just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56" name="Google Shape;156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4025" y="1204175"/>
            <a:ext cx="4335650" cy="2837210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22"/>
          <p:cNvSpPr txBox="1"/>
          <p:nvPr/>
        </p:nvSpPr>
        <p:spPr>
          <a:xfrm>
            <a:off x="4684025" y="4137000"/>
            <a:ext cx="4252200" cy="10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rgbClr val="404040"/>
                </a:solidFill>
              </a:rPr>
              <a:t>El generador se considera vacío una vez que la función se ejecuta pero ya no hay mas </a:t>
            </a:r>
            <a:r>
              <a:rPr b="1" lang="es" sz="1200">
                <a:solidFill>
                  <a:srgbClr val="404040"/>
                </a:solidFill>
              </a:rPr>
              <a:t>yield</a:t>
            </a:r>
            <a:r>
              <a:rPr lang="es" sz="1200">
                <a:solidFill>
                  <a:srgbClr val="404040"/>
                </a:solidFill>
              </a:rPr>
              <a:t> para lanzar. Puede ser porque el ciclo ha llegado a su fin o porque ya no satisface un "if / else".</a:t>
            </a:r>
            <a:endParaRPr sz="1200">
              <a:solidFill>
                <a:srgbClr val="404040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3"/>
          <p:cNvSpPr txBox="1"/>
          <p:nvPr>
            <p:ph type="title"/>
          </p:nvPr>
        </p:nvSpPr>
        <p:spPr>
          <a:xfrm>
            <a:off x="358750" y="26230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Otro ejemplo</a:t>
            </a:r>
            <a:endParaRPr/>
          </a:p>
        </p:txBody>
      </p:sp>
      <p:pic>
        <p:nvPicPr>
          <p:cNvPr id="163" name="Google Shape;163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3200" y="1368275"/>
            <a:ext cx="4338801" cy="310053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00900" y="3646950"/>
            <a:ext cx="5233725" cy="1415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4"/>
          <p:cNvSpPr txBox="1"/>
          <p:nvPr>
            <p:ph type="title"/>
          </p:nvPr>
        </p:nvSpPr>
        <p:spPr>
          <a:xfrm>
            <a:off x="358750" y="295100"/>
            <a:ext cx="85119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" sz="1940"/>
              <a:t>Los Iterables son cualquier objeto del que se puede obtener un iterador. Los iteradores son objetos que te permiten iterar en iterables.</a:t>
            </a:r>
            <a:endParaRPr sz="1940"/>
          </a:p>
        </p:txBody>
      </p:sp>
      <p:sp>
        <p:nvSpPr>
          <p:cNvPr id="170" name="Google Shape;170;p24"/>
          <p:cNvSpPr txBox="1"/>
          <p:nvPr>
            <p:ph idx="2" type="body"/>
          </p:nvPr>
        </p:nvSpPr>
        <p:spPr>
          <a:xfrm>
            <a:off x="509125" y="1368325"/>
            <a:ext cx="7869300" cy="383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1800"/>
              <a:buFont typeface="Arial"/>
              <a:buChar char="-"/>
            </a:pPr>
            <a:r>
              <a:rPr lang="es" sz="1800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Iterar es un proceso implicito en los iterables, implementando el método __iter__()</a:t>
            </a:r>
            <a:endParaRPr sz="1800">
              <a:solidFill>
                <a:srgbClr val="40404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800"/>
              <a:buFont typeface="Arial"/>
              <a:buChar char="-"/>
            </a:pPr>
            <a:r>
              <a:rPr lang="es" sz="1800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Los iteradores implementan el método __next__()</a:t>
            </a:r>
            <a:endParaRPr sz="1800">
              <a:solidFill>
                <a:srgbClr val="40404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Font typeface="Arial"/>
              <a:buChar char="-"/>
            </a:pPr>
            <a:r>
              <a:rPr lang="es" sz="1800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Lectura recomendada: </a:t>
            </a:r>
            <a:r>
              <a:rPr b="1" lang="es" sz="1800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Understanding Python's "for" statement.</a:t>
            </a:r>
            <a:r>
              <a:rPr b="1" lang="es" sz="1800">
                <a:solidFill>
                  <a:srgbClr val="404040"/>
                </a:solidFill>
                <a:uFill>
                  <a:noFill/>
                </a:u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s" sz="14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http://effbot.org/zone/python-for-statement.htm</a:t>
            </a:r>
            <a:endParaRPr sz="1400" u="sng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5"/>
          <p:cNvSpPr txBox="1"/>
          <p:nvPr>
            <p:ph type="title"/>
          </p:nvPr>
        </p:nvSpPr>
        <p:spPr>
          <a:xfrm>
            <a:off x="358750" y="29510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Itertools es un módulo que contiene diversos métodos para trabajar con iterables.</a:t>
            </a:r>
            <a:br>
              <a:rPr lang="es"/>
            </a:br>
            <a:endParaRPr/>
          </a:p>
        </p:txBody>
      </p:sp>
      <p:pic>
        <p:nvPicPr>
          <p:cNvPr id="176" name="Google Shape;176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2575" y="1335450"/>
            <a:ext cx="7420749" cy="2258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7650" y="3729950"/>
            <a:ext cx="8035216" cy="1244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6"/>
          <p:cNvSpPr txBox="1"/>
          <p:nvPr>
            <p:ph type="title"/>
          </p:nvPr>
        </p:nvSpPr>
        <p:spPr>
          <a:xfrm>
            <a:off x="395625" y="28690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Funciones Lambda, también conocidas como funciones anónimas</a:t>
            </a:r>
            <a:endParaRPr/>
          </a:p>
        </p:txBody>
      </p:sp>
      <p:pic>
        <p:nvPicPr>
          <p:cNvPr id="183" name="Google Shape;183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8725" y="1540525"/>
            <a:ext cx="2000250" cy="438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5625" y="2475625"/>
            <a:ext cx="8319076" cy="1845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7"/>
          <p:cNvSpPr txBox="1"/>
          <p:nvPr>
            <p:ph type="title"/>
          </p:nvPr>
        </p:nvSpPr>
        <p:spPr>
          <a:xfrm>
            <a:off x="321775" y="352525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Funciones Anidadas</a:t>
            </a:r>
            <a:endParaRPr/>
          </a:p>
        </p:txBody>
      </p:sp>
      <p:pic>
        <p:nvPicPr>
          <p:cNvPr id="190" name="Google Shape;190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1773" y="1400025"/>
            <a:ext cx="3837299" cy="3435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59075" y="3399675"/>
            <a:ext cx="4429525" cy="1480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8"/>
          <p:cNvSpPr txBox="1"/>
          <p:nvPr>
            <p:ph type="title"/>
          </p:nvPr>
        </p:nvSpPr>
        <p:spPr>
          <a:xfrm>
            <a:off x="358750" y="368925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Código de un Analizador Sintáctico</a:t>
            </a:r>
            <a:endParaRPr/>
          </a:p>
        </p:txBody>
      </p:sp>
      <p:sp>
        <p:nvSpPr>
          <p:cNvPr id="197" name="Google Shape;197;p28"/>
          <p:cNvSpPr txBox="1"/>
          <p:nvPr>
            <p:ph idx="1" type="body"/>
          </p:nvPr>
        </p:nvSpPr>
        <p:spPr>
          <a:xfrm>
            <a:off x="358750" y="1237075"/>
            <a:ext cx="8134500" cy="383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s" sz="18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https://colab.research.google.com/drive/1AI8ExurFDb6EeAZWkA_aIVwjo5Jld8XJ?usp=sharing</a:t>
            </a:r>
            <a:endParaRPr sz="1800" u="sng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9"/>
          <p:cNvSpPr txBox="1"/>
          <p:nvPr>
            <p:ph type="title"/>
          </p:nvPr>
        </p:nvSpPr>
        <p:spPr>
          <a:xfrm>
            <a:off x="358750" y="311500"/>
            <a:ext cx="8552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" sz="2140"/>
              <a:t>Ahora veamos el Código del Parser, antes que nada se debe separar adecuadamente los tokens, para expresiones sencillas.</a:t>
            </a:r>
            <a:endParaRPr sz="2140"/>
          </a:p>
        </p:txBody>
      </p:sp>
      <p:pic>
        <p:nvPicPr>
          <p:cNvPr id="203" name="Google Shape;203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2900" y="1348350"/>
            <a:ext cx="7333799" cy="3651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0"/>
          <p:cNvSpPr txBox="1"/>
          <p:nvPr>
            <p:ph type="title"/>
          </p:nvPr>
        </p:nvSpPr>
        <p:spPr>
          <a:xfrm>
            <a:off x="358750" y="31150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Sobre la Expresión Regular,</a:t>
            </a:r>
            <a:br>
              <a:rPr lang="es"/>
            </a:br>
            <a:r>
              <a:rPr lang="es"/>
              <a:t>?: non-capturing group</a:t>
            </a:r>
            <a:endParaRPr/>
          </a:p>
        </p:txBody>
      </p:sp>
      <p:pic>
        <p:nvPicPr>
          <p:cNvPr id="209" name="Google Shape;209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8750" y="1424150"/>
            <a:ext cx="3692751" cy="33203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52351" y="1010725"/>
            <a:ext cx="2952750" cy="3733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31"/>
          <p:cNvSpPr txBox="1"/>
          <p:nvPr>
            <p:ph type="title"/>
          </p:nvPr>
        </p:nvSpPr>
        <p:spPr>
          <a:xfrm>
            <a:off x="358750" y="237700"/>
            <a:ext cx="84381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Notaciones. Lectura recomendada: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http://interactivepython.org/runestone/static/pythoned/BasicDS/ExpresionesInfijasPrefijasYSufijas.html</a:t>
            </a:r>
            <a:endParaRPr/>
          </a:p>
        </p:txBody>
      </p:sp>
      <p:pic>
        <p:nvPicPr>
          <p:cNvPr id="216" name="Google Shape;216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1100" y="2159922"/>
            <a:ext cx="6814975" cy="2195725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31"/>
          <p:cNvSpPr txBox="1"/>
          <p:nvPr/>
        </p:nvSpPr>
        <p:spPr>
          <a:xfrm>
            <a:off x="516800" y="4355650"/>
            <a:ext cx="7402200" cy="7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s" sz="1800">
                <a:solidFill>
                  <a:srgbClr val="404040"/>
                </a:solidFill>
              </a:rPr>
              <a:t>Variables Globales:</a:t>
            </a:r>
            <a:r>
              <a:rPr lang="es" sz="1800">
                <a:solidFill>
                  <a:srgbClr val="404040"/>
                </a:solidFill>
                <a:uFill>
                  <a:noFill/>
                </a:u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s" sz="1800" u="sng">
                <a:solidFill>
                  <a:schemeClr val="hlink"/>
                </a:solidFill>
                <a:hlinkClick r:id="rId5"/>
              </a:rPr>
              <a:t>https://www.programiz.com/python-programming/global-keyword</a:t>
            </a:r>
            <a:endParaRPr sz="1800" u="sng">
              <a:solidFill>
                <a:schemeClr val="hlink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32"/>
          <p:cNvSpPr txBox="1"/>
          <p:nvPr>
            <p:ph type="title"/>
          </p:nvPr>
        </p:nvSpPr>
        <p:spPr>
          <a:xfrm>
            <a:off x="358750" y="25410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Tarea: Analizador Sintáctico (parser) básico</a:t>
            </a:r>
            <a:endParaRPr/>
          </a:p>
        </p:txBody>
      </p:sp>
      <p:sp>
        <p:nvSpPr>
          <p:cNvPr id="223" name="Google Shape;223;p32"/>
          <p:cNvSpPr txBox="1"/>
          <p:nvPr>
            <p:ph idx="1" type="body"/>
          </p:nvPr>
        </p:nvSpPr>
        <p:spPr>
          <a:xfrm>
            <a:off x="358750" y="1237075"/>
            <a:ext cx="8495400" cy="383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s" sz="1600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Es posible Realizarlo en parejas, cada uno debe ponerlo en el classroom el docente.</a:t>
            </a:r>
            <a:r>
              <a:rPr lang="es" sz="1600">
                <a:solidFill>
                  <a:srgbClr val="404040"/>
                </a:solidFill>
                <a:uFill>
                  <a:noFill/>
                </a:u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s" sz="16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https://forms.gle/VWi17qGcDLt8UBLYA</a:t>
            </a:r>
            <a:endParaRPr sz="1600" u="sng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s" sz="1600">
                <a:solidFill>
                  <a:srgbClr val="353535"/>
                </a:solidFill>
                <a:latin typeface="Arial"/>
                <a:ea typeface="Arial"/>
                <a:cs typeface="Arial"/>
                <a:sym typeface="Arial"/>
              </a:rPr>
              <a:t>1.</a:t>
            </a:r>
            <a:r>
              <a:rPr lang="es" sz="1600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Incluir el Soporte para (Realice las modificaciones que considere pertinentes):</a:t>
            </a:r>
            <a:endParaRPr sz="1600">
              <a:solidFill>
                <a:srgbClr val="40404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rtl="0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s" sz="1400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% : módulo de la división</a:t>
            </a:r>
            <a:endParaRPr sz="1400">
              <a:solidFill>
                <a:srgbClr val="40404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rtl="0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s" sz="1400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\: División Entera</a:t>
            </a:r>
            <a:endParaRPr sz="1400">
              <a:solidFill>
                <a:srgbClr val="40404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rtl="0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s" sz="1400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$: Soporte para la raíz enésima, ejemplo, 27 $ 3 resuelve 3; en </a:t>
            </a:r>
            <a:r>
              <a:rPr lang="es" sz="1400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python</a:t>
            </a:r>
            <a:r>
              <a:rPr lang="es" sz="1400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 27**(1/3)</a:t>
            </a:r>
            <a:endParaRPr sz="1400">
              <a:solidFill>
                <a:srgbClr val="40404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s" sz="1600">
                <a:solidFill>
                  <a:srgbClr val="353535"/>
                </a:solidFill>
                <a:latin typeface="Arial"/>
                <a:ea typeface="Arial"/>
                <a:cs typeface="Arial"/>
                <a:sym typeface="Arial"/>
              </a:rPr>
              <a:t>2.</a:t>
            </a:r>
            <a:r>
              <a:rPr lang="es" sz="1600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Incluir el soporte para resolver expresiones lógicas sin agrupadores (paréntesis), usted define la precedencia, se puede basar en JAVA.</a:t>
            </a:r>
            <a:endParaRPr sz="1100"/>
          </a:p>
        </p:txBody>
      </p:sp>
      <p:pic>
        <p:nvPicPr>
          <p:cNvPr id="224" name="Google Shape;224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850125" y="3885625"/>
            <a:ext cx="4896750" cy="1118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